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7" r:id="rId4"/>
    <p:sldId id="268" r:id="rId5"/>
    <p:sldId id="261" r:id="rId6"/>
    <p:sldId id="262" r:id="rId7"/>
    <p:sldId id="263" r:id="rId8"/>
    <p:sldId id="270" r:id="rId9"/>
    <p:sldId id="271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99"/>
    <p:restoredTop sz="94659"/>
  </p:normalViewPr>
  <p:slideViewPr>
    <p:cSldViewPr snapToGrid="0">
      <p:cViewPr varScale="1">
        <p:scale>
          <a:sx n="54" d="100"/>
          <a:sy n="54" d="100"/>
        </p:scale>
        <p:origin x="224" y="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F7648-5BD4-D3B2-735F-449584D51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A6AF5A-0940-D9D7-A9BB-923A1571C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09803-4944-17E5-D405-251613B4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B7F5-1B4B-9941-B64A-AD6D7BE97225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6A0F6-A595-8DD1-3077-92EC05F9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30F88-8AEF-74BB-DDC0-2A8B6AC76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6FFD3-86A0-0C47-9693-68217432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534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9171A-91F4-8335-9751-93D874A1E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773CC-AD49-E546-B1A8-FB19E1BFC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B6621-64E8-13FE-FF0E-DA4DD1FEE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B7F5-1B4B-9941-B64A-AD6D7BE97225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80C69-DC3C-E629-5A54-6F24B35F0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5C138-9C91-1E38-F0F2-299524266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6FFD3-86A0-0C47-9693-68217432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82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6BAE8-6856-402B-997F-91009F2A7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2C4F0-1034-8F02-838B-EF64FCA07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D89BE-63F9-268F-93DD-25AD9EB1C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B7F5-1B4B-9941-B64A-AD6D7BE97225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D36C1-53E3-8620-5381-4B1C04641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86527-A800-09BB-14F8-638FC9911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6FFD3-86A0-0C47-9693-68217432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074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CA9C2-E003-C6CF-7361-EE62133A5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D9234-5E19-4792-A5C8-EF50285C37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2ADD3-44C0-B21A-AE55-4783375EC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F4B6F-697B-2A3A-FA3B-A49E37DE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B7F5-1B4B-9941-B64A-AD6D7BE97225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13D51-EFEB-2F0E-2C25-BA3B9D47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F5471-EB43-7DF6-E043-E247D92E3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6FFD3-86A0-0C47-9693-68217432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94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2012-5989-5DC0-25A9-EA5114A3C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CE83E-347C-8120-F567-FE757757C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945C1-C504-6F90-1C8D-3D62A3B1A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1048FF-FBF2-B2F4-A7AD-76FA65CCA3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FCCFAD-6685-48CF-1CBF-4B25E9A4E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AD5564-271C-2352-4A64-2754BF0A0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B7F5-1B4B-9941-B64A-AD6D7BE97225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07475-5AD9-0371-09F3-93F9858C8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EB262F-F613-B6D7-D84B-CAB87D5E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6FFD3-86A0-0C47-9693-68217432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29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3638-9C8C-444C-D939-06DA3F48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DD4616-3AB8-FEB3-1FD3-003B3EADD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B7F5-1B4B-9941-B64A-AD6D7BE97225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B41CA-6BFB-F383-B6A1-852A820EE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4A86F4-4D6C-0014-2EE8-3EC682D1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6FFD3-86A0-0C47-9693-68217432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75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C3FCE-19DD-08EC-BD5E-6232BB592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B7F5-1B4B-9941-B64A-AD6D7BE97225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F00182-D0DD-B38C-49AB-74763FE9B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B8B5B-69DA-5389-8A5F-D33B4254F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6FFD3-86A0-0C47-9693-68217432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26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0DF17-D08B-5F81-F2EA-185D23B4F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124CD-7C16-1B09-4CF5-572221F87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37ED0-2BF6-FD93-740D-266A89562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E84AF-5CB0-4C55-FB55-E5A2B4FEB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B7F5-1B4B-9941-B64A-AD6D7BE97225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BFC1E-DEE1-534B-0167-A63F95911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03808-D535-5FC2-8E0B-15E7FF95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6FFD3-86A0-0C47-9693-68217432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06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A8384-129D-136E-F1B4-C238EABD3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FD1FAD-B91C-BA54-9CE1-8F9E205E5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4387E-B149-0AA1-FB5D-5C11FCB11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1FBCD-2D55-F911-9304-463C83E49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B7F5-1B4B-9941-B64A-AD6D7BE97225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D5912-DC4C-510B-38D9-3291626C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0C316-8B23-9830-16CE-4EC7C87B1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6FFD3-86A0-0C47-9693-68217432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85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6EB2-748F-8D4C-5D8C-A3BCA9A9C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EFB5B2-DB22-B347-4E65-AB7651B11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793FF-D0CC-430A-8BEF-4D1B47DC9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B7F5-1B4B-9941-B64A-AD6D7BE97225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9D6E6-CF86-ECC3-BE3F-766D0BB62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5C1D9-412E-F61D-275F-3B6C2FA94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6FFD3-86A0-0C47-9693-68217432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95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298E7-4B25-0FBD-8AFF-AD7569160C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03B78-2616-E9F0-50C0-D0A6C7C24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ADCA1-D211-239A-0443-9D211102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B7F5-1B4B-9941-B64A-AD6D7BE97225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C9589-1145-64AD-C88F-F66A0E89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E47C5-8316-5AF9-5E80-B05A7A84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6FFD3-86A0-0C47-9693-68217432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478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3378C1-268D-D289-C2B7-2EC03412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8B83-7773-CE37-7030-9A27C0F18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7DEF6-9614-826E-B669-E3D896A778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8B7F5-1B4B-9941-B64A-AD6D7BE97225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E4859-C605-AD83-8FE6-FE91F583B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3441E-B711-883E-FB94-E2C7B1F2C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6FFD3-86A0-0C47-9693-682174322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97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0047272717301202?casa_token=OlhUYs3ibXgAAAAA:CxzZrmtLYpHEN89s-L4Bh6kB7gLv381GhEweBTja_Jx91CZGX2P73E06LSYNsSCSWhSRJZ1jDcc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eaweb.org/articles?id=10.1257/aer.20150572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0094119008000375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29361-DB5A-E25C-6186-84A2201132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 Far and Too Dangerous: How Consumers Respond to Travel Time and Crime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6AADC6-9073-FB1E-5B82-A3547CC2E2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Authors: </a:t>
            </a:r>
            <a:r>
              <a:rPr lang="en-US" dirty="0" err="1"/>
              <a:t>Zexuan</a:t>
            </a:r>
            <a:r>
              <a:rPr lang="en-US" dirty="0"/>
              <a:t> Liu, </a:t>
            </a:r>
            <a:r>
              <a:rPr lang="en-US" dirty="0" err="1"/>
              <a:t>Sunhyung</a:t>
            </a:r>
            <a:r>
              <a:rPr lang="en-US" dirty="0"/>
              <a:t> Lee, Yao-Yu </a:t>
            </a:r>
            <a:r>
              <a:rPr lang="en-US" dirty="0" err="1"/>
              <a:t>Chih</a:t>
            </a:r>
            <a:endParaRPr lang="en-US" dirty="0"/>
          </a:p>
          <a:p>
            <a:r>
              <a:rPr lang="en-US" dirty="0"/>
              <a:t>Discussant: Annie Hsu</a:t>
            </a:r>
          </a:p>
          <a:p>
            <a:r>
              <a:rPr lang="en-US" dirty="0"/>
              <a:t>WRSA 2026</a:t>
            </a:r>
          </a:p>
        </p:txBody>
      </p:sp>
    </p:spTree>
    <p:extLst>
      <p:ext uri="{BB962C8B-B14F-4D97-AF65-F5344CB8AC3E}">
        <p14:creationId xmlns:p14="http://schemas.microsoft.com/office/powerpoint/2010/main" val="4065467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2C2E6-757C-1C40-C25D-9D4A3820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Paper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C610F-ADE9-CAB9-3574-F00E24BA9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Research Question</a:t>
            </a:r>
          </a:p>
          <a:p>
            <a:pPr lvl="1"/>
            <a:r>
              <a:rPr lang="en-US" dirty="0"/>
              <a:t>How do </a:t>
            </a:r>
            <a:r>
              <a:rPr lang="en-US" b="1" dirty="0"/>
              <a:t>crime risk and travel time jointly shape consumer mobility?</a:t>
            </a:r>
            <a:br>
              <a:rPr lang="en-US" dirty="0"/>
            </a:br>
            <a:r>
              <a:rPr lang="en-US" dirty="0"/>
              <a:t>Does crime:</a:t>
            </a:r>
          </a:p>
          <a:p>
            <a:pPr lvl="1"/>
            <a:r>
              <a:rPr lang="en-US" dirty="0"/>
              <a:t>Simply reduce visits?</a:t>
            </a:r>
          </a:p>
          <a:p>
            <a:pPr lvl="1"/>
            <a:r>
              <a:rPr lang="en-US" dirty="0"/>
              <a:t>Or </a:t>
            </a:r>
            <a:r>
              <a:rPr lang="en-US" b="1" dirty="0"/>
              <a:t>steepen the travel-time gradient</a:t>
            </a:r>
            <a:r>
              <a:rPr lang="en-US" dirty="0"/>
              <a:t> (make distance matter more)?</a:t>
            </a:r>
          </a:p>
          <a:p>
            <a:pPr marL="0" indent="0">
              <a:buNone/>
            </a:pPr>
            <a:r>
              <a:rPr lang="en-US" b="1" dirty="0"/>
              <a:t>Data &amp; Setting</a:t>
            </a:r>
          </a:p>
          <a:p>
            <a:pPr lvl="1"/>
            <a:r>
              <a:rPr lang="en-US" dirty="0"/>
              <a:t>Chicago, 2018–2019</a:t>
            </a:r>
          </a:p>
          <a:p>
            <a:pPr lvl="1"/>
            <a:r>
              <a:rPr lang="en-US" dirty="0"/>
              <a:t>Census tract–level </a:t>
            </a:r>
            <a:r>
              <a:rPr lang="en-US" b="1" dirty="0"/>
              <a:t>origin–destination (OD)</a:t>
            </a:r>
            <a:r>
              <a:rPr lang="en-US" dirty="0"/>
              <a:t> visit flows</a:t>
            </a:r>
          </a:p>
          <a:p>
            <a:pPr lvl="1"/>
            <a:r>
              <a:rPr lang="en-US" dirty="0" err="1"/>
              <a:t>SafeGraph</a:t>
            </a:r>
            <a:r>
              <a:rPr lang="en-US" dirty="0"/>
              <a:t> + Google travel time + CLEAR crime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396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1674-C19E-3E08-986F-088CA1C21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Paper Does (Con.)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32244-9DF7-AC8D-AEEC-C6BDE0357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Empirical Strategy</a:t>
            </a:r>
          </a:p>
          <a:p>
            <a:pPr lvl="1"/>
            <a:r>
              <a:rPr lang="en-US" dirty="0"/>
              <a:t>Estimate: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Crime treated as an </a:t>
            </a:r>
            <a:r>
              <a:rPr lang="en-US" b="1" dirty="0"/>
              <a:t>elasticity shifter</a:t>
            </a:r>
            <a:endParaRPr lang="en-US" dirty="0"/>
          </a:p>
          <a:p>
            <a:r>
              <a:rPr lang="en-US" dirty="0"/>
              <a:t>IV strategy:</a:t>
            </a:r>
          </a:p>
          <a:p>
            <a:pPr lvl="1"/>
            <a:r>
              <a:rPr lang="en-US" dirty="0"/>
              <a:t>Cash payment share (taxi data)</a:t>
            </a:r>
          </a:p>
          <a:p>
            <a:pPr lvl="1"/>
            <a:r>
              <a:rPr lang="en-US" dirty="0"/>
              <a:t>Surveillance camera density (computer vision)</a:t>
            </a:r>
          </a:p>
          <a:p>
            <a:r>
              <a:rPr lang="en-US" dirty="0"/>
              <a:t>Spatial SLX–IV to measure spillovers (1–4 mile radii)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B1C53-1955-E098-4F4D-A77DD9064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350" y="2410995"/>
            <a:ext cx="8638765" cy="54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16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A870-E2B3-D272-B497-5CFEE3AC0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D03FC-8189-A9A0-EA81-6313CC546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Crime Steepens the Travel-Time Gradient</a:t>
            </a:r>
          </a:p>
          <a:p>
            <a:pPr lvl="1"/>
            <a:r>
              <a:rPr lang="en-US" dirty="0"/>
              <a:t>Higher destination crime → consumers become </a:t>
            </a:r>
            <a:r>
              <a:rPr lang="en-US" b="1" dirty="0"/>
              <a:t>more travel-time sensitive</a:t>
            </a:r>
            <a:endParaRPr lang="en-US" dirty="0"/>
          </a:p>
          <a:p>
            <a:pPr lvl="1"/>
            <a:r>
              <a:rPr lang="en-US" dirty="0"/>
              <a:t>Especially strong for </a:t>
            </a:r>
            <a:r>
              <a:rPr lang="en-US" b="1" dirty="0"/>
              <a:t>property crime</a:t>
            </a:r>
            <a:endParaRPr lang="en-US" dirty="0"/>
          </a:p>
          <a:p>
            <a:pPr lvl="1"/>
            <a:r>
              <a:rPr lang="en-US" dirty="0"/>
              <a:t>Risky areas have </a:t>
            </a:r>
            <a:r>
              <a:rPr lang="en-US" b="1" dirty="0"/>
              <a:t>smaller effective catchment areas</a:t>
            </a:r>
            <a:endParaRPr lang="en-US" dirty="0"/>
          </a:p>
          <a:p>
            <a:r>
              <a:rPr lang="en-US" b="1" dirty="0"/>
              <a:t>Spillovers Are Local and Partial</a:t>
            </a:r>
          </a:p>
          <a:p>
            <a:pPr lvl="1"/>
            <a:r>
              <a:rPr lang="en-US" dirty="0"/>
              <a:t>Effects decay beyond ~3–4 miles</a:t>
            </a:r>
          </a:p>
          <a:p>
            <a:pPr lvl="1"/>
            <a:r>
              <a:rPr lang="en-US" dirty="0"/>
              <a:t>Nearby substitution offsets only:</a:t>
            </a:r>
          </a:p>
          <a:p>
            <a:pPr marL="1200150" lvl="2" indent="-285750"/>
            <a:r>
              <a:rPr lang="en-US" dirty="0"/>
              <a:t>~30–40% (total/property crime), ~40–60% (violent crime)</a:t>
            </a:r>
          </a:p>
          <a:p>
            <a:pPr lvl="1"/>
            <a:r>
              <a:rPr lang="en-US" dirty="0"/>
              <a:t>Net effect of crime shocks remains </a:t>
            </a:r>
            <a:r>
              <a:rPr lang="en-US" b="1" dirty="0"/>
              <a:t>negative</a:t>
            </a:r>
            <a:endParaRPr lang="en-US" dirty="0"/>
          </a:p>
          <a:p>
            <a:r>
              <a:rPr lang="en-US" b="1" dirty="0"/>
              <a:t>Heterogeneity Matters</a:t>
            </a:r>
          </a:p>
          <a:p>
            <a:pPr lvl="1"/>
            <a:r>
              <a:rPr lang="en-US" dirty="0"/>
              <a:t>Stronger deterrence for trips crossing racial boundaries</a:t>
            </a:r>
          </a:p>
          <a:p>
            <a:pPr lvl="1"/>
            <a:r>
              <a:rPr lang="en-US" dirty="0"/>
              <a:t>Mixed-use destinations allow more local substitution</a:t>
            </a:r>
          </a:p>
          <a:p>
            <a:pPr lvl="1"/>
            <a:r>
              <a:rPr lang="en-US" dirty="0"/>
              <a:t>Specialized areas suffer larger net losses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3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B4E3-EE1F-7BF1-92BD-C72FFECC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EFE61-C025-5837-7D7D-7A2BA8DD3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b="1" dirty="0"/>
              <a:t>Key Takeaways</a:t>
            </a:r>
            <a:endParaRPr lang="en-US" dirty="0"/>
          </a:p>
          <a:p>
            <a:pPr lvl="1"/>
            <a:r>
              <a:rPr lang="en-US" dirty="0"/>
              <a:t>Crime reduction can:</a:t>
            </a:r>
          </a:p>
          <a:p>
            <a:pPr marL="1200150" lvl="2" indent="-285750"/>
            <a:r>
              <a:rPr lang="en-US" dirty="0"/>
              <a:t>Increase visitation, </a:t>
            </a:r>
            <a:r>
              <a:rPr lang="en-US" b="1" dirty="0"/>
              <a:t>flatten the travel-time gradient, </a:t>
            </a:r>
            <a:r>
              <a:rPr lang="en-US" dirty="0"/>
              <a:t>expand effective market access</a:t>
            </a:r>
          </a:p>
          <a:p>
            <a:pPr lvl="1"/>
            <a:r>
              <a:rPr lang="en-US" dirty="0"/>
              <a:t>Evaluating safety policies at the </a:t>
            </a:r>
            <a:r>
              <a:rPr lang="en-US" b="1" dirty="0"/>
              <a:t>tract level may overstate gains</a:t>
            </a:r>
            <a:endParaRPr lang="en-US" dirty="0"/>
          </a:p>
          <a:p>
            <a:pPr marL="1200150" lvl="2" indent="-285750"/>
            <a:r>
              <a:rPr lang="en-US" dirty="0"/>
              <a:t>Substantial displacement across nearby areas</a:t>
            </a:r>
          </a:p>
          <a:p>
            <a:r>
              <a:rPr lang="en-US" b="1" dirty="0"/>
              <a:t>Policy Design Implications</a:t>
            </a:r>
            <a:endParaRPr lang="en-US" dirty="0"/>
          </a:p>
          <a:p>
            <a:pPr lvl="1"/>
            <a:r>
              <a:rPr lang="en-US" dirty="0"/>
              <a:t>Interventions should be evaluated at the </a:t>
            </a:r>
            <a:r>
              <a:rPr lang="en-US" b="1" dirty="0"/>
              <a:t>neighborhood-cluster scale</a:t>
            </a:r>
            <a:endParaRPr lang="en-US" dirty="0"/>
          </a:p>
          <a:p>
            <a:pPr lvl="1"/>
            <a:r>
              <a:rPr lang="en-US" dirty="0"/>
              <a:t>Target areas where crime reduction yields:</a:t>
            </a:r>
          </a:p>
          <a:p>
            <a:pPr marL="1200150" lvl="2" indent="-285750"/>
            <a:r>
              <a:rPr lang="en-US" dirty="0"/>
              <a:t>Largest marginal increases in activity</a:t>
            </a:r>
          </a:p>
          <a:p>
            <a:pPr lvl="1"/>
            <a:r>
              <a:rPr lang="en-US" dirty="0"/>
              <a:t>Zoning and mixed-use development may increase resilience via substitution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618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B4E3-EE1F-7BF1-92BD-C72FFECC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Comments: Strengths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EFE61-C025-5837-7D7D-7A2BA8DD3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Conceptual clarity</a:t>
            </a:r>
            <a:endParaRPr lang="en-US" dirty="0"/>
          </a:p>
          <a:p>
            <a:pPr lvl="1"/>
            <a:r>
              <a:rPr lang="en-US" dirty="0"/>
              <a:t>Crime modeled as an elasticity shifter, not just a level effect</a:t>
            </a:r>
          </a:p>
          <a:p>
            <a:r>
              <a:rPr lang="en-US" b="1" dirty="0"/>
              <a:t>Rich OD structure</a:t>
            </a:r>
            <a:endParaRPr lang="en-US" dirty="0"/>
          </a:p>
          <a:p>
            <a:pPr lvl="1"/>
            <a:r>
              <a:rPr lang="en-US" dirty="0"/>
              <a:t>Preserves bilateral variation in travel costs</a:t>
            </a:r>
          </a:p>
          <a:p>
            <a:r>
              <a:rPr lang="en-US" b="1" dirty="0"/>
              <a:t>Innovative instruments</a:t>
            </a:r>
            <a:endParaRPr lang="en-US" dirty="0"/>
          </a:p>
          <a:p>
            <a:pPr lvl="1"/>
            <a:r>
              <a:rPr lang="en-US" dirty="0"/>
              <a:t>Creative use of cash preference and computer-vision-based surveillance data</a:t>
            </a:r>
          </a:p>
          <a:p>
            <a:r>
              <a:rPr lang="en-US" b="1" dirty="0"/>
              <a:t>Careful spatial design</a:t>
            </a:r>
            <a:endParaRPr lang="en-US" dirty="0"/>
          </a:p>
          <a:p>
            <a:pPr lvl="1"/>
            <a:r>
              <a:rPr lang="en-US" dirty="0"/>
              <a:t>Distance-disciplined spillover estimates and decomposition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24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B4E3-EE1F-7BF1-92BD-C72FFECC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Comments: Suggestions (Mechanisms: What Exactly Is Driving the Elasticity Shift?)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EFE61-C025-5837-7D7D-7A2BA8DD3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Fear vs. Information vs. Salience</a:t>
            </a:r>
          </a:p>
          <a:p>
            <a:r>
              <a:rPr lang="en-US" dirty="0"/>
              <a:t>Is the effect driven by:</a:t>
            </a:r>
          </a:p>
          <a:p>
            <a:pPr lvl="1"/>
            <a:r>
              <a:rPr lang="en-US" dirty="0"/>
              <a:t>Actual victimization risk?</a:t>
            </a:r>
          </a:p>
          <a:p>
            <a:pPr lvl="1"/>
            <a:r>
              <a:rPr lang="en-US" dirty="0"/>
              <a:t>Media amplification?</a:t>
            </a:r>
          </a:p>
          <a:p>
            <a:pPr lvl="1"/>
            <a:r>
              <a:rPr lang="en-US" dirty="0"/>
              <a:t>Neighborhood reputation?</a:t>
            </a:r>
          </a:p>
          <a:p>
            <a:r>
              <a:rPr lang="en-US" dirty="0"/>
              <a:t>Related evidence:</a:t>
            </a:r>
          </a:p>
          <a:p>
            <a:pPr lvl="1"/>
            <a:r>
              <a:rPr lang="en-US" dirty="0" err="1"/>
              <a:t>Garz</a:t>
            </a:r>
            <a:r>
              <a:rPr lang="en-US" dirty="0"/>
              <a:t> &amp; </a:t>
            </a:r>
            <a:r>
              <a:rPr lang="en-US" dirty="0" err="1"/>
              <a:t>Sörensen</a:t>
            </a:r>
            <a:r>
              <a:rPr lang="en-US" dirty="0"/>
              <a:t> (2017, </a:t>
            </a:r>
            <a:r>
              <a:rPr lang="en-US" dirty="0" err="1"/>
              <a:t>JPubE</a:t>
            </a:r>
            <a:r>
              <a:rPr lang="en-US" dirty="0"/>
              <a:t>: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Politicians under investigation: The news Media's effect on the likelihood of resignation</a:t>
            </a:r>
            <a:r>
              <a:rPr lang="en-US" dirty="0"/>
              <a:t>): media coverage increases fear of crime</a:t>
            </a:r>
          </a:p>
          <a:p>
            <a:pPr lvl="1"/>
            <a:r>
              <a:rPr lang="en-US" dirty="0"/>
              <a:t>Can the authors test whether </a:t>
            </a:r>
            <a:r>
              <a:rPr lang="en-US" i="1" dirty="0"/>
              <a:t>high-media-attention crimes</a:t>
            </a:r>
            <a:r>
              <a:rPr lang="en-US" dirty="0"/>
              <a:t> produce larger elasticity shifts?</a:t>
            </a:r>
          </a:p>
        </p:txBody>
      </p:sp>
    </p:spTree>
    <p:extLst>
      <p:ext uri="{BB962C8B-B14F-4D97-AF65-F5344CB8AC3E}">
        <p14:creationId xmlns:p14="http://schemas.microsoft.com/office/powerpoint/2010/main" val="2533816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B4E3-EE1F-7BF1-92BD-C72FFECC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Comments: Suggestions (Mechanisms: What Exactly Is Driving the Elasticity Shift?)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EFE61-C025-5837-7D7D-7A2BA8DD3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Behavioral Frictions &amp; Familiarity</a:t>
            </a:r>
          </a:p>
          <a:p>
            <a:r>
              <a:rPr lang="en-US" dirty="0"/>
              <a:t>The stronger effect across racial boundaries suggests:</a:t>
            </a:r>
          </a:p>
          <a:p>
            <a:pPr lvl="1"/>
            <a:r>
              <a:rPr lang="en-US" dirty="0"/>
              <a:t>Uncertainty</a:t>
            </a:r>
          </a:p>
          <a:p>
            <a:pPr lvl="1"/>
            <a:r>
              <a:rPr lang="en-US" dirty="0"/>
              <a:t>Social distance</a:t>
            </a:r>
          </a:p>
          <a:p>
            <a:pPr lvl="1"/>
            <a:r>
              <a:rPr lang="en-US" dirty="0"/>
              <a:t>Lack of familiarity</a:t>
            </a:r>
          </a:p>
          <a:p>
            <a:r>
              <a:rPr lang="en-US" dirty="0"/>
              <a:t>Related evidence:</a:t>
            </a:r>
          </a:p>
          <a:p>
            <a:pPr lvl="1"/>
            <a:r>
              <a:rPr lang="en-US" dirty="0"/>
              <a:t>Chetty, Hendren &amp; Katz (2016, AER: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effects of exposure to better neighborhoods on children: New evidence from the moving to opportunity experiment</a:t>
            </a:r>
            <a:r>
              <a:rPr lang="en-US" dirty="0"/>
              <a:t>): neighborhood exposure effects</a:t>
            </a:r>
          </a:p>
          <a:p>
            <a:pPr lvl="1"/>
            <a:r>
              <a:rPr lang="en-US" dirty="0"/>
              <a:t>Could incorporating repeat-visit patterns or familiarity proxies help distinguish:</a:t>
            </a:r>
          </a:p>
          <a:p>
            <a:pPr lvl="2"/>
            <a:r>
              <a:rPr lang="en-US" dirty="0"/>
              <a:t>Learning/fear channels</a:t>
            </a:r>
          </a:p>
          <a:p>
            <a:pPr lvl="2"/>
            <a:r>
              <a:rPr lang="en-US" dirty="0"/>
              <a:t>Pure risk aversion?</a:t>
            </a:r>
          </a:p>
        </p:txBody>
      </p:sp>
    </p:spTree>
    <p:extLst>
      <p:ext uri="{BB962C8B-B14F-4D97-AF65-F5344CB8AC3E}">
        <p14:creationId xmlns:p14="http://schemas.microsoft.com/office/powerpoint/2010/main" val="2262439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B4E3-EE1F-7BF1-92BD-C72FFECC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Comments: Suggestions (Mechanisms: What Exactly Is Driving the Elasticity Shift?)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EFE61-C025-5837-7D7D-7A2BA8DD3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Time-Varying vs Persistent Effects</a:t>
            </a:r>
          </a:p>
          <a:p>
            <a:r>
              <a:rPr lang="en-US" dirty="0"/>
              <a:t>Are responses:</a:t>
            </a:r>
          </a:p>
          <a:p>
            <a:pPr lvl="1"/>
            <a:r>
              <a:rPr lang="en-US" dirty="0"/>
              <a:t>Immediate but temporary?</a:t>
            </a:r>
          </a:p>
          <a:p>
            <a:pPr lvl="1"/>
            <a:r>
              <a:rPr lang="en-US" dirty="0"/>
              <a:t>Or persistent reputational effects?</a:t>
            </a:r>
          </a:p>
          <a:p>
            <a:r>
              <a:rPr lang="en-US" dirty="0"/>
              <a:t>Related evidence:</a:t>
            </a:r>
          </a:p>
          <a:p>
            <a:pPr lvl="1"/>
            <a:r>
              <a:rPr lang="en-US" dirty="0"/>
              <a:t>Abadie &amp; </a:t>
            </a:r>
            <a:r>
              <a:rPr lang="en-US" dirty="0" err="1"/>
              <a:t>Dermisi</a:t>
            </a:r>
            <a:r>
              <a:rPr lang="en-US" dirty="0"/>
              <a:t> (2008, JUE: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 terrorism eroding agglomeration economies in central business districts? Lessons from the office real estate market in downtown Chicago</a:t>
            </a:r>
            <a:r>
              <a:rPr lang="en-US" dirty="0"/>
              <a:t>): persistent effects of terrorism on property markets</a:t>
            </a:r>
          </a:p>
          <a:p>
            <a:pPr lvl="1"/>
            <a:r>
              <a:rPr lang="en-US" dirty="0"/>
              <a:t>Event-study around crime spikes to see decay dynamics.</a:t>
            </a:r>
          </a:p>
        </p:txBody>
      </p:sp>
    </p:spTree>
    <p:extLst>
      <p:ext uri="{BB962C8B-B14F-4D97-AF65-F5344CB8AC3E}">
        <p14:creationId xmlns:p14="http://schemas.microsoft.com/office/powerpoint/2010/main" val="1956526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B4E3-EE1F-7BF1-92BD-C72FFECC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Comments: Suggestions (External Validity)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EFE61-C025-5837-7D7D-7A2BA8DD3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Generalizability</a:t>
            </a:r>
            <a:endParaRPr lang="en-US" dirty="0"/>
          </a:p>
          <a:p>
            <a:pPr lvl="1"/>
            <a:r>
              <a:rPr lang="en-US" dirty="0"/>
              <a:t>Chicago-specific transit, density, and crime patterns</a:t>
            </a:r>
          </a:p>
          <a:p>
            <a:r>
              <a:rPr lang="en-US" b="1" dirty="0"/>
              <a:t>Other margins</a:t>
            </a:r>
            <a:endParaRPr lang="en-US" dirty="0"/>
          </a:p>
          <a:p>
            <a:pPr lvl="1"/>
            <a:r>
              <a:rPr lang="en-US" dirty="0"/>
              <a:t>Mode choice (car vs. transit)</a:t>
            </a:r>
          </a:p>
          <a:p>
            <a:pPr lvl="1"/>
            <a:r>
              <a:rPr lang="en-US" dirty="0"/>
              <a:t>Trip purpose heterogeneity (necessities vs. leisure)</a:t>
            </a:r>
          </a:p>
          <a:p>
            <a:r>
              <a:rPr lang="en-US" b="1" dirty="0"/>
              <a:t>Business responses</a:t>
            </a:r>
            <a:endParaRPr lang="en-US" dirty="0"/>
          </a:p>
          <a:p>
            <a:pPr lvl="1"/>
            <a:r>
              <a:rPr lang="en-US" dirty="0"/>
              <a:t>Entry/exit and amenity adjustments not directly observed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932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B4E3-EE1F-7BF1-92BD-C72FFECC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Comments: Different Angle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EFE61-C025-5837-7D7D-7A2BA8DD3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Connection to place-based policy evaluation</a:t>
            </a:r>
            <a:endParaRPr lang="en-US" dirty="0"/>
          </a:p>
          <a:p>
            <a:pPr lvl="1"/>
            <a:r>
              <a:rPr lang="en-US" dirty="0"/>
              <a:t>Parallels with:</a:t>
            </a:r>
          </a:p>
          <a:p>
            <a:pPr marL="1200150" lvl="2" indent="-285750"/>
            <a:r>
              <a:rPr lang="en-US" dirty="0"/>
              <a:t>Enterprise zones</a:t>
            </a:r>
          </a:p>
          <a:p>
            <a:pPr marL="1200150" lvl="2" indent="-285750"/>
            <a:r>
              <a:rPr lang="en-US" dirty="0"/>
              <a:t>Policing hot spots</a:t>
            </a:r>
          </a:p>
          <a:p>
            <a:pPr marL="1200150" lvl="2" indent="-285750"/>
            <a:r>
              <a:rPr lang="en-US" dirty="0"/>
              <a:t>Urban revitalization programs</a:t>
            </a:r>
          </a:p>
          <a:p>
            <a:r>
              <a:rPr lang="en-US" b="1" dirty="0"/>
              <a:t>Key question</a:t>
            </a:r>
            <a:endParaRPr lang="en-US" dirty="0"/>
          </a:p>
          <a:p>
            <a:pPr lvl="1"/>
            <a:r>
              <a:rPr lang="en-US" dirty="0"/>
              <a:t>How much of observed “success” reflects </a:t>
            </a:r>
            <a:r>
              <a:rPr lang="en-US" b="1" dirty="0"/>
              <a:t>net gains</a:t>
            </a:r>
            <a:r>
              <a:rPr lang="en-US" dirty="0"/>
              <a:t> versus </a:t>
            </a:r>
            <a:r>
              <a:rPr lang="en-US" b="1" dirty="0"/>
              <a:t>spatial reshuffling</a:t>
            </a:r>
            <a:r>
              <a:rPr lang="en-US" dirty="0"/>
              <a:t>?</a:t>
            </a:r>
          </a:p>
          <a:p>
            <a:r>
              <a:rPr lang="en-US" b="1" dirty="0"/>
              <a:t>Broader implication</a:t>
            </a:r>
            <a:endParaRPr lang="en-US" dirty="0"/>
          </a:p>
          <a:p>
            <a:pPr lvl="1"/>
            <a:r>
              <a:rPr lang="en-US" dirty="0"/>
              <a:t>Reinforces need for:</a:t>
            </a:r>
          </a:p>
          <a:p>
            <a:pPr marL="1200150" lvl="2" indent="-285750"/>
            <a:r>
              <a:rPr lang="en-US" dirty="0"/>
              <a:t>Spatial equilibrium thinking</a:t>
            </a:r>
          </a:p>
          <a:p>
            <a:pPr marL="1200150" lvl="2" indent="-285750"/>
            <a:r>
              <a:rPr lang="en-US" dirty="0"/>
              <a:t>Clear distinction between </a:t>
            </a:r>
            <a:r>
              <a:rPr lang="en-US" b="1" dirty="0"/>
              <a:t>deterrence</a:t>
            </a:r>
            <a:r>
              <a:rPr lang="en-US" dirty="0"/>
              <a:t> and </a:t>
            </a:r>
            <a:r>
              <a:rPr lang="en-US" b="1" dirty="0"/>
              <a:t>displacement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141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5207</TotalTime>
  <Words>681</Words>
  <Application>Microsoft Macintosh PowerPoint</Application>
  <PresentationFormat>Widescreen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Too Far and Too Dangerous: How Consumers Respond to Travel Time and Crime</vt:lpstr>
      <vt:lpstr>What the Paper Does</vt:lpstr>
      <vt:lpstr>What the Paper Does (Con.)</vt:lpstr>
      <vt:lpstr>What We Learn</vt:lpstr>
      <vt:lpstr>Policy Implications</vt:lpstr>
      <vt:lpstr>Comments: Strengths</vt:lpstr>
      <vt:lpstr>Comments: Suggestions (Mechanisms: What Exactly Is Driving the Elasticity Shift?)</vt:lpstr>
      <vt:lpstr>Comments: Suggestions (Mechanisms: What Exactly Is Driving the Elasticity Shift?)</vt:lpstr>
      <vt:lpstr>Comments: Suggestions (Mechanisms: What Exactly Is Driving the Elasticity Shift?)</vt:lpstr>
      <vt:lpstr>Comments: Suggestions (External Validity)</vt:lpstr>
      <vt:lpstr>Comments: Different Angle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 Far and Too Dangerous: How Consumers Respond to Travel Time and Crime</dc:title>
  <dc:creator>Hsu, Yu-Hsin</dc:creator>
  <cp:lastModifiedBy>Hsu, Yu-Hsin</cp:lastModifiedBy>
  <cp:revision>2</cp:revision>
  <dcterms:created xsi:type="dcterms:W3CDTF">2026-02-11T00:35:18Z</dcterms:created>
  <dcterms:modified xsi:type="dcterms:W3CDTF">2026-02-14T15:23:15Z</dcterms:modified>
</cp:coreProperties>
</file>