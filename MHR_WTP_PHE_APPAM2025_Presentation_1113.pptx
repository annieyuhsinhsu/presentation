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26"/>
  </p:notesMasterIdLst>
  <p:handoutMasterIdLst>
    <p:handoutMasterId r:id="rId27"/>
  </p:handoutMasterIdLst>
  <p:sldIdLst>
    <p:sldId id="508" r:id="rId2"/>
    <p:sldId id="475" r:id="rId3"/>
    <p:sldId id="509" r:id="rId4"/>
    <p:sldId id="460" r:id="rId5"/>
    <p:sldId id="514" r:id="rId6"/>
    <p:sldId id="512" r:id="rId7"/>
    <p:sldId id="510" r:id="rId8"/>
    <p:sldId id="486" r:id="rId9"/>
    <p:sldId id="487" r:id="rId10"/>
    <p:sldId id="488" r:id="rId11"/>
    <p:sldId id="511" r:id="rId12"/>
    <p:sldId id="515" r:id="rId13"/>
    <p:sldId id="516" r:id="rId14"/>
    <p:sldId id="517" r:id="rId15"/>
    <p:sldId id="449" r:id="rId16"/>
    <p:sldId id="519" r:id="rId17"/>
    <p:sldId id="513" r:id="rId18"/>
    <p:sldId id="518" r:id="rId19"/>
    <p:sldId id="431" r:id="rId20"/>
    <p:sldId id="490" r:id="rId21"/>
    <p:sldId id="493" r:id="rId22"/>
    <p:sldId id="505" r:id="rId23"/>
    <p:sldId id="506" r:id="rId24"/>
    <p:sldId id="427" r:id="rId25"/>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54" autoAdjust="0"/>
    <p:restoredTop sz="94881" autoAdjust="0"/>
  </p:normalViewPr>
  <p:slideViewPr>
    <p:cSldViewPr>
      <p:cViewPr varScale="1">
        <p:scale>
          <a:sx n="110" d="100"/>
          <a:sy n="110" d="100"/>
        </p:scale>
        <p:origin x="2032" y="184"/>
      </p:cViewPr>
      <p:guideLst>
        <p:guide orient="horz" pos="2160"/>
        <p:guide pos="2880"/>
      </p:guideLst>
    </p:cSldViewPr>
  </p:slideViewPr>
  <p:notesTextViewPr>
    <p:cViewPr>
      <p:scale>
        <a:sx n="3" d="2"/>
        <a:sy n="3" d="2"/>
      </p:scale>
      <p:origin x="0" y="-30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a:latin typeface="Arial" charset="0"/>
              </a:defRPr>
            </a:lvl1pPr>
          </a:lstStyle>
          <a:p>
            <a:pPr>
              <a:defRPr/>
            </a:pPr>
            <a:endParaRPr lang="en-US"/>
          </a:p>
        </p:txBody>
      </p:sp>
      <p:sp>
        <p:nvSpPr>
          <p:cNvPr id="62467"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a:latin typeface="Arial" charset="0"/>
              </a:defRPr>
            </a:lvl1pPr>
          </a:lstStyle>
          <a:p>
            <a:pPr>
              <a:defRPr/>
            </a:pPr>
            <a:endParaRPr lang="en-US"/>
          </a:p>
        </p:txBody>
      </p:sp>
      <p:sp>
        <p:nvSpPr>
          <p:cNvPr id="62468"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a:latin typeface="Arial" charset="0"/>
              </a:defRPr>
            </a:lvl1pPr>
          </a:lstStyle>
          <a:p>
            <a:pPr>
              <a:defRPr/>
            </a:pPr>
            <a:endParaRPr lang="en-US"/>
          </a:p>
        </p:txBody>
      </p:sp>
      <p:sp>
        <p:nvSpPr>
          <p:cNvPr id="62469"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a:latin typeface="Arial" charset="0"/>
              </a:defRPr>
            </a:lvl1pPr>
          </a:lstStyle>
          <a:p>
            <a:pPr>
              <a:defRPr/>
            </a:pPr>
            <a:fld id="{FF8D801E-FC9C-4F95-AF95-356B30DA5EEF}" type="slidenum">
              <a:rPr lang="en-US"/>
              <a:pPr>
                <a:defRPr/>
              </a:pPr>
              <a:t>‹#›</a:t>
            </a:fld>
            <a:endParaRPr lang="en-US"/>
          </a:p>
        </p:txBody>
      </p:sp>
    </p:spTree>
    <p:extLst>
      <p:ext uri="{BB962C8B-B14F-4D97-AF65-F5344CB8AC3E}">
        <p14:creationId xmlns:p14="http://schemas.microsoft.com/office/powerpoint/2010/main" val="946403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a:latin typeface="Arial" charset="0"/>
              </a:defRPr>
            </a:lvl1pPr>
          </a:lstStyle>
          <a:p>
            <a:pPr>
              <a:defRPr/>
            </a:pPr>
            <a:endParaRPr lang="en-US"/>
          </a:p>
        </p:txBody>
      </p:sp>
      <p:sp>
        <p:nvSpPr>
          <p:cNvPr id="3075"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a:latin typeface="Arial" charset="0"/>
              </a:defRPr>
            </a:lvl1pPr>
          </a:lstStyle>
          <a:p>
            <a:pPr>
              <a:defRPr/>
            </a:pPr>
            <a:endParaRPr lang="en-US"/>
          </a:p>
        </p:txBody>
      </p:sp>
      <p:sp>
        <p:nvSpPr>
          <p:cNvPr id="307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a:latin typeface="Arial" charset="0"/>
              </a:defRPr>
            </a:lvl1pPr>
          </a:lstStyle>
          <a:p>
            <a:pPr>
              <a:defRPr/>
            </a:pPr>
            <a:fld id="{2A0CD1FD-DF15-4FA1-AEA4-CA0301267848}" type="slidenum">
              <a:rPr lang="en-US"/>
              <a:pPr>
                <a:defRPr/>
              </a:pPr>
              <a:t>‹#›</a:t>
            </a:fld>
            <a:endParaRPr lang="en-US"/>
          </a:p>
        </p:txBody>
      </p:sp>
    </p:spTree>
    <p:extLst>
      <p:ext uri="{BB962C8B-B14F-4D97-AF65-F5344CB8AC3E}">
        <p14:creationId xmlns:p14="http://schemas.microsoft.com/office/powerpoint/2010/main" val="16133039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 am Annie Hsu. </a:t>
            </a:r>
          </a:p>
          <a:p>
            <a:r>
              <a:rPr lang="en-US" dirty="0"/>
              <a:t>Today, I will present our study examining how information alignment and mis-alignment– especially between President Trump and the CDC during COVID-19--- affect individuals’ willingness to pay (WTP) to public health. </a:t>
            </a:r>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1</a:t>
            </a:fld>
            <a:endParaRPr lang="en-US"/>
          </a:p>
        </p:txBody>
      </p:sp>
    </p:spTree>
    <p:extLst>
      <p:ext uri="{BB962C8B-B14F-4D97-AF65-F5344CB8AC3E}">
        <p14:creationId xmlns:p14="http://schemas.microsoft.com/office/powerpoint/2010/main" val="3043491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news headlines describe the situation that occurred during the COVID-19 pandemic. If time permits, I will also share some additional work exploring the misalignment between President Biden and the CDC, although our main focus today is </a:t>
            </a:r>
            <a:r>
              <a:rPr lang="en-US" b="1" dirty="0"/>
              <a:t>on</a:t>
            </a:r>
            <a:r>
              <a:rPr lang="en-US" dirty="0"/>
              <a:t> the misalignment between President Trump and the CDC.</a:t>
            </a:r>
          </a:p>
        </p:txBody>
      </p:sp>
      <p:sp>
        <p:nvSpPr>
          <p:cNvPr id="4" name="Slide Number Placeholder 3"/>
          <p:cNvSpPr>
            <a:spLocks noGrp="1"/>
          </p:cNvSpPr>
          <p:nvPr>
            <p:ph type="sldNum" sz="quarter" idx="10"/>
          </p:nvPr>
        </p:nvSpPr>
        <p:spPr/>
        <p:txBody>
          <a:bodyPr/>
          <a:lstStyle/>
          <a:p>
            <a:fld id="{4F9C9F4C-471F-4668-8AC7-F5AE9629EEDB}" type="slidenum">
              <a:rPr lang="en-US" smtClean="0"/>
              <a:t>2</a:t>
            </a:fld>
            <a:endParaRPr lang="en-US"/>
          </a:p>
        </p:txBody>
      </p:sp>
    </p:spTree>
    <p:extLst>
      <p:ext uri="{BB962C8B-B14F-4D97-AF65-F5344CB8AC3E}">
        <p14:creationId xmlns:p14="http://schemas.microsoft.com/office/powerpoint/2010/main" val="840900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CDC Director, Robert Redfield, and President Trump.</a:t>
            </a:r>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3</a:t>
            </a:fld>
            <a:endParaRPr lang="en-US"/>
          </a:p>
        </p:txBody>
      </p:sp>
    </p:spTree>
    <p:extLst>
      <p:ext uri="{BB962C8B-B14F-4D97-AF65-F5344CB8AC3E}">
        <p14:creationId xmlns:p14="http://schemas.microsoft.com/office/powerpoint/2010/main" val="310413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Covid-19 created a nationwide crisis </a:t>
            </a:r>
            <a:r>
              <a:rPr lang="en-US" b="1" dirty="0"/>
              <a:t>where</a:t>
            </a:r>
            <a:r>
              <a:rPr lang="en-US" dirty="0"/>
              <a:t> clear action was needed, </a:t>
            </a:r>
          </a:p>
          <a:p>
            <a:r>
              <a:rPr lang="en-US" dirty="0"/>
              <a:t>but the public received mixes and conflicting messages from the government and health authorities. </a:t>
            </a:r>
          </a:p>
          <a:p>
            <a:endParaRPr lang="en-US" dirty="0"/>
          </a:p>
          <a:p>
            <a:r>
              <a:rPr lang="en-US" dirty="0"/>
              <a:t>For example, President Trump and the CDC often delivered contradictory statements about COVID-19 severity, masking, and vaccines— sometimes even </a:t>
            </a:r>
            <a:r>
              <a:rPr lang="en-US" b="1" dirty="0"/>
              <a:t>on</a:t>
            </a:r>
            <a:r>
              <a:rPr lang="en-US" dirty="0"/>
              <a:t> the same day. </a:t>
            </a:r>
          </a:p>
          <a:p>
            <a:endParaRPr lang="en-US" dirty="0"/>
          </a:p>
          <a:p>
            <a:r>
              <a:rPr lang="en-US" dirty="0"/>
              <a:t>This brings us to two research questions: </a:t>
            </a:r>
            <a:br>
              <a:rPr lang="en-US" dirty="0"/>
            </a:br>
            <a:r>
              <a:rPr lang="en-US" dirty="0"/>
              <a:t>1. Does information alignment or mis-alignment influence individuals’ WTP for public health?</a:t>
            </a:r>
          </a:p>
          <a:p>
            <a:r>
              <a:rPr lang="en-US" dirty="0"/>
              <a:t>2. Do factors such as mission alignment and trust in the source mediate this relationship?</a:t>
            </a:r>
          </a:p>
          <a:p>
            <a:endParaRPr lang="en-US" dirty="0"/>
          </a:p>
          <a:p>
            <a:endParaRPr lang="en-US" dirty="0"/>
          </a:p>
        </p:txBody>
      </p:sp>
      <p:sp>
        <p:nvSpPr>
          <p:cNvPr id="4" name="Slide Number Placeholder 3"/>
          <p:cNvSpPr>
            <a:spLocks noGrp="1"/>
          </p:cNvSpPr>
          <p:nvPr>
            <p:ph type="sldNum" sz="quarter" idx="10"/>
          </p:nvPr>
        </p:nvSpPr>
        <p:spPr/>
        <p:txBody>
          <a:bodyPr/>
          <a:lstStyle/>
          <a:p>
            <a:fld id="{4F9C9F4C-471F-4668-8AC7-F5AE9629EEDB}" type="slidenum">
              <a:rPr lang="en-US" smtClean="0"/>
              <a:t>4</a:t>
            </a:fld>
            <a:endParaRPr lang="en-US"/>
          </a:p>
        </p:txBody>
      </p:sp>
    </p:spTree>
    <p:extLst>
      <p:ext uri="{BB962C8B-B14F-4D97-AF65-F5344CB8AC3E}">
        <p14:creationId xmlns:p14="http://schemas.microsoft.com/office/powerpoint/2010/main" val="366732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E13CA-6109-4331-5427-78267EED6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3B5F5-9E6D-38BE-FDF3-F6F6268C6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095F1-F556-6DBB-EA38-C00087C8CDE8}"/>
              </a:ext>
            </a:extLst>
          </p:cNvPr>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Previous work shows that informational treatments can significantly affect people’s WTP—whether for taxes, bonds, or public projects. Another relevant strand of research emphasizes trust in the information source. During COVID-19, trust was highly correlated with partisanship, which made effective communication more difficult.</a:t>
            </a:r>
          </a:p>
        </p:txBody>
      </p:sp>
      <p:sp>
        <p:nvSpPr>
          <p:cNvPr id="4" name="Slide Number Placeholder 3">
            <a:extLst>
              <a:ext uri="{FF2B5EF4-FFF2-40B4-BE49-F238E27FC236}">
                <a16:creationId xmlns:a16="http://schemas.microsoft.com/office/drawing/2014/main" id="{A8BF30D3-6C7D-915B-A3F9-6A00650314E7}"/>
              </a:ext>
            </a:extLst>
          </p:cNvPr>
          <p:cNvSpPr>
            <a:spLocks noGrp="1"/>
          </p:cNvSpPr>
          <p:nvPr>
            <p:ph type="sldNum" sz="quarter" idx="10"/>
          </p:nvPr>
        </p:nvSpPr>
        <p:spPr/>
        <p:txBody>
          <a:bodyPr/>
          <a:lstStyle/>
          <a:p>
            <a:pPr>
              <a:defRPr/>
            </a:pPr>
            <a:fld id="{2A0CD1FD-DF15-4FA1-AEA4-CA0301267848}" type="slidenum">
              <a:rPr lang="en-US" smtClean="0"/>
              <a:pPr>
                <a:defRPr/>
              </a:pPr>
              <a:t>5</a:t>
            </a:fld>
            <a:endParaRPr lang="en-US"/>
          </a:p>
        </p:txBody>
      </p:sp>
    </p:spTree>
    <p:extLst>
      <p:ext uri="{BB962C8B-B14F-4D97-AF65-F5344CB8AC3E}">
        <p14:creationId xmlns:p14="http://schemas.microsoft.com/office/powerpoint/2010/main" val="2820791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C08DC-B07F-1569-BA89-5C44D24EF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B0367-7698-A3BB-D3BE-35F0EB6B1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29318-B444-C18A-B3DB-17634A0D50C6}"/>
              </a:ext>
            </a:extLst>
          </p:cNvPr>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Finally, research on mission alignment suggests that organizational salience and valence increase public support, and crises tend to amplify these effects.</a:t>
            </a:r>
            <a:br>
              <a:rPr lang="en-US" dirty="0"/>
            </a:br>
            <a:r>
              <a:rPr lang="en-US" dirty="0"/>
              <a:t>Our experiment integrates these literatures into one framework.</a:t>
            </a:r>
          </a:p>
        </p:txBody>
      </p:sp>
      <p:sp>
        <p:nvSpPr>
          <p:cNvPr id="4" name="Slide Number Placeholder 3">
            <a:extLst>
              <a:ext uri="{FF2B5EF4-FFF2-40B4-BE49-F238E27FC236}">
                <a16:creationId xmlns:a16="http://schemas.microsoft.com/office/drawing/2014/main" id="{975EAD52-D1AD-04E9-007B-AC8E3E0B078B}"/>
              </a:ext>
            </a:extLst>
          </p:cNvPr>
          <p:cNvSpPr>
            <a:spLocks noGrp="1"/>
          </p:cNvSpPr>
          <p:nvPr>
            <p:ph type="sldNum" sz="quarter" idx="10"/>
          </p:nvPr>
        </p:nvSpPr>
        <p:spPr/>
        <p:txBody>
          <a:bodyPr/>
          <a:lstStyle/>
          <a:p>
            <a:pPr>
              <a:defRPr/>
            </a:pPr>
            <a:fld id="{2A0CD1FD-DF15-4FA1-AEA4-CA0301267848}" type="slidenum">
              <a:rPr lang="en-US" smtClean="0"/>
              <a:pPr>
                <a:defRPr/>
              </a:pPr>
              <a:t>6</a:t>
            </a:fld>
            <a:endParaRPr lang="en-US"/>
          </a:p>
        </p:txBody>
      </p:sp>
    </p:spTree>
    <p:extLst>
      <p:ext uri="{BB962C8B-B14F-4D97-AF65-F5344CB8AC3E}">
        <p14:creationId xmlns:p14="http://schemas.microsoft.com/office/powerpoint/2010/main" val="3590337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02F68-8E9F-0388-2CDF-F6E0F4856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1A26B-0BE7-FE08-EE99-063D53EE6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0739D-B811-0EEC-EF3C-B5E9C92D1B91}"/>
              </a:ext>
            </a:extLst>
          </p:cNvPr>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We conducted a survey experiment where all respondents received baseline Covid-19 information, including Trump’s statements.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 treatment group additionally received three examples of CDC statements that contradict Trumps’: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CFR, Vaccine, Mask</a:t>
            </a:r>
            <a:br>
              <a:rPr lang="en-US" dirty="0"/>
            </a:br>
            <a:br>
              <a:rPr lang="en-US" dirty="0"/>
            </a:br>
            <a:r>
              <a:rPr lang="en-US" dirty="0"/>
              <a:t>This design cleanly isolates the effect of highlighting institutional misalignment (?)</a:t>
            </a:r>
          </a:p>
        </p:txBody>
      </p:sp>
      <p:sp>
        <p:nvSpPr>
          <p:cNvPr id="4" name="Slide Number Placeholder 3">
            <a:extLst>
              <a:ext uri="{FF2B5EF4-FFF2-40B4-BE49-F238E27FC236}">
                <a16:creationId xmlns:a16="http://schemas.microsoft.com/office/drawing/2014/main" id="{E8D66D53-8EA0-F89B-E0D3-B4BC450A18B3}"/>
              </a:ext>
            </a:extLst>
          </p:cNvPr>
          <p:cNvSpPr>
            <a:spLocks noGrp="1"/>
          </p:cNvSpPr>
          <p:nvPr>
            <p:ph type="sldNum" sz="quarter" idx="10"/>
          </p:nvPr>
        </p:nvSpPr>
        <p:spPr/>
        <p:txBody>
          <a:bodyPr/>
          <a:lstStyle/>
          <a:p>
            <a:pPr>
              <a:defRPr/>
            </a:pPr>
            <a:fld id="{2A0CD1FD-DF15-4FA1-AEA4-CA0301267848}" type="slidenum">
              <a:rPr lang="en-US" smtClean="0"/>
              <a:pPr>
                <a:defRPr/>
              </a:pPr>
              <a:t>7</a:t>
            </a:fld>
            <a:endParaRPr lang="en-US"/>
          </a:p>
        </p:txBody>
      </p:sp>
    </p:spTree>
    <p:extLst>
      <p:ext uri="{BB962C8B-B14F-4D97-AF65-F5344CB8AC3E}">
        <p14:creationId xmlns:p14="http://schemas.microsoft.com/office/powerpoint/2010/main" val="921174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A0CD1FD-DF15-4FA1-AEA4-CA0301267848}" type="slidenum">
              <a:rPr lang="en-US" smtClean="0"/>
              <a:pPr>
                <a:defRPr/>
              </a:pPr>
              <a:t>8</a:t>
            </a:fld>
            <a:endParaRPr lang="en-US"/>
          </a:p>
        </p:txBody>
      </p:sp>
    </p:spTree>
    <p:extLst>
      <p:ext uri="{BB962C8B-B14F-4D97-AF65-F5344CB8AC3E}">
        <p14:creationId xmlns:p14="http://schemas.microsoft.com/office/powerpoint/2010/main" val="1429812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A0CD1FD-DF15-4FA1-AEA4-CA0301267848}" type="slidenum">
              <a:rPr lang="en-US" smtClean="0"/>
              <a:pPr>
                <a:defRPr/>
              </a:pPr>
              <a:t>9</a:t>
            </a:fld>
            <a:endParaRPr lang="en-US"/>
          </a:p>
        </p:txBody>
      </p:sp>
    </p:spTree>
    <p:extLst>
      <p:ext uri="{BB962C8B-B14F-4D97-AF65-F5344CB8AC3E}">
        <p14:creationId xmlns:p14="http://schemas.microsoft.com/office/powerpoint/2010/main" val="2507173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A0CD1FD-DF15-4FA1-AEA4-CA0301267848}" type="slidenum">
              <a:rPr lang="en-US" smtClean="0"/>
              <a:pPr>
                <a:defRPr/>
              </a:pPr>
              <a:t>10</a:t>
            </a:fld>
            <a:endParaRPr lang="en-US"/>
          </a:p>
        </p:txBody>
      </p:sp>
    </p:spTree>
    <p:extLst>
      <p:ext uri="{BB962C8B-B14F-4D97-AF65-F5344CB8AC3E}">
        <p14:creationId xmlns:p14="http://schemas.microsoft.com/office/powerpoint/2010/main" val="745647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0A387-0FEC-5975-4F55-C1769AD07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AEC74-8BDA-36E2-5DE3-557E7D387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DD7E6-5B27-D0D6-2D59-926F1915828C}"/>
              </a:ext>
            </a:extLst>
          </p:cNvPr>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We collected data from over 1000 US voters through </a:t>
            </a:r>
            <a:r>
              <a:rPr lang="en-US" dirty="0" err="1"/>
              <a:t>Mturk</a:t>
            </a:r>
            <a:r>
              <a:rPr lang="en-US" dirty="0"/>
              <a:t> and Qualtrics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We focus on three main outcomes:….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 sample is balanced across groups, and robustness checks indicate that platform-based ideological differences do not drive results. </a:t>
            </a:r>
          </a:p>
        </p:txBody>
      </p:sp>
      <p:sp>
        <p:nvSpPr>
          <p:cNvPr id="4" name="Slide Number Placeholder 3">
            <a:extLst>
              <a:ext uri="{FF2B5EF4-FFF2-40B4-BE49-F238E27FC236}">
                <a16:creationId xmlns:a16="http://schemas.microsoft.com/office/drawing/2014/main" id="{A4532B82-D1A2-E4CB-F7CC-521A86A94EFB}"/>
              </a:ext>
            </a:extLst>
          </p:cNvPr>
          <p:cNvSpPr>
            <a:spLocks noGrp="1"/>
          </p:cNvSpPr>
          <p:nvPr>
            <p:ph type="sldNum" sz="quarter" idx="10"/>
          </p:nvPr>
        </p:nvSpPr>
        <p:spPr/>
        <p:txBody>
          <a:bodyPr/>
          <a:lstStyle/>
          <a:p>
            <a:pPr>
              <a:defRPr/>
            </a:pPr>
            <a:fld id="{2A0CD1FD-DF15-4FA1-AEA4-CA0301267848}" type="slidenum">
              <a:rPr lang="en-US" smtClean="0"/>
              <a:pPr>
                <a:defRPr/>
              </a:pPr>
              <a:t>11</a:t>
            </a:fld>
            <a:endParaRPr lang="en-US"/>
          </a:p>
        </p:txBody>
      </p:sp>
    </p:spTree>
    <p:extLst>
      <p:ext uri="{BB962C8B-B14F-4D97-AF65-F5344CB8AC3E}">
        <p14:creationId xmlns:p14="http://schemas.microsoft.com/office/powerpoint/2010/main" val="3654250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results show that: </a:t>
            </a:r>
          </a:p>
          <a:p>
            <a:r>
              <a:rPr lang="en-US" dirty="0"/>
              <a:t>No significant effect of misaligned information on WTP for increased public health spending. </a:t>
            </a:r>
          </a:p>
          <a:p>
            <a:r>
              <a:rPr lang="en-US" dirty="0"/>
              <a:t>-- </a:t>
            </a:r>
            <a:br>
              <a:rPr lang="en-US" dirty="0"/>
            </a:br>
            <a:r>
              <a:rPr lang="en-US" dirty="0"/>
              <a:t>Here are our main results for WTP for public health. </a:t>
            </a:r>
            <a:br>
              <a:rPr lang="en-US" dirty="0"/>
            </a:br>
            <a:r>
              <a:rPr lang="en-US" dirty="0"/>
              <a:t>Let me walk you through the graphs one by one. </a:t>
            </a:r>
            <a:br>
              <a:rPr lang="en-US" dirty="0"/>
            </a:br>
            <a:r>
              <a:rPr lang="en-US" dirty="0"/>
              <a:t>First, in the top-left panel, we compare the average WTP between the control group and the treatment group. </a:t>
            </a:r>
          </a:p>
          <a:p>
            <a:r>
              <a:rPr lang="en-US" dirty="0"/>
              <a:t>You can see the bar heights are similar. </a:t>
            </a:r>
            <a:br>
              <a:rPr lang="en-US" dirty="0"/>
            </a:br>
            <a:r>
              <a:rPr lang="en-US" dirty="0"/>
              <a:t>Statistically, the treatment has no significant effect on WTP. </a:t>
            </a:r>
          </a:p>
          <a:p>
            <a:r>
              <a:rPr lang="en-US" strike="sngStrike" dirty="0"/>
              <a:t>This tells us that simply exposing respondents to misaligned information between the President and the CDC does not change their willingness to support increased public health spending. </a:t>
            </a:r>
          </a:p>
          <a:p>
            <a:r>
              <a:rPr lang="en-US" dirty="0"/>
              <a:t>2. ---</a:t>
            </a:r>
          </a:p>
          <a:p>
            <a:r>
              <a:rPr lang="en-US" dirty="0"/>
              <a:t>Next, the top-right panel incorporates “mission salience” by asking how important respondents think about the CDC’s mission. </a:t>
            </a:r>
          </a:p>
          <a:p>
            <a:r>
              <a:rPr lang="en-US" dirty="0"/>
              <a:t>These salience measures come from questions we included in the survey, and we split respondents into 5 levels; from “not at all important” to “extremely important”. </a:t>
            </a:r>
          </a:p>
          <a:p>
            <a:r>
              <a:rPr lang="en-US" dirty="0"/>
              <a:t>Across every salience level, treatment and control bars almost in parallel. Again, no significant treatment effect occurs. </a:t>
            </a:r>
          </a:p>
          <a:p>
            <a:r>
              <a:rPr lang="en-US" strike="sngStrike" dirty="0"/>
              <a:t>Even people who think the CDC’s mission is “very important” or “extremely important” do not significantly change their WTP when exposed to misaligned information. </a:t>
            </a:r>
          </a:p>
          <a:p>
            <a:r>
              <a:rPr lang="en-US" dirty="0"/>
              <a:t>3. ---</a:t>
            </a:r>
          </a:p>
          <a:p>
            <a:r>
              <a:rPr lang="en-US" dirty="0"/>
              <a:t>The bottom-left figure looks at mission valence—whether respondents see CDC does good for the society. And we split respondents into 5 levels from “strongly disagree” to “strongly agree”</a:t>
            </a:r>
            <a:br>
              <a:rPr lang="en-US" dirty="0"/>
            </a:br>
            <a:r>
              <a:rPr lang="en-US" strike="sngStrike" dirty="0"/>
              <a:t>We see differences in baseline WTP across valence categories, which is expected– people who view the CDC more positively tend to support more spending. </a:t>
            </a:r>
          </a:p>
          <a:p>
            <a:r>
              <a:rPr lang="en-US" dirty="0"/>
              <a:t>the pattern remains consistent: control and treatment groups look very similar within each category. </a:t>
            </a:r>
            <a:br>
              <a:rPr lang="en-US" dirty="0"/>
            </a:br>
            <a:r>
              <a:rPr lang="en-US" strike="sngStrike" dirty="0"/>
              <a:t>So mission valence does not amplify or mitigate the effect of misalignment, because we simply don’t find a treatment effect. </a:t>
            </a:r>
            <a:endParaRPr lang="en-US" dirty="0"/>
          </a:p>
          <a:p>
            <a:r>
              <a:rPr lang="en-US" dirty="0"/>
              <a:t>4. --</a:t>
            </a:r>
          </a:p>
          <a:p>
            <a:r>
              <a:rPr lang="en-US" dirty="0"/>
              <a:t>Finally , the bottom-right panel conditions on whether respondents said they trust the CDC as their preferred information source. </a:t>
            </a:r>
          </a:p>
          <a:p>
            <a:r>
              <a:rPr lang="en-US" dirty="0"/>
              <a:t>Even here, where we might expect the strongest reaction to misalignment, the treatment bars and the control bars remain nearly identical. </a:t>
            </a:r>
          </a:p>
          <a:p>
            <a:r>
              <a:rPr lang="en-US" u="none" strike="sngStrike" dirty="0"/>
              <a:t>So even among those who trust the CDC, misaligned messaging does not significantly change WTP. </a:t>
            </a:r>
          </a:p>
          <a:p>
            <a:r>
              <a:rPr lang="en-US" dirty="0"/>
              <a:t>---</a:t>
            </a:r>
          </a:p>
          <a:p>
            <a:r>
              <a:rPr lang="en-US" dirty="0"/>
              <a:t>So the key takeaway from this set of results here is simple: </a:t>
            </a:r>
            <a:br>
              <a:rPr lang="en-US" dirty="0"/>
            </a:br>
            <a:r>
              <a:rPr lang="en-US" dirty="0"/>
              <a:t>We find no significant evidence that misaligned information between the President and the CDC affects people’s WTP for public health. </a:t>
            </a:r>
          </a:p>
          <a:p>
            <a:r>
              <a:rPr lang="en-US" dirty="0"/>
              <a:t>Even when we account for mission salience, valence or trust– variables we collected throughout the survey– the null effect persists. </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12</a:t>
            </a:fld>
            <a:endParaRPr lang="en-US"/>
          </a:p>
        </p:txBody>
      </p:sp>
    </p:spTree>
    <p:extLst>
      <p:ext uri="{BB962C8B-B14F-4D97-AF65-F5344CB8AC3E}">
        <p14:creationId xmlns:p14="http://schemas.microsoft.com/office/powerpoint/2010/main" val="2577142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significant effect on willingness to accept tax increases</a:t>
            </a:r>
          </a:p>
          <a:p>
            <a:endParaRPr lang="en-US" dirty="0"/>
          </a:p>
          <a:p>
            <a:r>
              <a:rPr lang="en-US" dirty="0"/>
              <a:t>---</a:t>
            </a:r>
          </a:p>
          <a:p>
            <a:r>
              <a:rPr lang="en-US" dirty="0"/>
              <a:t>This null effect also holds for the other two outcomes variables we examine—support for tax increases and prioritizing public health over the economy– where misaligned information similarly shows no significant effect. </a:t>
            </a:r>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13</a:t>
            </a:fld>
            <a:endParaRPr lang="en-US"/>
          </a:p>
        </p:txBody>
      </p:sp>
    </p:spTree>
    <p:extLst>
      <p:ext uri="{BB962C8B-B14F-4D97-AF65-F5344CB8AC3E}">
        <p14:creationId xmlns:p14="http://schemas.microsoft.com/office/powerpoint/2010/main" val="208052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significant shifts in preferences between prioritizing public health versus the economy</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So overall, null effects dominate</a:t>
            </a:r>
            <a:br>
              <a:rPr lang="en-US" dirty="0"/>
            </a:br>
            <a:br>
              <a:rPr lang="en-US" dirty="0"/>
            </a:br>
            <a:r>
              <a:rPr lang="en-US" dirty="0"/>
              <a:t>These null results indicate that while messaging influences personal behaviors (like masking and distancing)</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It does not necessarily change individuals’ willingness to commit fiscal resources.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Public spending attitudes appear more anchored to pre-existing political preferences, and less responsive to new information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14</a:t>
            </a:fld>
            <a:endParaRPr lang="en-US"/>
          </a:p>
        </p:txBody>
      </p:sp>
    </p:spTree>
    <p:extLst>
      <p:ext uri="{BB962C8B-B14F-4D97-AF65-F5344CB8AC3E}">
        <p14:creationId xmlns:p14="http://schemas.microsoft.com/office/powerpoint/2010/main" val="324318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So what should we take away from this?</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First, mixed messaging clearly created confusion and influenced how people behaved day-to day.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However, this confusion did not translate into broader public support for increased government spending on public health.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This suggests a meaningful distinction between: </a:t>
            </a:r>
            <a:br>
              <a:rPr lang="en-US" dirty="0"/>
            </a:br>
            <a:r>
              <a:rPr lang="en-US" dirty="0"/>
              <a:t>-individual behavioral responses (which are sensitive to information) and</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-collective fiscal preferences (which remain largely fixed)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To conclude: </a:t>
            </a:r>
            <a:br>
              <a:rPr lang="en-US" dirty="0"/>
            </a:br>
            <a:r>
              <a:rPr lang="en-US" dirty="0"/>
              <a:t>1. despite intense and conflicting information during Covid 19, individuals’ WTP for public health did not meaningfully change</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2. Trust and mission alignment remain important for understanding public attitudes, but they may influence behavior more than fiscal willingness</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3. For policymakers and public health agencies, this highlights the challenge of building financial support during a crisis– even when the crisis is highly salient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Thank you, and I look forward to your questions. </a:t>
            </a:r>
          </a:p>
        </p:txBody>
      </p:sp>
      <p:sp>
        <p:nvSpPr>
          <p:cNvPr id="4" name="Slide Number Placeholder 3"/>
          <p:cNvSpPr>
            <a:spLocks noGrp="1"/>
          </p:cNvSpPr>
          <p:nvPr>
            <p:ph type="sldNum" sz="quarter" idx="10"/>
          </p:nvPr>
        </p:nvSpPr>
        <p:spPr/>
        <p:txBody>
          <a:bodyPr/>
          <a:lstStyle/>
          <a:p>
            <a:pPr>
              <a:defRPr/>
            </a:pPr>
            <a:fld id="{2A0CD1FD-DF15-4FA1-AEA4-CA0301267848}" type="slidenum">
              <a:rPr lang="en-US" smtClean="0"/>
              <a:pPr>
                <a:defRPr/>
              </a:pPr>
              <a:t>15</a:t>
            </a:fld>
            <a:endParaRPr lang="en-US"/>
          </a:p>
        </p:txBody>
      </p:sp>
    </p:spTree>
    <p:extLst>
      <p:ext uri="{BB962C8B-B14F-4D97-AF65-F5344CB8AC3E}">
        <p14:creationId xmlns:p14="http://schemas.microsoft.com/office/powerpoint/2010/main" val="3021915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18</a:t>
            </a:fld>
            <a:endParaRPr lang="en-US"/>
          </a:p>
        </p:txBody>
      </p:sp>
    </p:spTree>
    <p:extLst>
      <p:ext uri="{BB962C8B-B14F-4D97-AF65-F5344CB8AC3E}">
        <p14:creationId xmlns:p14="http://schemas.microsoft.com/office/powerpoint/2010/main" val="700289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“Trust is the foundation of any successful relationship — including the relationship between the government and the governed. And during a pandemic like this one, it’s no abstract matter.”</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A0CD1FD-DF15-4FA1-AEA4-CA0301267848}" type="slidenum">
              <a:rPr lang="en-US" smtClean="0"/>
              <a:pPr>
                <a:defRPr/>
              </a:pPr>
              <a:t>19</a:t>
            </a:fld>
            <a:endParaRPr lang="en-US"/>
          </a:p>
        </p:txBody>
      </p:sp>
    </p:spTree>
    <p:extLst>
      <p:ext uri="{BB962C8B-B14F-4D97-AF65-F5344CB8AC3E}">
        <p14:creationId xmlns:p14="http://schemas.microsoft.com/office/powerpoint/2010/main" val="911466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 </a:t>
            </a:r>
            <a:r>
              <a:rPr lang="en-US" dirty="0" err="1"/>
              <a:t>biden</a:t>
            </a:r>
            <a:endParaRPr lang="en-US" dirty="0"/>
          </a:p>
          <a:p>
            <a:r>
              <a:rPr lang="en-US" dirty="0"/>
              <a:t>Green – </a:t>
            </a:r>
            <a:r>
              <a:rPr lang="en-US" dirty="0" err="1"/>
              <a:t>biden</a:t>
            </a:r>
            <a:r>
              <a:rPr lang="en-US" dirty="0"/>
              <a:t> vs </a:t>
            </a:r>
            <a:r>
              <a:rPr lang="en-US" dirty="0" err="1"/>
              <a:t>cdc</a:t>
            </a:r>
            <a:endParaRPr lang="en-US" dirty="0"/>
          </a:p>
          <a:p>
            <a:r>
              <a:rPr lang="en-US" dirty="0"/>
              <a:t>Red – </a:t>
            </a:r>
            <a:r>
              <a:rPr lang="en-US" dirty="0" err="1"/>
              <a:t>biden</a:t>
            </a:r>
            <a:r>
              <a:rPr lang="en-US" dirty="0"/>
              <a:t> &amp; </a:t>
            </a:r>
            <a:r>
              <a:rPr lang="en-US" dirty="0" err="1"/>
              <a:t>cdc</a:t>
            </a:r>
            <a:endParaRPr lang="en-US" dirty="0"/>
          </a:p>
          <a:p>
            <a:r>
              <a:rPr lang="en-US" dirty="0"/>
              <a:t>Black - </a:t>
            </a:r>
            <a:r>
              <a:rPr lang="en-US" dirty="0" err="1"/>
              <a:t>cdc</a:t>
            </a:r>
            <a:endParaRPr lang="en-US" dirty="0"/>
          </a:p>
        </p:txBody>
      </p:sp>
      <p:sp>
        <p:nvSpPr>
          <p:cNvPr id="4" name="Slide Number Placeholder 3"/>
          <p:cNvSpPr>
            <a:spLocks noGrp="1"/>
          </p:cNvSpPr>
          <p:nvPr>
            <p:ph type="sldNum" sz="quarter" idx="5"/>
          </p:nvPr>
        </p:nvSpPr>
        <p:spPr/>
        <p:txBody>
          <a:bodyPr/>
          <a:lstStyle/>
          <a:p>
            <a:pPr>
              <a:defRPr/>
            </a:pPr>
            <a:fld id="{2A0CD1FD-DF15-4FA1-AEA4-CA0301267848}" type="slidenum">
              <a:rPr lang="en-US" smtClean="0"/>
              <a:pPr>
                <a:defRPr/>
              </a:pPr>
              <a:t>22</a:t>
            </a:fld>
            <a:endParaRPr lang="en-US"/>
          </a:p>
        </p:txBody>
      </p:sp>
    </p:spTree>
    <p:extLst>
      <p:ext uri="{BB962C8B-B14F-4D97-AF65-F5344CB8AC3E}">
        <p14:creationId xmlns:p14="http://schemas.microsoft.com/office/powerpoint/2010/main" val="1980347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In a supplementary experiment, we examined how individuals update their beliefs when exposed to messages from Biden versus CDC.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We find that:</a:t>
            </a:r>
            <a:br>
              <a:rPr lang="en-US" dirty="0"/>
            </a:br>
            <a:r>
              <a:rPr lang="en-US" dirty="0"/>
              <a:t>-People update more toward CDC than Trump when exposed to CDC information</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-But update more toward Biden than CDC when exposed to Biden’s information</a:t>
            </a:r>
            <a:br>
              <a:rPr lang="en-US" dirty="0"/>
            </a:b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This suggests institutional credibility is malleable, and can be challenged or downgraded when political actors attack the institution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This is particularly important for public agencies during crises– credibility is both an asset and a vulnerability</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To summarize: </a:t>
            </a:r>
            <a:br>
              <a:rPr lang="en-US" dirty="0"/>
            </a:br>
            <a:r>
              <a:rPr lang="en-US" dirty="0"/>
              <a:t>-mixed messages matter for belief updating</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-but not necessarily for willingness to pay</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-trust and mission alignment remain essential</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-and political context shapes how public health institutions are perceived.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Understanding this distinction helps explain why public health agencies struggled with consistent public support, even when individual health behaviors were clearly affected.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Thank you. </a:t>
            </a:r>
          </a:p>
        </p:txBody>
      </p:sp>
      <p:sp>
        <p:nvSpPr>
          <p:cNvPr id="4" name="Slide Number Placeholder 3"/>
          <p:cNvSpPr>
            <a:spLocks noGrp="1"/>
          </p:cNvSpPr>
          <p:nvPr>
            <p:ph type="sldNum" sz="quarter" idx="10"/>
          </p:nvPr>
        </p:nvSpPr>
        <p:spPr/>
        <p:txBody>
          <a:bodyPr/>
          <a:lstStyle/>
          <a:p>
            <a:pPr>
              <a:defRPr/>
            </a:pPr>
            <a:fld id="{2A0CD1FD-DF15-4FA1-AEA4-CA0301267848}" type="slidenum">
              <a:rPr lang="en-US" smtClean="0"/>
              <a:pPr>
                <a:defRPr/>
              </a:pPr>
              <a:t>24</a:t>
            </a:fld>
            <a:endParaRPr lang="en-US"/>
          </a:p>
        </p:txBody>
      </p:sp>
    </p:spTree>
    <p:extLst>
      <p:ext uri="{BB962C8B-B14F-4D97-AF65-F5344CB8AC3E}">
        <p14:creationId xmlns:p14="http://schemas.microsoft.com/office/powerpoint/2010/main" val="2796356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a:defRPr/>
            </a:pPr>
            <a:endParaRPr lang="en-US"/>
          </a:p>
        </p:txBody>
      </p:sp>
      <p:sp>
        <p:nvSpPr>
          <p:cNvPr id="17" name="Footer Placeholder 16"/>
          <p:cNvSpPr>
            <a:spLocks noGrp="1"/>
          </p:cNvSpPr>
          <p:nvPr>
            <p:ph type="ftr" sz="quarter" idx="11"/>
          </p:nvPr>
        </p:nvSpPr>
        <p:spPr/>
        <p:txBody>
          <a:bodyPr/>
          <a:lstStyle/>
          <a:p>
            <a:pPr>
              <a:defRPr/>
            </a:pPr>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a:defRPr/>
            </a:pPr>
            <a:fld id="{72AD8EFC-FBDB-4C3D-94E2-CF306DB3CDDC}" type="slidenum">
              <a:rPr lang="en-US" smtClean="0"/>
              <a:pPr>
                <a:defRPr/>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4361688" y="1026372"/>
            <a:ext cx="457200" cy="441325"/>
          </a:xfrm>
        </p:spPr>
        <p:txBody>
          <a:bodyPr/>
          <a:lstStyle/>
          <a:p>
            <a:pPr>
              <a:defRPr/>
            </a:pPr>
            <a:fld id="{BBB7045E-454D-440A-853D-B8AB2BCC5CAB}" type="slidenum">
              <a:rPr lang="en-US" smtClean="0"/>
              <a:pPr>
                <a:defRPr/>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pPr>
              <a:defRPr/>
            </a:pPr>
            <a:endParaRPr lang="en-US"/>
          </a:p>
        </p:txBody>
      </p:sp>
      <p:sp>
        <p:nvSpPr>
          <p:cNvPr id="4" name="Date Placeholder 3"/>
          <p:cNvSpPr>
            <a:spLocks noGrp="1"/>
          </p:cNvSpPr>
          <p:nvPr>
            <p:ph type="dt" sz="half" idx="10"/>
          </p:nvPr>
        </p:nvSpPr>
        <p:spPr/>
        <p:txBody>
          <a:bodyPr/>
          <a:lstStyle/>
          <a:p>
            <a:pPr>
              <a:defRPr/>
            </a:pPr>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a:defRPr/>
            </a:pPr>
            <a:fld id="{40962E11-DB30-4E10-AB3B-DCE12E333628}" type="slidenum">
              <a:rPr lang="en-US" smtClean="0"/>
              <a:pPr>
                <a:defRPr/>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42DB28C-BCFA-4B80-B117-1000CC994232}" type="slidenum">
              <a:rPr lang="en-US" smtClean="0"/>
              <a:pPr>
                <a:defRPr/>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a:xfrm>
            <a:off x="304800" y="6409944"/>
            <a:ext cx="3581400" cy="365760"/>
          </a:xfrm>
        </p:spPr>
        <p:txBody>
          <a:bodyPr/>
          <a:lstStyle/>
          <a:p>
            <a:pPr>
              <a:defRPr/>
            </a:pPr>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a:defRPr/>
            </a:pPr>
            <a:fld id="{798508C6-56FA-4FB5-BDC2-19083C59BC43}" type="slidenum">
              <a:rPr lang="en-US" smtClean="0"/>
              <a:pPr>
                <a:defRPr/>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a:xfrm>
            <a:off x="4343400" y="1036020"/>
            <a:ext cx="457200" cy="441325"/>
          </a:xfrm>
        </p:spPr>
        <p:txBody>
          <a:bodyPr/>
          <a:lstStyle/>
          <a:p>
            <a:pPr>
              <a:defRPr/>
            </a:pPr>
            <a:fld id="{A779D911-98B9-405F-A016-6B02A7573233}"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pPr>
              <a:defRPr/>
            </a:pPr>
            <a:fld id="{F7E6749A-84F2-4736-8A09-BFF198DE3EE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pPr>
              <a:defRPr/>
            </a:pPr>
            <a:fld id="{78999513-0467-45C9-A16D-A48AB66CB603}" type="slidenum">
              <a:rPr lang="en-US" smtClean="0"/>
              <a:pPr>
                <a:defRPr/>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a:xfrm>
            <a:off x="301752" y="6410848"/>
            <a:ext cx="3383280" cy="365760"/>
          </a:xfrm>
        </p:spPr>
        <p:txBody>
          <a:body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pPr>
              <a:defRPr/>
            </a:pPr>
            <a:fld id="{FAEFA18E-BFBE-4D4B-9245-525F02A7755E}" type="slidenum">
              <a:rPr lang="en-US" smtClean="0"/>
              <a:pPr>
                <a:defRPr/>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pPr>
              <a:defRPr/>
            </a:pPr>
            <a:endParaRPr lang="en-US"/>
          </a:p>
        </p:txBody>
      </p:sp>
      <p:sp>
        <p:nvSpPr>
          <p:cNvPr id="6" name="Footer Placeholder 5"/>
          <p:cNvSpPr>
            <a:spLocks noGrp="1"/>
          </p:cNvSpPr>
          <p:nvPr>
            <p:ph type="ftr" sz="quarter" idx="11"/>
          </p:nvPr>
        </p:nvSpPr>
        <p:spPr>
          <a:xfrm>
            <a:off x="301752" y="6410848"/>
            <a:ext cx="3584448" cy="365760"/>
          </a:xfrm>
        </p:spPr>
        <p:txBody>
          <a:body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DDF1379-D4BA-4621-862D-0DDD516C2AD7}"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pPr>
              <a:defRPr/>
            </a:pPr>
            <a:fld id="{165F88D2-C154-4BCC-99BD-51D59191323B}" type="slidenum">
              <a:rPr lang="en-US" smtClean="0"/>
              <a:pPr>
                <a:defRPr/>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defRPr/>
            </a:pPr>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defRPr/>
            </a:pPr>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893333D6-3CBD-44BA-8FA2-44A1CB2B744F}" type="slidenum">
              <a:rPr lang="en-US" smtClean="0"/>
              <a:pPr>
                <a:defRPr/>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C8940D-159E-0CAC-01D7-52530BF018AB}"/>
              </a:ext>
            </a:extLst>
          </p:cNvPr>
          <p:cNvSpPr txBox="1"/>
          <p:nvPr/>
        </p:nvSpPr>
        <p:spPr>
          <a:xfrm>
            <a:off x="1600200" y="5161002"/>
            <a:ext cx="6324600" cy="1107996"/>
          </a:xfrm>
          <a:prstGeom prst="rect">
            <a:avLst/>
          </a:prstGeom>
          <a:noFill/>
        </p:spPr>
        <p:txBody>
          <a:bodyPr wrap="square" rtlCol="0">
            <a:spAutoFit/>
          </a:bodyPr>
          <a:lstStyle/>
          <a:p>
            <a:pPr algn="ctr"/>
            <a:r>
              <a:rPr lang="en-US" sz="2200" dirty="0"/>
              <a:t>APPAM 2025 Annual Conference</a:t>
            </a:r>
          </a:p>
          <a:p>
            <a:pPr algn="ctr"/>
            <a:r>
              <a:rPr lang="en-US" sz="2200" dirty="0"/>
              <a:t>Seattle, WA</a:t>
            </a:r>
            <a:br>
              <a:rPr lang="en-US" sz="2200" dirty="0"/>
            </a:br>
            <a:r>
              <a:rPr lang="en-US" sz="2200" dirty="0"/>
              <a:t>November 13, 2025</a:t>
            </a:r>
          </a:p>
        </p:txBody>
      </p:sp>
      <p:pic>
        <p:nvPicPr>
          <p:cNvPr id="5" name="Picture 4" descr="A close-up of a document&#10;&#10;AI-generated content may be incorrect.">
            <a:extLst>
              <a:ext uri="{FF2B5EF4-FFF2-40B4-BE49-F238E27FC236}">
                <a16:creationId xmlns:a16="http://schemas.microsoft.com/office/drawing/2014/main" id="{199A5AC8-C054-573F-CC1B-D11223D6B70B}"/>
              </a:ext>
            </a:extLst>
          </p:cNvPr>
          <p:cNvPicPr>
            <a:picLocks noChangeAspect="1"/>
          </p:cNvPicPr>
          <p:nvPr/>
        </p:nvPicPr>
        <p:blipFill rotWithShape="1">
          <a:blip r:embed="rId3">
            <a:extLst>
              <a:ext uri="{28A0092B-C50C-407E-A947-70E740481C1C}">
                <a14:useLocalDpi xmlns:a14="http://schemas.microsoft.com/office/drawing/2010/main" val="0"/>
              </a:ext>
            </a:extLst>
          </a:blip>
          <a:srcRect b="21428"/>
          <a:stretch/>
        </p:blipFill>
        <p:spPr>
          <a:xfrm>
            <a:off x="1064046" y="1143000"/>
            <a:ext cx="7396908" cy="2514600"/>
          </a:xfrm>
          <a:prstGeom prst="rect">
            <a:avLst/>
          </a:prstGeom>
        </p:spPr>
      </p:pic>
    </p:spTree>
    <p:extLst>
      <p:ext uri="{BB962C8B-B14F-4D97-AF65-F5344CB8AC3E}">
        <p14:creationId xmlns:p14="http://schemas.microsoft.com/office/powerpoint/2010/main" val="3886432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6D54A55-0642-4288-8D6E-BE28AF804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475073">
            <a:off x="0" y="1671247"/>
            <a:ext cx="9144000" cy="1013162"/>
          </a:xfrm>
          <a:prstGeom prst="rect">
            <a:avLst/>
          </a:prstGeom>
        </p:spPr>
      </p:pic>
      <p:pic>
        <p:nvPicPr>
          <p:cNvPr id="12" name="Picture 11" descr="A close up of a logo&#10;&#10;Description automatically generated">
            <a:extLst>
              <a:ext uri="{FF2B5EF4-FFF2-40B4-BE49-F238E27FC236}">
                <a16:creationId xmlns:a16="http://schemas.microsoft.com/office/drawing/2014/main" id="{8AEA0A7F-F798-4A20-82D6-97B08D679E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732009">
            <a:off x="0" y="2614369"/>
            <a:ext cx="9144000" cy="1629261"/>
          </a:xfrm>
          <a:prstGeom prst="rect">
            <a:avLst/>
          </a:prstGeom>
        </p:spPr>
      </p:pic>
      <p:pic>
        <p:nvPicPr>
          <p:cNvPr id="14" name="Picture 13" descr="A picture containing black, red, white, drawing&#10;&#10;Description automatically generated">
            <a:extLst>
              <a:ext uri="{FF2B5EF4-FFF2-40B4-BE49-F238E27FC236}">
                <a16:creationId xmlns:a16="http://schemas.microsoft.com/office/drawing/2014/main" id="{9A611D72-2BCA-4651-A28D-C2B26C3688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842446">
            <a:off x="0" y="2279130"/>
            <a:ext cx="9144000" cy="2299739"/>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A7737844-2633-48FB-8BFB-0D0CD4FFBF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0" y="3352800"/>
            <a:ext cx="6281783" cy="2495568"/>
          </a:xfrm>
          <a:prstGeom prst="rect">
            <a:avLst/>
          </a:prstGeom>
        </p:spPr>
      </p:pic>
      <p:pic>
        <p:nvPicPr>
          <p:cNvPr id="20" name="Picture 19" descr="A close up of a logo&#10;&#10;Description automatically generated">
            <a:extLst>
              <a:ext uri="{FF2B5EF4-FFF2-40B4-BE49-F238E27FC236}">
                <a16:creationId xmlns:a16="http://schemas.microsoft.com/office/drawing/2014/main" id="{17CCB3EB-1A71-467B-B96D-5937FF8392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2376820"/>
            <a:ext cx="9144000" cy="2495568"/>
          </a:xfrm>
          <a:prstGeom prst="rect">
            <a:avLst/>
          </a:prstGeom>
        </p:spPr>
      </p:pic>
    </p:spTree>
    <p:extLst>
      <p:ext uri="{BB962C8B-B14F-4D97-AF65-F5344CB8AC3E}">
        <p14:creationId xmlns:p14="http://schemas.microsoft.com/office/powerpoint/2010/main" val="404436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000"/>
                                        <p:tgtEl>
                                          <p:spTgt spid="16"/>
                                        </p:tgtEl>
                                      </p:cBhvr>
                                    </p:animEffect>
                                    <p:anim calcmode="lin" valueType="num">
                                      <p:cBhvr>
                                        <p:cTn id="26" dur="2000" fill="hold"/>
                                        <p:tgtEl>
                                          <p:spTgt spid="16"/>
                                        </p:tgtEl>
                                        <p:attrNameLst>
                                          <p:attrName>ppt_w</p:attrName>
                                        </p:attrNameLst>
                                      </p:cBhvr>
                                      <p:tavLst>
                                        <p:tav tm="0" fmla="#ppt_w*sin(2.5*pi*$)">
                                          <p:val>
                                            <p:fltVal val="0"/>
                                          </p:val>
                                        </p:tav>
                                        <p:tav tm="100000">
                                          <p:val>
                                            <p:fltVal val="1"/>
                                          </p:val>
                                        </p:tav>
                                      </p:tavLst>
                                    </p:anim>
                                    <p:anim calcmode="lin" valueType="num">
                                      <p:cBhvr>
                                        <p:cTn id="27" dur="2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80">
                                          <p:stCondLst>
                                            <p:cond delay="0"/>
                                          </p:stCondLst>
                                        </p:cTn>
                                        <p:tgtEl>
                                          <p:spTgt spid="20"/>
                                        </p:tgtEl>
                                      </p:cBhvr>
                                    </p:animEffect>
                                    <p:anim calcmode="lin" valueType="num">
                                      <p:cBhvr>
                                        <p:cTn id="33"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38" dur="26">
                                          <p:stCondLst>
                                            <p:cond delay="650"/>
                                          </p:stCondLst>
                                        </p:cTn>
                                        <p:tgtEl>
                                          <p:spTgt spid="20"/>
                                        </p:tgtEl>
                                      </p:cBhvr>
                                      <p:to x="100000" y="60000"/>
                                    </p:animScale>
                                    <p:animScale>
                                      <p:cBhvr>
                                        <p:cTn id="39" dur="166" decel="50000">
                                          <p:stCondLst>
                                            <p:cond delay="676"/>
                                          </p:stCondLst>
                                        </p:cTn>
                                        <p:tgtEl>
                                          <p:spTgt spid="20"/>
                                        </p:tgtEl>
                                      </p:cBhvr>
                                      <p:to x="100000" y="100000"/>
                                    </p:animScale>
                                    <p:animScale>
                                      <p:cBhvr>
                                        <p:cTn id="40" dur="26">
                                          <p:stCondLst>
                                            <p:cond delay="1312"/>
                                          </p:stCondLst>
                                        </p:cTn>
                                        <p:tgtEl>
                                          <p:spTgt spid="20"/>
                                        </p:tgtEl>
                                      </p:cBhvr>
                                      <p:to x="100000" y="80000"/>
                                    </p:animScale>
                                    <p:animScale>
                                      <p:cBhvr>
                                        <p:cTn id="41" dur="166" decel="50000">
                                          <p:stCondLst>
                                            <p:cond delay="1338"/>
                                          </p:stCondLst>
                                        </p:cTn>
                                        <p:tgtEl>
                                          <p:spTgt spid="20"/>
                                        </p:tgtEl>
                                      </p:cBhvr>
                                      <p:to x="100000" y="100000"/>
                                    </p:animScale>
                                    <p:animScale>
                                      <p:cBhvr>
                                        <p:cTn id="42" dur="26">
                                          <p:stCondLst>
                                            <p:cond delay="1642"/>
                                          </p:stCondLst>
                                        </p:cTn>
                                        <p:tgtEl>
                                          <p:spTgt spid="20"/>
                                        </p:tgtEl>
                                      </p:cBhvr>
                                      <p:to x="100000" y="90000"/>
                                    </p:animScale>
                                    <p:animScale>
                                      <p:cBhvr>
                                        <p:cTn id="43" dur="166" decel="50000">
                                          <p:stCondLst>
                                            <p:cond delay="1668"/>
                                          </p:stCondLst>
                                        </p:cTn>
                                        <p:tgtEl>
                                          <p:spTgt spid="20"/>
                                        </p:tgtEl>
                                      </p:cBhvr>
                                      <p:to x="100000" y="100000"/>
                                    </p:animScale>
                                    <p:animScale>
                                      <p:cBhvr>
                                        <p:cTn id="44" dur="26">
                                          <p:stCondLst>
                                            <p:cond delay="1808"/>
                                          </p:stCondLst>
                                        </p:cTn>
                                        <p:tgtEl>
                                          <p:spTgt spid="20"/>
                                        </p:tgtEl>
                                      </p:cBhvr>
                                      <p:to x="100000" y="95000"/>
                                    </p:animScale>
                                    <p:animScale>
                                      <p:cBhvr>
                                        <p:cTn id="45" dur="166" decel="50000">
                                          <p:stCondLst>
                                            <p:cond delay="1834"/>
                                          </p:stCondLst>
                                        </p:cTn>
                                        <p:tgtEl>
                                          <p:spTgt spid="2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06A88-0DEA-4BA9-70AC-5C7D356EB856}"/>
            </a:ext>
          </a:extLst>
        </p:cNvPr>
        <p:cNvGrpSpPr/>
        <p:nvPr/>
      </p:nvGrpSpPr>
      <p:grpSpPr>
        <a:xfrm>
          <a:off x="0" y="0"/>
          <a:ext cx="0" cy="0"/>
          <a:chOff x="0" y="0"/>
          <a:chExt cx="0" cy="0"/>
        </a:xfrm>
      </p:grpSpPr>
      <p:pic>
        <p:nvPicPr>
          <p:cNvPr id="16386" name="Picture 2" descr="Coronavirus response efforts ramp up as first US death confirmed ...">
            <a:extLst>
              <a:ext uri="{FF2B5EF4-FFF2-40B4-BE49-F238E27FC236}">
                <a16:creationId xmlns:a16="http://schemas.microsoft.com/office/drawing/2014/main" id="{C641DCAA-B19F-D8AD-E371-59562906C3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98438"/>
            <a:ext cx="9144000" cy="6459537"/>
          </a:xfrm>
          <a:prstGeom prst="rect">
            <a:avLst/>
          </a:prstGeom>
          <a:noFill/>
          <a:extLst>
            <a:ext uri="{909E8E84-426E-40DD-AFC4-6F175D3DCCD1}">
              <a14:hiddenFill xmlns:a14="http://schemas.microsoft.com/office/drawing/2010/main">
                <a:solidFill>
                  <a:srgbClr val="FFFFFF"/>
                </a:solidFill>
              </a14:hiddenFill>
            </a:ext>
          </a:extLst>
        </p:spPr>
      </p:pic>
      <p:sp>
        <p:nvSpPr>
          <p:cNvPr id="2" name="Arrow: Right 1">
            <a:extLst>
              <a:ext uri="{FF2B5EF4-FFF2-40B4-BE49-F238E27FC236}">
                <a16:creationId xmlns:a16="http://schemas.microsoft.com/office/drawing/2014/main" id="{D64824FD-6CB2-FE3B-CE09-3919D439A152}"/>
              </a:ext>
            </a:extLst>
          </p:cNvPr>
          <p:cNvSpPr/>
          <p:nvPr/>
        </p:nvSpPr>
        <p:spPr>
          <a:xfrm rot="20156985">
            <a:off x="4649418" y="3196322"/>
            <a:ext cx="2889354" cy="13693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8B03D5C-9909-58A2-2E7E-B9131D860702}"/>
              </a:ext>
            </a:extLst>
          </p:cNvPr>
          <p:cNvSpPr txBox="1"/>
          <p:nvPr/>
        </p:nvSpPr>
        <p:spPr>
          <a:xfrm rot="20138353">
            <a:off x="5004887" y="3625000"/>
            <a:ext cx="1828800" cy="646331"/>
          </a:xfrm>
          <a:prstGeom prst="rect">
            <a:avLst/>
          </a:prstGeom>
          <a:noFill/>
        </p:spPr>
        <p:txBody>
          <a:bodyPr wrap="square" rtlCol="0">
            <a:spAutoFit/>
          </a:bodyPr>
          <a:lstStyle/>
          <a:p>
            <a:pPr algn="ctr"/>
            <a:r>
              <a:rPr lang="en-US" dirty="0"/>
              <a:t>CDC Director, Robert Redfield</a:t>
            </a:r>
          </a:p>
        </p:txBody>
      </p:sp>
    </p:spTree>
    <p:extLst>
      <p:ext uri="{BB962C8B-B14F-4D97-AF65-F5344CB8AC3E}">
        <p14:creationId xmlns:p14="http://schemas.microsoft.com/office/powerpoint/2010/main" val="850615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534400" cy="758952"/>
          </a:xfrm>
        </p:spPr>
        <p:txBody>
          <a:bodyPr>
            <a:normAutofit/>
          </a:bodyPr>
          <a:lstStyle/>
          <a:p>
            <a:r>
              <a:rPr lang="en-US" dirty="0"/>
              <a:t>An Introduction</a:t>
            </a:r>
          </a:p>
        </p:txBody>
      </p:sp>
      <p:sp>
        <p:nvSpPr>
          <p:cNvPr id="3" name="Content Placeholder 2"/>
          <p:cNvSpPr>
            <a:spLocks noGrp="1"/>
          </p:cNvSpPr>
          <p:nvPr>
            <p:ph sz="quarter" idx="1"/>
          </p:nvPr>
        </p:nvSpPr>
        <p:spPr>
          <a:xfrm>
            <a:off x="304800" y="1371600"/>
            <a:ext cx="8610600" cy="4876800"/>
          </a:xfrm>
        </p:spPr>
        <p:txBody>
          <a:bodyPr>
            <a:noAutofit/>
          </a:bodyPr>
          <a:lstStyle/>
          <a:p>
            <a:r>
              <a:rPr lang="en-US" sz="2400" b="1" dirty="0"/>
              <a:t>Setting: </a:t>
            </a:r>
            <a:r>
              <a:rPr lang="en-US" sz="2400" dirty="0"/>
              <a:t>COVID-19 as a coarse shock/crisis in the United States; covers all individuals at the same time with a magnitude that does not to go unnoticed by anyone; it is “clear” that something “needs to be done”, but what: individual choices vs. societal choices? </a:t>
            </a:r>
          </a:p>
          <a:p>
            <a:endParaRPr lang="en-US" sz="800" dirty="0"/>
          </a:p>
          <a:p>
            <a:r>
              <a:rPr lang="en-US" sz="2400" b="1" dirty="0"/>
              <a:t>Information misalignment and multiple sources: </a:t>
            </a:r>
            <a:r>
              <a:rPr lang="en-US" sz="2400" dirty="0"/>
              <a:t>Conflicting messages from President Trump and the CDC, often pronounced from the same platforms on the same day. </a:t>
            </a:r>
          </a:p>
          <a:p>
            <a:endParaRPr lang="en-US" sz="800" b="1" i="1" dirty="0"/>
          </a:p>
          <a:p>
            <a:r>
              <a:rPr lang="en-US" sz="2400" b="1" dirty="0"/>
              <a:t>Research Questions: </a:t>
            </a:r>
          </a:p>
          <a:p>
            <a:pPr lvl="1"/>
            <a:r>
              <a:rPr lang="en-US" sz="2000" dirty="0">
                <a:solidFill>
                  <a:srgbClr val="002060"/>
                </a:solidFill>
              </a:rPr>
              <a:t>Does information (mis-)alignment matter for WTP for Public Health?</a:t>
            </a:r>
          </a:p>
          <a:p>
            <a:pPr lvl="1"/>
            <a:r>
              <a:rPr lang="en-US" sz="2000" dirty="0">
                <a:solidFill>
                  <a:srgbClr val="002060"/>
                </a:solidFill>
              </a:rPr>
              <a:t>Does mission (mis-)alignment—mission salience and mission valence, and trust in source mediate the link  for WTP for Public Health?</a:t>
            </a:r>
          </a:p>
          <a:p>
            <a:pPr marL="0" indent="0">
              <a:buNone/>
            </a:pPr>
            <a:endParaRPr lang="en-US" sz="2400" b="1" i="1" dirty="0"/>
          </a:p>
          <a:p>
            <a:pPr marL="0" indent="0">
              <a:buNone/>
            </a:pPr>
            <a:endParaRPr lang="en-US" sz="2400" i="1" dirty="0"/>
          </a:p>
        </p:txBody>
      </p:sp>
    </p:spTree>
    <p:extLst>
      <p:ext uri="{BB962C8B-B14F-4D97-AF65-F5344CB8AC3E}">
        <p14:creationId xmlns:p14="http://schemas.microsoft.com/office/powerpoint/2010/main" val="1959068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FB863-876B-802D-1A50-312523259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86143-A52E-587F-E405-349BEEE7F10C}"/>
              </a:ext>
            </a:extLst>
          </p:cNvPr>
          <p:cNvSpPr>
            <a:spLocks noGrp="1"/>
          </p:cNvSpPr>
          <p:nvPr>
            <p:ph type="title"/>
          </p:nvPr>
        </p:nvSpPr>
        <p:spPr>
          <a:xfrm>
            <a:off x="286512" y="417576"/>
            <a:ext cx="8534400" cy="682752"/>
          </a:xfrm>
        </p:spPr>
        <p:txBody>
          <a:bodyPr>
            <a:normAutofit/>
          </a:bodyPr>
          <a:lstStyle/>
          <a:p>
            <a:r>
              <a:rPr lang="en-US" dirty="0"/>
              <a:t>Literature on WTP</a:t>
            </a:r>
          </a:p>
        </p:txBody>
      </p:sp>
      <p:sp>
        <p:nvSpPr>
          <p:cNvPr id="3" name="Content Placeholder 2">
            <a:extLst>
              <a:ext uri="{FF2B5EF4-FFF2-40B4-BE49-F238E27FC236}">
                <a16:creationId xmlns:a16="http://schemas.microsoft.com/office/drawing/2014/main" id="{DF893336-88B9-4843-B5FD-BD8403EDD22C}"/>
              </a:ext>
            </a:extLst>
          </p:cNvPr>
          <p:cNvSpPr>
            <a:spLocks noGrp="1"/>
          </p:cNvSpPr>
          <p:nvPr>
            <p:ph sz="quarter" idx="1"/>
          </p:nvPr>
        </p:nvSpPr>
        <p:spPr>
          <a:xfrm>
            <a:off x="301752" y="1600200"/>
            <a:ext cx="8534400" cy="4498848"/>
          </a:xfrm>
        </p:spPr>
        <p:txBody>
          <a:bodyPr>
            <a:noAutofit/>
          </a:bodyPr>
          <a:lstStyle/>
          <a:p>
            <a:r>
              <a:rPr lang="en-US" sz="2600" b="1" dirty="0"/>
              <a:t>Informational treatments</a:t>
            </a:r>
            <a:r>
              <a:rPr lang="en-US" sz="2600" dirty="0"/>
              <a:t> are also significant for individual WTP taxes (Brunner et al 2024), bond referenda and project benefit details (</a:t>
            </a:r>
            <a:r>
              <a:rPr lang="en-US" sz="2600" dirty="0" err="1"/>
              <a:t>Ivonchyk</a:t>
            </a:r>
            <a:r>
              <a:rPr lang="en-US" sz="2600" dirty="0"/>
              <a:t> 2024)</a:t>
            </a:r>
          </a:p>
          <a:p>
            <a:r>
              <a:rPr lang="en-US" sz="2600" b="1" dirty="0"/>
              <a:t>Information alignmen</a:t>
            </a:r>
            <a:r>
              <a:rPr lang="en-US" sz="2600" dirty="0"/>
              <a:t>t helps; but does </a:t>
            </a:r>
            <a:r>
              <a:rPr lang="en-US" sz="2600" b="1" dirty="0"/>
              <a:t>mis-alignment</a:t>
            </a:r>
            <a:r>
              <a:rPr lang="en-US" sz="2600" dirty="0"/>
              <a:t> affect WTP for public health (given that what to do is uncertain with COVID-19). </a:t>
            </a:r>
          </a:p>
          <a:p>
            <a:pPr lvl="1"/>
            <a:r>
              <a:rPr lang="en-US" sz="2100" dirty="0"/>
              <a:t>Trust in the source of information is critical: an assessment of the “trustee’s” integrity, competence, and beneficence. </a:t>
            </a:r>
          </a:p>
          <a:p>
            <a:pPr lvl="1"/>
            <a:r>
              <a:rPr lang="en-US" sz="2100" dirty="0"/>
              <a:t>But, in a highly polarized political environment, it is likely that trust or “encapsulated interest” is correlated with partisan identification– became very visible with COVID-19.</a:t>
            </a:r>
          </a:p>
          <a:p>
            <a:endParaRPr lang="en-US" sz="2600" dirty="0"/>
          </a:p>
          <a:p>
            <a:endParaRPr lang="en-US" sz="800" dirty="0"/>
          </a:p>
          <a:p>
            <a:pPr marL="0" indent="0">
              <a:buNone/>
            </a:pPr>
            <a:endParaRPr lang="en-US" sz="800" dirty="0"/>
          </a:p>
        </p:txBody>
      </p:sp>
    </p:spTree>
    <p:extLst>
      <p:ext uri="{BB962C8B-B14F-4D97-AF65-F5344CB8AC3E}">
        <p14:creationId xmlns:p14="http://schemas.microsoft.com/office/powerpoint/2010/main" val="75796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85A70-598D-C627-1A37-81A81CCC0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70B2E-3C04-F1F1-2038-8A289422BE40}"/>
              </a:ext>
            </a:extLst>
          </p:cNvPr>
          <p:cNvSpPr>
            <a:spLocks noGrp="1"/>
          </p:cNvSpPr>
          <p:nvPr>
            <p:ph type="title"/>
          </p:nvPr>
        </p:nvSpPr>
        <p:spPr>
          <a:xfrm>
            <a:off x="286512" y="417576"/>
            <a:ext cx="8534400" cy="682752"/>
          </a:xfrm>
        </p:spPr>
        <p:txBody>
          <a:bodyPr>
            <a:normAutofit/>
          </a:bodyPr>
          <a:lstStyle/>
          <a:p>
            <a:r>
              <a:rPr lang="en-US" dirty="0"/>
              <a:t>Literature on WTP</a:t>
            </a:r>
          </a:p>
        </p:txBody>
      </p:sp>
      <p:sp>
        <p:nvSpPr>
          <p:cNvPr id="3" name="Content Placeholder 2">
            <a:extLst>
              <a:ext uri="{FF2B5EF4-FFF2-40B4-BE49-F238E27FC236}">
                <a16:creationId xmlns:a16="http://schemas.microsoft.com/office/drawing/2014/main" id="{CD8B6683-3A64-A364-15C8-79F59B4689AE}"/>
              </a:ext>
            </a:extLst>
          </p:cNvPr>
          <p:cNvSpPr>
            <a:spLocks noGrp="1"/>
          </p:cNvSpPr>
          <p:nvPr>
            <p:ph sz="quarter" idx="1"/>
          </p:nvPr>
        </p:nvSpPr>
        <p:spPr>
          <a:xfrm>
            <a:off x="301752" y="1600200"/>
            <a:ext cx="8534400" cy="4498848"/>
          </a:xfrm>
        </p:spPr>
        <p:txBody>
          <a:bodyPr>
            <a:normAutofit lnSpcReduction="10000"/>
          </a:bodyPr>
          <a:lstStyle/>
          <a:p>
            <a:r>
              <a:rPr lang="en-US" dirty="0"/>
              <a:t>Other prior literature</a:t>
            </a:r>
          </a:p>
          <a:p>
            <a:pPr lvl="1"/>
            <a:r>
              <a:rPr lang="en-US" dirty="0"/>
              <a:t>Just because there is a “big” crisis, individuals are not necessarily willing to support more public spending, pay more taxes, or prioritize the problem area over others.   </a:t>
            </a:r>
          </a:p>
          <a:p>
            <a:pPr lvl="1"/>
            <a:r>
              <a:rPr lang="en-US" dirty="0"/>
              <a:t>Mission Alignment: Salience and Valence are positively related to organizational support (including monetary support). </a:t>
            </a:r>
          </a:p>
          <a:p>
            <a:pPr lvl="1"/>
            <a:r>
              <a:rPr lang="en-US" dirty="0"/>
              <a:t>“Salience” games through symbolic and substantive activities to secure external resources.</a:t>
            </a:r>
          </a:p>
          <a:p>
            <a:pPr lvl="1"/>
            <a:r>
              <a:rPr lang="en-US" dirty="0"/>
              <a:t>Salience and Valence and Emotional/psychological factors of crises.</a:t>
            </a:r>
          </a:p>
          <a:p>
            <a:pPr lvl="1"/>
            <a:r>
              <a:rPr lang="en-US" dirty="0"/>
              <a:t>Does information treatment interact with mission salience and valence, trust in source</a:t>
            </a:r>
          </a:p>
        </p:txBody>
      </p:sp>
    </p:spTree>
    <p:extLst>
      <p:ext uri="{BB962C8B-B14F-4D97-AF65-F5344CB8AC3E}">
        <p14:creationId xmlns:p14="http://schemas.microsoft.com/office/powerpoint/2010/main" val="2780630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6C5F6-55B7-E78C-0408-966D7D0B7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F9016-1C21-2951-436F-958757F24F6D}"/>
              </a:ext>
            </a:extLst>
          </p:cNvPr>
          <p:cNvSpPr>
            <a:spLocks noGrp="1"/>
          </p:cNvSpPr>
          <p:nvPr>
            <p:ph type="title"/>
          </p:nvPr>
        </p:nvSpPr>
        <p:spPr>
          <a:xfrm>
            <a:off x="286512" y="417576"/>
            <a:ext cx="8534400" cy="682752"/>
          </a:xfrm>
        </p:spPr>
        <p:txBody>
          <a:bodyPr>
            <a:normAutofit/>
          </a:bodyPr>
          <a:lstStyle/>
          <a:p>
            <a:r>
              <a:rPr lang="en-US" dirty="0"/>
              <a:t>Survey Experiment: Information Treatment</a:t>
            </a:r>
          </a:p>
        </p:txBody>
      </p:sp>
      <p:sp>
        <p:nvSpPr>
          <p:cNvPr id="3" name="Content Placeholder 2">
            <a:extLst>
              <a:ext uri="{FF2B5EF4-FFF2-40B4-BE49-F238E27FC236}">
                <a16:creationId xmlns:a16="http://schemas.microsoft.com/office/drawing/2014/main" id="{41512289-476A-B8DF-914A-E940249D1A39}"/>
              </a:ext>
            </a:extLst>
          </p:cNvPr>
          <p:cNvSpPr>
            <a:spLocks noGrp="1"/>
          </p:cNvSpPr>
          <p:nvPr>
            <p:ph sz="quarter" idx="1"/>
          </p:nvPr>
        </p:nvSpPr>
        <p:spPr>
          <a:xfrm>
            <a:off x="301752" y="1447800"/>
            <a:ext cx="8534400" cy="4651248"/>
          </a:xfrm>
        </p:spPr>
        <p:txBody>
          <a:bodyPr>
            <a:normAutofit/>
          </a:bodyPr>
          <a:lstStyle/>
          <a:p>
            <a:pPr marL="0" indent="0">
              <a:buNone/>
            </a:pPr>
            <a:endParaRPr lang="en-US" dirty="0"/>
          </a:p>
          <a:p>
            <a:r>
              <a:rPr lang="en-US" dirty="0"/>
              <a:t>EVERYONE gets general information about COVID-19 and Trump’s statements</a:t>
            </a:r>
          </a:p>
          <a:p>
            <a:endParaRPr lang="en-US" dirty="0"/>
          </a:p>
          <a:p>
            <a:r>
              <a:rPr lang="en-US" dirty="0"/>
              <a:t>TREATMENT Group: gets 3 examples of CDC statements that are </a:t>
            </a:r>
            <a:r>
              <a:rPr lang="en-US" u="sng" dirty="0"/>
              <a:t>divergent</a:t>
            </a:r>
            <a:r>
              <a:rPr lang="en-US" dirty="0"/>
              <a:t> from Trump’s statements </a:t>
            </a:r>
          </a:p>
          <a:p>
            <a:pPr lvl="1"/>
            <a:r>
              <a:rPr lang="en-US" dirty="0"/>
              <a:t>Case fatality rates (CFR)</a:t>
            </a:r>
          </a:p>
          <a:p>
            <a:pPr lvl="1"/>
            <a:r>
              <a:rPr lang="en-US" dirty="0"/>
              <a:t>Vaccine timeline</a:t>
            </a:r>
          </a:p>
          <a:p>
            <a:pPr lvl="1"/>
            <a:r>
              <a:rPr lang="en-US" dirty="0"/>
              <a:t>Mask importance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7877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512" y="417576"/>
            <a:ext cx="8534400" cy="682752"/>
          </a:xfrm>
        </p:spPr>
        <p:txBody>
          <a:bodyPr>
            <a:normAutofit/>
          </a:bodyPr>
          <a:lstStyle/>
          <a:p>
            <a:r>
              <a:rPr lang="en-US" dirty="0"/>
              <a:t>Treatment: Case Fatality Rates </a:t>
            </a:r>
          </a:p>
        </p:txBody>
      </p:sp>
      <p:sp>
        <p:nvSpPr>
          <p:cNvPr id="3" name="Content Placeholder 2"/>
          <p:cNvSpPr>
            <a:spLocks noGrp="1"/>
          </p:cNvSpPr>
          <p:nvPr>
            <p:ph sz="quarter" idx="1"/>
          </p:nvPr>
        </p:nvSpPr>
        <p:spPr>
          <a:xfrm>
            <a:off x="152400" y="1714500"/>
            <a:ext cx="8839200" cy="3429000"/>
          </a:xfrm>
        </p:spPr>
        <p:txBody>
          <a:bodyPr>
            <a:normAutofit/>
          </a:bodyPr>
          <a:lstStyle/>
          <a:p>
            <a:r>
              <a:rPr lang="en-US" sz="2800" dirty="0"/>
              <a:t>Trump’s position on CFR:</a:t>
            </a:r>
          </a:p>
          <a:p>
            <a:endParaRPr lang="en-US" sz="2800" dirty="0"/>
          </a:p>
          <a:p>
            <a:endParaRPr lang="en-US" sz="2800" dirty="0"/>
          </a:p>
          <a:p>
            <a:endParaRPr lang="en-US" sz="2800" dirty="0"/>
          </a:p>
          <a:p>
            <a:r>
              <a:rPr lang="en-US" sz="2800" dirty="0"/>
              <a:t>CDC’s position on CFR:</a:t>
            </a:r>
          </a:p>
          <a:p>
            <a:endParaRPr lang="en-US" sz="2800" dirty="0"/>
          </a:p>
        </p:txBody>
      </p:sp>
      <p:pic>
        <p:nvPicPr>
          <p:cNvPr id="5" name="Picture 4" descr="A screenshot of a cell phone&#10;&#10;Description automatically generated">
            <a:extLst>
              <a:ext uri="{FF2B5EF4-FFF2-40B4-BE49-F238E27FC236}">
                <a16:creationId xmlns:a16="http://schemas.microsoft.com/office/drawing/2014/main" id="{0F6B47AB-4067-429C-A575-BBB772E5D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172" y="2209800"/>
            <a:ext cx="7439079" cy="1533536"/>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0FD90082-C30B-4B3D-961F-397599A92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4345543"/>
            <a:ext cx="7511251" cy="1595914"/>
          </a:xfrm>
          <a:prstGeom prst="rect">
            <a:avLst/>
          </a:prstGeom>
        </p:spPr>
      </p:pic>
      <p:sp>
        <p:nvSpPr>
          <p:cNvPr id="8" name="Oval 7">
            <a:extLst>
              <a:ext uri="{FF2B5EF4-FFF2-40B4-BE49-F238E27FC236}">
                <a16:creationId xmlns:a16="http://schemas.microsoft.com/office/drawing/2014/main" id="{F4F75A67-A571-4758-A945-11219741FB05}"/>
              </a:ext>
            </a:extLst>
          </p:cNvPr>
          <p:cNvSpPr/>
          <p:nvPr/>
        </p:nvSpPr>
        <p:spPr>
          <a:xfrm>
            <a:off x="3733800" y="2362200"/>
            <a:ext cx="1981200" cy="553241"/>
          </a:xfrm>
          <a:prstGeom prst="ellipse">
            <a:avLst/>
          </a:prstGeom>
          <a:solidFill>
            <a:srgbClr val="E71224">
              <a:alpha val="5000"/>
            </a:srgb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9" name="Oval 8">
            <a:extLst>
              <a:ext uri="{FF2B5EF4-FFF2-40B4-BE49-F238E27FC236}">
                <a16:creationId xmlns:a16="http://schemas.microsoft.com/office/drawing/2014/main" id="{CF0C5D1A-070A-45B8-AE08-682F740A4E37}"/>
              </a:ext>
            </a:extLst>
          </p:cNvPr>
          <p:cNvSpPr/>
          <p:nvPr/>
        </p:nvSpPr>
        <p:spPr>
          <a:xfrm>
            <a:off x="990600" y="4891362"/>
            <a:ext cx="1981200" cy="553241"/>
          </a:xfrm>
          <a:prstGeom prst="ellipse">
            <a:avLst/>
          </a:prstGeom>
          <a:solidFill>
            <a:srgbClr val="E71224">
              <a:alpha val="5000"/>
            </a:srgb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Tree>
    <p:extLst>
      <p:ext uri="{BB962C8B-B14F-4D97-AF65-F5344CB8AC3E}">
        <p14:creationId xmlns:p14="http://schemas.microsoft.com/office/powerpoint/2010/main" val="241607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512" y="417576"/>
            <a:ext cx="8534400" cy="682752"/>
          </a:xfrm>
        </p:spPr>
        <p:txBody>
          <a:bodyPr>
            <a:normAutofit/>
          </a:bodyPr>
          <a:lstStyle/>
          <a:p>
            <a:r>
              <a:rPr lang="en-US" dirty="0"/>
              <a:t>Treatment: Vaccine development</a:t>
            </a:r>
          </a:p>
        </p:txBody>
      </p:sp>
      <p:sp>
        <p:nvSpPr>
          <p:cNvPr id="3" name="Content Placeholder 2"/>
          <p:cNvSpPr>
            <a:spLocks noGrp="1"/>
          </p:cNvSpPr>
          <p:nvPr>
            <p:ph sz="quarter" idx="1"/>
          </p:nvPr>
        </p:nvSpPr>
        <p:spPr>
          <a:xfrm>
            <a:off x="152400" y="1714500"/>
            <a:ext cx="8839200" cy="3429000"/>
          </a:xfrm>
        </p:spPr>
        <p:txBody>
          <a:bodyPr>
            <a:normAutofit/>
          </a:bodyPr>
          <a:lstStyle/>
          <a:p>
            <a:r>
              <a:rPr lang="en-US" sz="2800" dirty="0"/>
              <a:t>Trump’s position on when a vaccine may be ready:</a:t>
            </a:r>
          </a:p>
          <a:p>
            <a:endParaRPr lang="en-US" sz="2800" dirty="0"/>
          </a:p>
          <a:p>
            <a:endParaRPr lang="en-US" sz="2800" dirty="0"/>
          </a:p>
          <a:p>
            <a:endParaRPr lang="en-US" sz="2800" dirty="0"/>
          </a:p>
          <a:p>
            <a:r>
              <a:rPr lang="en-US" sz="2800" dirty="0"/>
              <a:t>CDC’s position on when a vaccine may be ready:</a:t>
            </a:r>
          </a:p>
          <a:p>
            <a:endParaRPr lang="en-US" sz="2800" dirty="0"/>
          </a:p>
        </p:txBody>
      </p:sp>
      <p:pic>
        <p:nvPicPr>
          <p:cNvPr id="6" name="Picture 5" descr="A screenshot of a cell phone&#10;&#10;Description automatically generated">
            <a:extLst>
              <a:ext uri="{FF2B5EF4-FFF2-40B4-BE49-F238E27FC236}">
                <a16:creationId xmlns:a16="http://schemas.microsoft.com/office/drawing/2014/main" id="{86B00BDE-DFAB-4D06-8BB4-6BF3FA800B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347" y="2224798"/>
            <a:ext cx="6772325" cy="1495436"/>
          </a:xfrm>
          <a:prstGeom prst="rect">
            <a:avLst/>
          </a:prstGeom>
        </p:spPr>
      </p:pic>
      <p:sp>
        <p:nvSpPr>
          <p:cNvPr id="8" name="Oval 7">
            <a:extLst>
              <a:ext uri="{FF2B5EF4-FFF2-40B4-BE49-F238E27FC236}">
                <a16:creationId xmlns:a16="http://schemas.microsoft.com/office/drawing/2014/main" id="{F4F75A67-A571-4758-A945-11219741FB05}"/>
              </a:ext>
            </a:extLst>
          </p:cNvPr>
          <p:cNvSpPr/>
          <p:nvPr/>
        </p:nvSpPr>
        <p:spPr>
          <a:xfrm>
            <a:off x="5715000" y="2476780"/>
            <a:ext cx="1981200" cy="553241"/>
          </a:xfrm>
          <a:prstGeom prst="ellipse">
            <a:avLst/>
          </a:prstGeom>
          <a:solidFill>
            <a:srgbClr val="E71224">
              <a:alpha val="5000"/>
            </a:srgb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pic>
        <p:nvPicPr>
          <p:cNvPr id="11" name="Picture 10" descr="A screenshot of a cell phone&#10;&#10;Description automatically generated">
            <a:extLst>
              <a:ext uri="{FF2B5EF4-FFF2-40B4-BE49-F238E27FC236}">
                <a16:creationId xmlns:a16="http://schemas.microsoft.com/office/drawing/2014/main" id="{C23FBCCD-C4B7-462D-86AB-34D31D8407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601" y="4350172"/>
            <a:ext cx="8158222" cy="1504961"/>
          </a:xfrm>
          <a:prstGeom prst="rect">
            <a:avLst/>
          </a:prstGeom>
        </p:spPr>
      </p:pic>
      <p:sp>
        <p:nvSpPr>
          <p:cNvPr id="9" name="Oval 8">
            <a:extLst>
              <a:ext uri="{FF2B5EF4-FFF2-40B4-BE49-F238E27FC236}">
                <a16:creationId xmlns:a16="http://schemas.microsoft.com/office/drawing/2014/main" id="{CF0C5D1A-070A-45B8-AE08-682F740A4E37}"/>
              </a:ext>
            </a:extLst>
          </p:cNvPr>
          <p:cNvSpPr/>
          <p:nvPr/>
        </p:nvSpPr>
        <p:spPr>
          <a:xfrm>
            <a:off x="6400800" y="4549411"/>
            <a:ext cx="1981200" cy="553241"/>
          </a:xfrm>
          <a:prstGeom prst="ellipse">
            <a:avLst/>
          </a:prstGeom>
          <a:solidFill>
            <a:srgbClr val="E71224">
              <a:alpha val="5000"/>
            </a:srgb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Tree>
    <p:extLst>
      <p:ext uri="{BB962C8B-B14F-4D97-AF65-F5344CB8AC3E}">
        <p14:creationId xmlns:p14="http://schemas.microsoft.com/office/powerpoint/2010/main" val="3638304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512" y="417576"/>
            <a:ext cx="8705088" cy="682752"/>
          </a:xfrm>
        </p:spPr>
        <p:txBody>
          <a:bodyPr>
            <a:normAutofit/>
          </a:bodyPr>
          <a:lstStyle/>
          <a:p>
            <a:r>
              <a:rPr lang="en-US" dirty="0"/>
              <a:t>Treatment: Importance of Mask Wearing</a:t>
            </a:r>
          </a:p>
        </p:txBody>
      </p:sp>
      <p:sp>
        <p:nvSpPr>
          <p:cNvPr id="3" name="Content Placeholder 2"/>
          <p:cNvSpPr>
            <a:spLocks noGrp="1"/>
          </p:cNvSpPr>
          <p:nvPr>
            <p:ph sz="quarter" idx="1"/>
          </p:nvPr>
        </p:nvSpPr>
        <p:spPr>
          <a:xfrm>
            <a:off x="152400" y="1714500"/>
            <a:ext cx="8839200" cy="3429000"/>
          </a:xfrm>
        </p:spPr>
        <p:txBody>
          <a:bodyPr>
            <a:normAutofit/>
          </a:bodyPr>
          <a:lstStyle/>
          <a:p>
            <a:r>
              <a:rPr lang="en-US" sz="2800" dirty="0"/>
              <a:t>Trump’s position on the importance of masks:</a:t>
            </a:r>
          </a:p>
          <a:p>
            <a:endParaRPr lang="en-US" sz="2800" dirty="0"/>
          </a:p>
          <a:p>
            <a:endParaRPr lang="en-US" sz="2800" dirty="0"/>
          </a:p>
          <a:p>
            <a:endParaRPr lang="en-US" sz="2800" dirty="0"/>
          </a:p>
          <a:p>
            <a:r>
              <a:rPr lang="en-US" sz="2800" dirty="0"/>
              <a:t>CDC’s position on the importance of masks:</a:t>
            </a:r>
          </a:p>
          <a:p>
            <a:endParaRPr lang="en-US" sz="2800" dirty="0"/>
          </a:p>
        </p:txBody>
      </p:sp>
      <p:pic>
        <p:nvPicPr>
          <p:cNvPr id="6" name="Picture 5" descr="A screenshot of a cell phone&#10;&#10;Description automatically generated">
            <a:extLst>
              <a:ext uri="{FF2B5EF4-FFF2-40B4-BE49-F238E27FC236}">
                <a16:creationId xmlns:a16="http://schemas.microsoft.com/office/drawing/2014/main" id="{572B7E09-135A-4A1A-A8F5-B6C8291A4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266903"/>
            <a:ext cx="7577193" cy="1390697"/>
          </a:xfrm>
          <a:prstGeom prst="rect">
            <a:avLst/>
          </a:prstGeom>
        </p:spPr>
      </p:pic>
      <p:sp>
        <p:nvSpPr>
          <p:cNvPr id="8" name="Oval 7">
            <a:extLst>
              <a:ext uri="{FF2B5EF4-FFF2-40B4-BE49-F238E27FC236}">
                <a16:creationId xmlns:a16="http://schemas.microsoft.com/office/drawing/2014/main" id="{F4F75A67-A571-4758-A945-11219741FB05}"/>
              </a:ext>
            </a:extLst>
          </p:cNvPr>
          <p:cNvSpPr/>
          <p:nvPr/>
        </p:nvSpPr>
        <p:spPr>
          <a:xfrm>
            <a:off x="4267200" y="2286000"/>
            <a:ext cx="1981200" cy="553241"/>
          </a:xfrm>
          <a:prstGeom prst="ellipse">
            <a:avLst/>
          </a:prstGeom>
          <a:solidFill>
            <a:srgbClr val="E71224">
              <a:alpha val="5000"/>
            </a:srgb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dirty="0">
              <a:solidFill>
                <a:srgbClr val="E71224"/>
              </a:solidFill>
            </a:endParaRPr>
          </a:p>
        </p:txBody>
      </p:sp>
      <p:pic>
        <p:nvPicPr>
          <p:cNvPr id="11" name="Picture 10" descr="A screenshot of a cell phone&#10;&#10;Description automatically generated">
            <a:extLst>
              <a:ext uri="{FF2B5EF4-FFF2-40B4-BE49-F238E27FC236}">
                <a16:creationId xmlns:a16="http://schemas.microsoft.com/office/drawing/2014/main" id="{59E4F237-F66B-468F-969B-C196A5060F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4367130"/>
            <a:ext cx="7577192" cy="1576470"/>
          </a:xfrm>
          <a:prstGeom prst="rect">
            <a:avLst/>
          </a:prstGeom>
        </p:spPr>
      </p:pic>
      <p:sp>
        <p:nvSpPr>
          <p:cNvPr id="9" name="Oval 8">
            <a:extLst>
              <a:ext uri="{FF2B5EF4-FFF2-40B4-BE49-F238E27FC236}">
                <a16:creationId xmlns:a16="http://schemas.microsoft.com/office/drawing/2014/main" id="{CF0C5D1A-070A-45B8-AE08-682F740A4E37}"/>
              </a:ext>
            </a:extLst>
          </p:cNvPr>
          <p:cNvSpPr/>
          <p:nvPr/>
        </p:nvSpPr>
        <p:spPr>
          <a:xfrm>
            <a:off x="5791200" y="4495800"/>
            <a:ext cx="1981200" cy="553241"/>
          </a:xfrm>
          <a:prstGeom prst="ellipse">
            <a:avLst/>
          </a:prstGeom>
          <a:solidFill>
            <a:srgbClr val="E71224">
              <a:alpha val="5000"/>
            </a:srgb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Tree>
    <p:extLst>
      <p:ext uri="{BB962C8B-B14F-4D97-AF65-F5344CB8AC3E}">
        <p14:creationId xmlns:p14="http://schemas.microsoft.com/office/powerpoint/2010/main" val="53514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89A5-8500-58A0-70EE-6F2433384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63AE9-9A3E-B2EF-8B29-2E748FCC240A}"/>
              </a:ext>
            </a:extLst>
          </p:cNvPr>
          <p:cNvSpPr>
            <a:spLocks noGrp="1"/>
          </p:cNvSpPr>
          <p:nvPr>
            <p:ph type="title"/>
          </p:nvPr>
        </p:nvSpPr>
        <p:spPr>
          <a:xfrm>
            <a:off x="286512" y="417576"/>
            <a:ext cx="8534400" cy="682752"/>
          </a:xfrm>
        </p:spPr>
        <p:txBody>
          <a:bodyPr>
            <a:normAutofit/>
          </a:bodyPr>
          <a:lstStyle/>
          <a:p>
            <a:r>
              <a:rPr lang="en-US" dirty="0"/>
              <a:t>Survey Experiment: Data Collection</a:t>
            </a:r>
          </a:p>
        </p:txBody>
      </p:sp>
      <p:sp>
        <p:nvSpPr>
          <p:cNvPr id="3" name="Content Placeholder 2">
            <a:extLst>
              <a:ext uri="{FF2B5EF4-FFF2-40B4-BE49-F238E27FC236}">
                <a16:creationId xmlns:a16="http://schemas.microsoft.com/office/drawing/2014/main" id="{511D0A7D-9BE9-0FB2-681E-C4FE9D539A4A}"/>
              </a:ext>
            </a:extLst>
          </p:cNvPr>
          <p:cNvSpPr>
            <a:spLocks noGrp="1"/>
          </p:cNvSpPr>
          <p:nvPr>
            <p:ph sz="quarter" idx="1"/>
          </p:nvPr>
        </p:nvSpPr>
        <p:spPr>
          <a:xfrm>
            <a:off x="301752" y="1447800"/>
            <a:ext cx="8534400" cy="4992624"/>
          </a:xfrm>
        </p:spPr>
        <p:txBody>
          <a:bodyPr>
            <a:normAutofit lnSpcReduction="10000"/>
          </a:bodyPr>
          <a:lstStyle/>
          <a:p>
            <a:r>
              <a:rPr lang="en-US" dirty="0"/>
              <a:t>In a survey, we asked &gt;1,000 US voters about their WTP to address the COVID-19 public health crises.</a:t>
            </a:r>
          </a:p>
          <a:p>
            <a:pPr lvl="1"/>
            <a:r>
              <a:rPr lang="en-US" dirty="0"/>
              <a:t>Three WTP outcomes of interest: Main FOCUS</a:t>
            </a:r>
          </a:p>
          <a:p>
            <a:pPr lvl="2"/>
            <a:r>
              <a:rPr lang="en-US" dirty="0"/>
              <a:t>Willingness to support more public health spending</a:t>
            </a:r>
          </a:p>
          <a:p>
            <a:pPr lvl="2"/>
            <a:r>
              <a:rPr lang="en-US" dirty="0"/>
              <a:t>Willingness to accept tax increases</a:t>
            </a:r>
          </a:p>
          <a:p>
            <a:pPr lvl="2"/>
            <a:r>
              <a:rPr lang="en-US" dirty="0"/>
              <a:t>Preference for public health vs. the economy</a:t>
            </a:r>
          </a:p>
          <a:p>
            <a:pPr lvl="1"/>
            <a:r>
              <a:rPr lang="en-US" dirty="0"/>
              <a:t>Three individual choice outcomes of interest</a:t>
            </a:r>
          </a:p>
          <a:p>
            <a:pPr lvl="2"/>
            <a:r>
              <a:rPr lang="en-US" dirty="0"/>
              <a:t>Wearing mask, quarantining, personal hygiene</a:t>
            </a:r>
          </a:p>
          <a:p>
            <a:pPr lvl="2"/>
            <a:endParaRPr lang="en-US" dirty="0"/>
          </a:p>
          <a:p>
            <a:r>
              <a:rPr lang="en-US" dirty="0"/>
              <a:t>Data collected by </a:t>
            </a:r>
            <a:r>
              <a:rPr lang="en-US" dirty="0" err="1"/>
              <a:t>mTurk</a:t>
            </a:r>
            <a:r>
              <a:rPr lang="en-US" dirty="0"/>
              <a:t> (~500) and Qualtrics (~500) in the 1rst wave</a:t>
            </a:r>
          </a:p>
          <a:p>
            <a:pPr lvl="1"/>
            <a:r>
              <a:rPr lang="en-US" dirty="0"/>
              <a:t>Good balance between treatment and control groups</a:t>
            </a:r>
          </a:p>
          <a:p>
            <a:pPr lvl="1"/>
            <a:r>
              <a:rPr lang="en-US" dirty="0" err="1"/>
              <a:t>mTurk</a:t>
            </a:r>
            <a:r>
              <a:rPr lang="en-US" dirty="0"/>
              <a:t> steers more “liberal” but results appear to be unaffected</a:t>
            </a:r>
          </a:p>
        </p:txBody>
      </p:sp>
    </p:spTree>
    <p:extLst>
      <p:ext uri="{BB962C8B-B14F-4D97-AF65-F5344CB8AC3E}">
        <p14:creationId xmlns:p14="http://schemas.microsoft.com/office/powerpoint/2010/main" val="238669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2056DF0-13DB-C2C8-24CD-E36416015342}"/>
              </a:ext>
            </a:extLst>
          </p:cNvPr>
          <p:cNvSpPr>
            <a:spLocks noGrp="1"/>
          </p:cNvSpPr>
          <p:nvPr>
            <p:ph type="title"/>
          </p:nvPr>
        </p:nvSpPr>
        <p:spPr/>
        <p:txBody>
          <a:bodyPr/>
          <a:lstStyle/>
          <a:p>
            <a:r>
              <a:rPr lang="en-US" dirty="0"/>
              <a:t>Results for WTP Spending</a:t>
            </a:r>
          </a:p>
        </p:txBody>
      </p:sp>
      <p:pic>
        <p:nvPicPr>
          <p:cNvPr id="15" name="Picture 14">
            <a:extLst>
              <a:ext uri="{FF2B5EF4-FFF2-40B4-BE49-F238E27FC236}">
                <a16:creationId xmlns:a16="http://schemas.microsoft.com/office/drawing/2014/main" id="{0E709882-A3A6-ED3B-6515-AECADD80D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973" y="987552"/>
            <a:ext cx="3771900" cy="2743200"/>
          </a:xfrm>
          <a:prstGeom prst="rect">
            <a:avLst/>
          </a:prstGeom>
        </p:spPr>
      </p:pic>
      <p:pic>
        <p:nvPicPr>
          <p:cNvPr id="17" name="Picture 16">
            <a:extLst>
              <a:ext uri="{FF2B5EF4-FFF2-40B4-BE49-F238E27FC236}">
                <a16:creationId xmlns:a16="http://schemas.microsoft.com/office/drawing/2014/main" id="{C2E88010-4C1E-E50A-CD10-CED7216FC8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2799" y="954895"/>
            <a:ext cx="4111404" cy="2743200"/>
          </a:xfrm>
          <a:prstGeom prst="rect">
            <a:avLst/>
          </a:prstGeom>
        </p:spPr>
      </p:pic>
      <p:pic>
        <p:nvPicPr>
          <p:cNvPr id="19" name="Picture 18">
            <a:extLst>
              <a:ext uri="{FF2B5EF4-FFF2-40B4-BE49-F238E27FC236}">
                <a16:creationId xmlns:a16="http://schemas.microsoft.com/office/drawing/2014/main" id="{17A618A2-4B4A-B0FC-943E-F2B64D7B5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4000" y="3592286"/>
            <a:ext cx="3822780" cy="2743200"/>
          </a:xfrm>
          <a:prstGeom prst="rect">
            <a:avLst/>
          </a:prstGeom>
        </p:spPr>
      </p:pic>
      <p:pic>
        <p:nvPicPr>
          <p:cNvPr id="21" name="Picture 20">
            <a:extLst>
              <a:ext uri="{FF2B5EF4-FFF2-40B4-BE49-F238E27FC236}">
                <a16:creationId xmlns:a16="http://schemas.microsoft.com/office/drawing/2014/main" id="{B160B9FC-7110-AC97-A587-F45B069216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40476" y="3592286"/>
            <a:ext cx="3995675" cy="2743200"/>
          </a:xfrm>
          <a:prstGeom prst="rect">
            <a:avLst/>
          </a:prstGeom>
        </p:spPr>
      </p:pic>
    </p:spTree>
    <p:extLst>
      <p:ext uri="{BB962C8B-B14F-4D97-AF65-F5344CB8AC3E}">
        <p14:creationId xmlns:p14="http://schemas.microsoft.com/office/powerpoint/2010/main" val="3336099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678A3-BCFE-9B4D-BC6E-F37D47BA1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1F9A2-2A7C-F430-419B-34699A1BB122}"/>
              </a:ext>
            </a:extLst>
          </p:cNvPr>
          <p:cNvSpPr>
            <a:spLocks noGrp="1"/>
          </p:cNvSpPr>
          <p:nvPr>
            <p:ph type="title"/>
          </p:nvPr>
        </p:nvSpPr>
        <p:spPr/>
        <p:txBody>
          <a:bodyPr/>
          <a:lstStyle/>
          <a:p>
            <a:r>
              <a:rPr lang="en-US" dirty="0"/>
              <a:t>Results for WTP Tax Increase</a:t>
            </a:r>
          </a:p>
        </p:txBody>
      </p:sp>
      <p:pic>
        <p:nvPicPr>
          <p:cNvPr id="10" name="Picture 9">
            <a:extLst>
              <a:ext uri="{FF2B5EF4-FFF2-40B4-BE49-F238E27FC236}">
                <a16:creationId xmlns:a16="http://schemas.microsoft.com/office/drawing/2014/main" id="{4781C1C8-C1B4-A20E-0121-2BC5A794A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086" y="912876"/>
            <a:ext cx="3771900" cy="2743200"/>
          </a:xfrm>
          <a:prstGeom prst="rect">
            <a:avLst/>
          </a:prstGeom>
        </p:spPr>
      </p:pic>
      <p:pic>
        <p:nvPicPr>
          <p:cNvPr id="12" name="Picture 11">
            <a:extLst>
              <a:ext uri="{FF2B5EF4-FFF2-40B4-BE49-F238E27FC236}">
                <a16:creationId xmlns:a16="http://schemas.microsoft.com/office/drawing/2014/main" id="{8DAE4053-BC76-9446-FC2B-147A8BFF1C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4902" y="917557"/>
            <a:ext cx="3771900" cy="2743200"/>
          </a:xfrm>
          <a:prstGeom prst="rect">
            <a:avLst/>
          </a:prstGeom>
        </p:spPr>
      </p:pic>
      <p:pic>
        <p:nvPicPr>
          <p:cNvPr id="14" name="Picture 13">
            <a:extLst>
              <a:ext uri="{FF2B5EF4-FFF2-40B4-BE49-F238E27FC236}">
                <a16:creationId xmlns:a16="http://schemas.microsoft.com/office/drawing/2014/main" id="{81FF96D1-D19E-2A33-24EB-7B801111E6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198" y="3656076"/>
            <a:ext cx="3771900" cy="2743200"/>
          </a:xfrm>
          <a:prstGeom prst="rect">
            <a:avLst/>
          </a:prstGeom>
        </p:spPr>
      </p:pic>
      <p:pic>
        <p:nvPicPr>
          <p:cNvPr id="16" name="Picture 15">
            <a:extLst>
              <a:ext uri="{FF2B5EF4-FFF2-40B4-BE49-F238E27FC236}">
                <a16:creationId xmlns:a16="http://schemas.microsoft.com/office/drawing/2014/main" id="{C5D0D253-9AEF-0858-F362-13F1BB99EF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4902" y="3581400"/>
            <a:ext cx="3771900" cy="2743200"/>
          </a:xfrm>
          <a:prstGeom prst="rect">
            <a:avLst/>
          </a:prstGeom>
        </p:spPr>
      </p:pic>
    </p:spTree>
    <p:extLst>
      <p:ext uri="{BB962C8B-B14F-4D97-AF65-F5344CB8AC3E}">
        <p14:creationId xmlns:p14="http://schemas.microsoft.com/office/powerpoint/2010/main" val="72345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7A6D4-2F3D-3B3E-AB44-F2C0CAA72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334F2-452E-F23E-F4FB-1725D0CA0F40}"/>
              </a:ext>
            </a:extLst>
          </p:cNvPr>
          <p:cNvSpPr>
            <a:spLocks noGrp="1"/>
          </p:cNvSpPr>
          <p:nvPr>
            <p:ph type="title"/>
          </p:nvPr>
        </p:nvSpPr>
        <p:spPr/>
        <p:txBody>
          <a:bodyPr>
            <a:normAutofit/>
          </a:bodyPr>
          <a:lstStyle/>
          <a:p>
            <a:r>
              <a:rPr lang="en-US" dirty="0"/>
              <a:t>Results for WTP PHE vs. Economy</a:t>
            </a:r>
          </a:p>
        </p:txBody>
      </p:sp>
      <p:pic>
        <p:nvPicPr>
          <p:cNvPr id="6" name="Picture 5">
            <a:extLst>
              <a:ext uri="{FF2B5EF4-FFF2-40B4-BE49-F238E27FC236}">
                <a16:creationId xmlns:a16="http://schemas.microsoft.com/office/drawing/2014/main" id="{490ED675-E8AF-BBAF-EE49-E157A90C4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8344" y="3573562"/>
            <a:ext cx="3771900" cy="2743200"/>
          </a:xfrm>
          <a:prstGeom prst="rect">
            <a:avLst/>
          </a:prstGeom>
        </p:spPr>
      </p:pic>
      <p:pic>
        <p:nvPicPr>
          <p:cNvPr id="10" name="Picture 9">
            <a:extLst>
              <a:ext uri="{FF2B5EF4-FFF2-40B4-BE49-F238E27FC236}">
                <a16:creationId xmlns:a16="http://schemas.microsoft.com/office/drawing/2014/main" id="{EFCD94B1-A9BB-59B9-8565-CC5C2F6A46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914400"/>
            <a:ext cx="3771900" cy="2743200"/>
          </a:xfrm>
          <a:prstGeom prst="rect">
            <a:avLst/>
          </a:prstGeom>
        </p:spPr>
      </p:pic>
      <p:pic>
        <p:nvPicPr>
          <p:cNvPr id="12" name="Picture 11">
            <a:extLst>
              <a:ext uri="{FF2B5EF4-FFF2-40B4-BE49-F238E27FC236}">
                <a16:creationId xmlns:a16="http://schemas.microsoft.com/office/drawing/2014/main" id="{7F0655EC-0AF1-4BAE-B44F-18E24B4C28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8344" y="939543"/>
            <a:ext cx="3771900" cy="2743200"/>
          </a:xfrm>
          <a:prstGeom prst="rect">
            <a:avLst/>
          </a:prstGeom>
        </p:spPr>
      </p:pic>
      <p:pic>
        <p:nvPicPr>
          <p:cNvPr id="14" name="Picture 13">
            <a:extLst>
              <a:ext uri="{FF2B5EF4-FFF2-40B4-BE49-F238E27FC236}">
                <a16:creationId xmlns:a16="http://schemas.microsoft.com/office/drawing/2014/main" id="{6A8DFAB6-FB0F-7445-6CB7-1936CF4D8D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100" y="3584448"/>
            <a:ext cx="3771900" cy="2743200"/>
          </a:xfrm>
          <a:prstGeom prst="rect">
            <a:avLst/>
          </a:prstGeom>
        </p:spPr>
      </p:pic>
    </p:spTree>
    <p:extLst>
      <p:ext uri="{BB962C8B-B14F-4D97-AF65-F5344CB8AC3E}">
        <p14:creationId xmlns:p14="http://schemas.microsoft.com/office/powerpoint/2010/main" val="3300177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231648"/>
            <a:ext cx="8534400" cy="758952"/>
          </a:xfrm>
        </p:spPr>
        <p:txBody>
          <a:bodyPr>
            <a:normAutofit/>
          </a:bodyPr>
          <a:lstStyle/>
          <a:p>
            <a:r>
              <a:rPr lang="en-US" dirty="0"/>
              <a:t>Take-Aways from the Study</a:t>
            </a:r>
          </a:p>
        </p:txBody>
      </p:sp>
      <p:sp>
        <p:nvSpPr>
          <p:cNvPr id="3" name="Content Placeholder 2"/>
          <p:cNvSpPr>
            <a:spLocks noGrp="1"/>
          </p:cNvSpPr>
          <p:nvPr>
            <p:ph sz="quarter" idx="1"/>
          </p:nvPr>
        </p:nvSpPr>
        <p:spPr>
          <a:xfrm>
            <a:off x="304800" y="1447800"/>
            <a:ext cx="8503920" cy="5178552"/>
          </a:xfrm>
        </p:spPr>
        <p:txBody>
          <a:bodyPr>
            <a:normAutofit fontScale="92500" lnSpcReduction="10000"/>
          </a:bodyPr>
          <a:lstStyle/>
          <a:p>
            <a:r>
              <a:rPr lang="en-US" dirty="0"/>
              <a:t>Null effects prevail for WTP</a:t>
            </a:r>
          </a:p>
          <a:p>
            <a:r>
              <a:rPr lang="en-US" dirty="0"/>
              <a:t>At the same time, we know that informational disagreements were critical for individual behaviors such as masking, staying indoors, </a:t>
            </a:r>
            <a:r>
              <a:rPr lang="en-US"/>
              <a:t>hygiene behaviors</a:t>
            </a:r>
            <a:endParaRPr lang="en-US" dirty="0"/>
          </a:p>
          <a:p>
            <a:pPr lvl="1"/>
            <a:r>
              <a:rPr lang="en-US" dirty="0"/>
              <a:t>individual choices vs societal choices? </a:t>
            </a:r>
          </a:p>
          <a:p>
            <a:r>
              <a:rPr lang="en-US" dirty="0"/>
              <a:t>Conclusion:</a:t>
            </a:r>
          </a:p>
          <a:p>
            <a:pPr lvl="1"/>
            <a:r>
              <a:rPr lang="en-US" dirty="0"/>
              <a:t>Despite intense and conflicting information during Covid 19, individuals’ WTP for public health did not meaningfully change</a:t>
            </a:r>
          </a:p>
          <a:p>
            <a:pPr lvl="1"/>
            <a:r>
              <a:rPr lang="en-US" dirty="0"/>
              <a:t>Trust and mission alignment remain important for understanding public attitudes, but they may influence behavior more than fiscal willingness</a:t>
            </a:r>
          </a:p>
          <a:p>
            <a:pPr lvl="1"/>
            <a:r>
              <a:rPr lang="en-US" dirty="0"/>
              <a:t>For policymakers and public health agencies, this highlights the challenge of building financial support during a crisis– even when the crisis is highly salient</a:t>
            </a:r>
          </a:p>
          <a:p>
            <a:r>
              <a:rPr lang="en-US" dirty="0"/>
              <a:t>Next?</a:t>
            </a:r>
          </a:p>
        </p:txBody>
      </p:sp>
    </p:spTree>
    <p:extLst>
      <p:ext uri="{BB962C8B-B14F-4D97-AF65-F5344CB8AC3E}">
        <p14:creationId xmlns:p14="http://schemas.microsoft.com/office/powerpoint/2010/main" val="2326248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975E-A126-70B6-1C1B-F7C59326CCFA}"/>
              </a:ext>
            </a:extLst>
          </p:cNvPr>
          <p:cNvSpPr>
            <a:spLocks noGrp="1"/>
          </p:cNvSpPr>
          <p:nvPr>
            <p:ph type="title"/>
          </p:nvPr>
        </p:nvSpPr>
        <p:spPr/>
        <p:txBody>
          <a:bodyPr/>
          <a:lstStyle/>
          <a:p>
            <a:r>
              <a:rPr lang="en-US" dirty="0"/>
              <a:t>In the end, even Trump changed his position</a:t>
            </a:r>
          </a:p>
        </p:txBody>
      </p:sp>
      <p:pic>
        <p:nvPicPr>
          <p:cNvPr id="3" name="Picture 2">
            <a:extLst>
              <a:ext uri="{FF2B5EF4-FFF2-40B4-BE49-F238E27FC236}">
                <a16:creationId xmlns:a16="http://schemas.microsoft.com/office/drawing/2014/main" id="{BBE1E6FE-72E3-7FAF-A2A9-E1EDC0478471}"/>
              </a:ext>
            </a:extLst>
          </p:cNvPr>
          <p:cNvPicPr>
            <a:picLocks noChangeAspect="1"/>
          </p:cNvPicPr>
          <p:nvPr/>
        </p:nvPicPr>
        <p:blipFill>
          <a:blip r:embed="rId2"/>
          <a:stretch>
            <a:fillRect/>
          </a:stretch>
        </p:blipFill>
        <p:spPr>
          <a:xfrm>
            <a:off x="228600" y="1600199"/>
            <a:ext cx="4191000" cy="4524540"/>
          </a:xfrm>
          <a:prstGeom prst="rect">
            <a:avLst/>
          </a:prstGeom>
        </p:spPr>
      </p:pic>
      <p:pic>
        <p:nvPicPr>
          <p:cNvPr id="4" name="Picture 3">
            <a:extLst>
              <a:ext uri="{FF2B5EF4-FFF2-40B4-BE49-F238E27FC236}">
                <a16:creationId xmlns:a16="http://schemas.microsoft.com/office/drawing/2014/main" id="{6EB02F9C-DE93-C528-91F6-B7B91DA8151E}"/>
              </a:ext>
            </a:extLst>
          </p:cNvPr>
          <p:cNvPicPr>
            <a:picLocks noChangeAspect="1"/>
          </p:cNvPicPr>
          <p:nvPr/>
        </p:nvPicPr>
        <p:blipFill>
          <a:blip r:embed="rId3"/>
          <a:stretch>
            <a:fillRect/>
          </a:stretch>
        </p:blipFill>
        <p:spPr>
          <a:xfrm>
            <a:off x="4527786" y="1752600"/>
            <a:ext cx="4308366" cy="4190127"/>
          </a:xfrm>
          <a:prstGeom prst="rect">
            <a:avLst/>
          </a:prstGeom>
        </p:spPr>
      </p:pic>
    </p:spTree>
    <p:extLst>
      <p:ext uri="{BB962C8B-B14F-4D97-AF65-F5344CB8AC3E}">
        <p14:creationId xmlns:p14="http://schemas.microsoft.com/office/powerpoint/2010/main" val="2306304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9A6CB79-EE5B-2A5E-BA2D-B5C1ECCA2D79}"/>
              </a:ext>
            </a:extLst>
          </p:cNvPr>
          <p:cNvSpPr>
            <a:spLocks noGrp="1"/>
          </p:cNvSpPr>
          <p:nvPr>
            <p:ph type="subTitle" idx="1"/>
          </p:nvPr>
        </p:nvSpPr>
        <p:spPr/>
        <p:txBody>
          <a:bodyPr/>
          <a:lstStyle/>
          <a:p>
            <a:r>
              <a:rPr lang="en-US" dirty="0"/>
              <a:t>Mixed messaging and updating individual positions</a:t>
            </a:r>
          </a:p>
        </p:txBody>
      </p:sp>
      <p:sp>
        <p:nvSpPr>
          <p:cNvPr id="3" name="Title 2">
            <a:extLst>
              <a:ext uri="{FF2B5EF4-FFF2-40B4-BE49-F238E27FC236}">
                <a16:creationId xmlns:a16="http://schemas.microsoft.com/office/drawing/2014/main" id="{186F9013-1C94-A1CE-5DDF-5D6481E7203E}"/>
              </a:ext>
            </a:extLst>
          </p:cNvPr>
          <p:cNvSpPr>
            <a:spLocks noGrp="1"/>
          </p:cNvSpPr>
          <p:nvPr>
            <p:ph type="ctrTitle"/>
          </p:nvPr>
        </p:nvSpPr>
        <p:spPr/>
        <p:txBody>
          <a:bodyPr/>
          <a:lstStyle/>
          <a:p>
            <a:r>
              <a:rPr lang="en-US" dirty="0"/>
              <a:t>Supplementary</a:t>
            </a:r>
          </a:p>
        </p:txBody>
      </p:sp>
    </p:spTree>
    <p:extLst>
      <p:ext uri="{BB962C8B-B14F-4D97-AF65-F5344CB8AC3E}">
        <p14:creationId xmlns:p14="http://schemas.microsoft.com/office/powerpoint/2010/main" val="3512411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8E6D-C42B-9C20-E0AC-992E2D93F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C52EE-2FCC-470C-D084-5D08DFEC9DD8}"/>
              </a:ext>
            </a:extLst>
          </p:cNvPr>
          <p:cNvSpPr>
            <a:spLocks noGrp="1"/>
          </p:cNvSpPr>
          <p:nvPr>
            <p:ph type="title"/>
          </p:nvPr>
        </p:nvSpPr>
        <p:spPr/>
        <p:txBody>
          <a:bodyPr/>
          <a:lstStyle/>
          <a:p>
            <a:r>
              <a:rPr lang="en-US" dirty="0"/>
              <a:t>OLM Regression Results (odds ratios)</a:t>
            </a:r>
          </a:p>
        </p:txBody>
      </p:sp>
      <p:pic>
        <p:nvPicPr>
          <p:cNvPr id="8" name="Picture 7">
            <a:extLst>
              <a:ext uri="{FF2B5EF4-FFF2-40B4-BE49-F238E27FC236}">
                <a16:creationId xmlns:a16="http://schemas.microsoft.com/office/drawing/2014/main" id="{B5A13B52-0570-F0F7-B9F9-4519535DE151}"/>
              </a:ext>
            </a:extLst>
          </p:cNvPr>
          <p:cNvPicPr>
            <a:picLocks noChangeAspect="1"/>
          </p:cNvPicPr>
          <p:nvPr/>
        </p:nvPicPr>
        <p:blipFill>
          <a:blip r:embed="rId3"/>
          <a:stretch>
            <a:fillRect/>
          </a:stretch>
        </p:blipFill>
        <p:spPr>
          <a:xfrm>
            <a:off x="228600" y="1524000"/>
            <a:ext cx="8788246" cy="4724400"/>
          </a:xfrm>
          <a:prstGeom prst="rect">
            <a:avLst/>
          </a:prstGeom>
        </p:spPr>
      </p:pic>
    </p:spTree>
    <p:extLst>
      <p:ext uri="{BB962C8B-B14F-4D97-AF65-F5344CB8AC3E}">
        <p14:creationId xmlns:p14="http://schemas.microsoft.com/office/powerpoint/2010/main" val="1945552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272" y="7536"/>
            <a:ext cx="8534400" cy="1139952"/>
          </a:xfrm>
        </p:spPr>
        <p:txBody>
          <a:bodyPr>
            <a:normAutofit/>
          </a:bodyPr>
          <a:lstStyle/>
          <a:p>
            <a:r>
              <a:rPr lang="en-US" dirty="0"/>
              <a:t>Regression Results</a:t>
            </a:r>
          </a:p>
        </p:txBody>
      </p:sp>
      <p:pic>
        <p:nvPicPr>
          <p:cNvPr id="6" name="Picture 5">
            <a:extLst>
              <a:ext uri="{FF2B5EF4-FFF2-40B4-BE49-F238E27FC236}">
                <a16:creationId xmlns:a16="http://schemas.microsoft.com/office/drawing/2014/main" id="{D4ADCEDF-056D-31DB-7CEA-FCE9DD10A61F}"/>
              </a:ext>
            </a:extLst>
          </p:cNvPr>
          <p:cNvPicPr>
            <a:picLocks noChangeAspect="1"/>
          </p:cNvPicPr>
          <p:nvPr/>
        </p:nvPicPr>
        <p:blipFill>
          <a:blip r:embed="rId3"/>
          <a:stretch>
            <a:fillRect/>
          </a:stretch>
        </p:blipFill>
        <p:spPr>
          <a:xfrm>
            <a:off x="575251" y="1524001"/>
            <a:ext cx="7425749" cy="2475250"/>
          </a:xfrm>
          <a:prstGeom prst="rect">
            <a:avLst/>
          </a:prstGeom>
        </p:spPr>
      </p:pic>
      <p:pic>
        <p:nvPicPr>
          <p:cNvPr id="7" name="Picture 6">
            <a:extLst>
              <a:ext uri="{FF2B5EF4-FFF2-40B4-BE49-F238E27FC236}">
                <a16:creationId xmlns:a16="http://schemas.microsoft.com/office/drawing/2014/main" id="{A9265046-DB02-78B9-3422-ACB23A49A219}"/>
              </a:ext>
            </a:extLst>
          </p:cNvPr>
          <p:cNvPicPr>
            <a:picLocks noChangeAspect="1"/>
          </p:cNvPicPr>
          <p:nvPr/>
        </p:nvPicPr>
        <p:blipFill>
          <a:blip r:embed="rId4"/>
          <a:stretch>
            <a:fillRect/>
          </a:stretch>
        </p:blipFill>
        <p:spPr>
          <a:xfrm>
            <a:off x="604559" y="4126232"/>
            <a:ext cx="7425750" cy="2475250"/>
          </a:xfrm>
          <a:prstGeom prst="rect">
            <a:avLst/>
          </a:prstGeom>
        </p:spPr>
      </p:pic>
    </p:spTree>
    <p:extLst>
      <p:ext uri="{BB962C8B-B14F-4D97-AF65-F5344CB8AC3E}">
        <p14:creationId xmlns:p14="http://schemas.microsoft.com/office/powerpoint/2010/main" val="3983163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50000"/>
          </a:schemeClr>
        </a:solidFill>
        <a:effectLst/>
      </p:bgPr>
    </p:bg>
    <p:spTree>
      <p:nvGrpSpPr>
        <p:cNvPr id="1" name=""/>
        <p:cNvGrpSpPr/>
        <p:nvPr/>
      </p:nvGrpSpPr>
      <p:grpSpPr>
        <a:xfrm>
          <a:off x="0" y="0"/>
          <a:ext cx="0" cy="0"/>
          <a:chOff x="0" y="0"/>
          <a:chExt cx="0" cy="0"/>
        </a:xfrm>
      </p:grpSpPr>
      <p:pic>
        <p:nvPicPr>
          <p:cNvPr id="2" name="image9.png">
            <a:extLst>
              <a:ext uri="{FF2B5EF4-FFF2-40B4-BE49-F238E27FC236}">
                <a16:creationId xmlns:a16="http://schemas.microsoft.com/office/drawing/2014/main" id="{8DE6B905-9F98-B4E0-7C24-F8F58E642B92}"/>
              </a:ext>
            </a:extLst>
          </p:cNvPr>
          <p:cNvPicPr/>
          <p:nvPr/>
        </p:nvPicPr>
        <p:blipFill>
          <a:blip r:embed="rId2"/>
          <a:srcRect/>
          <a:stretch>
            <a:fillRect/>
          </a:stretch>
        </p:blipFill>
        <p:spPr>
          <a:xfrm>
            <a:off x="0" y="0"/>
            <a:ext cx="9144000" cy="6857999"/>
          </a:xfrm>
          <a:prstGeom prst="rect">
            <a:avLst/>
          </a:prstGeom>
          <a:ln/>
        </p:spPr>
      </p:pic>
    </p:spTree>
    <p:extLst>
      <p:ext uri="{BB962C8B-B14F-4D97-AF65-F5344CB8AC3E}">
        <p14:creationId xmlns:p14="http://schemas.microsoft.com/office/powerpoint/2010/main" val="3467781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50000"/>
          </a:schemeClr>
        </a:solidFill>
        <a:effectLst/>
      </p:bgPr>
    </p:bg>
    <p:spTree>
      <p:nvGrpSpPr>
        <p:cNvPr id="1" name=""/>
        <p:cNvGrpSpPr/>
        <p:nvPr/>
      </p:nvGrpSpPr>
      <p:grpSpPr>
        <a:xfrm>
          <a:off x="0" y="0"/>
          <a:ext cx="0" cy="0"/>
          <a:chOff x="0" y="0"/>
          <a:chExt cx="0" cy="0"/>
        </a:xfrm>
      </p:grpSpPr>
      <p:pic>
        <p:nvPicPr>
          <p:cNvPr id="2" name="image4.png">
            <a:extLst>
              <a:ext uri="{FF2B5EF4-FFF2-40B4-BE49-F238E27FC236}">
                <a16:creationId xmlns:a16="http://schemas.microsoft.com/office/drawing/2014/main" id="{106BC2D8-F4BF-7BB0-C606-682ACA1FEE68}"/>
              </a:ext>
            </a:extLst>
          </p:cNvPr>
          <p:cNvPicPr/>
          <p:nvPr/>
        </p:nvPicPr>
        <p:blipFill>
          <a:blip r:embed="rId2"/>
          <a:srcRect/>
          <a:stretch>
            <a:fillRect/>
          </a:stretch>
        </p:blipFill>
        <p:spPr>
          <a:xfrm>
            <a:off x="0" y="0"/>
            <a:ext cx="9144000" cy="6857999"/>
          </a:xfrm>
          <a:prstGeom prst="rect">
            <a:avLst/>
          </a:prstGeom>
          <a:ln/>
        </p:spPr>
      </p:pic>
    </p:spTree>
    <p:extLst>
      <p:ext uri="{BB962C8B-B14F-4D97-AF65-F5344CB8AC3E}">
        <p14:creationId xmlns:p14="http://schemas.microsoft.com/office/powerpoint/2010/main" val="649715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50000"/>
          </a:schemeClr>
        </a:solidFill>
        <a:effectLst/>
      </p:bgPr>
    </p:bg>
    <p:spTree>
      <p:nvGrpSpPr>
        <p:cNvPr id="1" name=""/>
        <p:cNvGrpSpPr/>
        <p:nvPr/>
      </p:nvGrpSpPr>
      <p:grpSpPr>
        <a:xfrm>
          <a:off x="0" y="0"/>
          <a:ext cx="0" cy="0"/>
          <a:chOff x="0" y="0"/>
          <a:chExt cx="0" cy="0"/>
        </a:xfrm>
      </p:grpSpPr>
      <p:pic>
        <p:nvPicPr>
          <p:cNvPr id="3" name="image1.png">
            <a:extLst>
              <a:ext uri="{FF2B5EF4-FFF2-40B4-BE49-F238E27FC236}">
                <a16:creationId xmlns:a16="http://schemas.microsoft.com/office/drawing/2014/main" id="{F3540DEA-84A3-CFE4-32F1-B6F053581D5F}"/>
              </a:ext>
            </a:extLst>
          </p:cNvPr>
          <p:cNvPicPr/>
          <p:nvPr/>
        </p:nvPicPr>
        <p:blipFill>
          <a:blip r:embed="rId3"/>
          <a:srcRect/>
          <a:stretch>
            <a:fillRect/>
          </a:stretch>
        </p:blipFill>
        <p:spPr>
          <a:xfrm>
            <a:off x="0" y="0"/>
            <a:ext cx="9144000" cy="6858000"/>
          </a:xfrm>
          <a:prstGeom prst="rect">
            <a:avLst/>
          </a:prstGeom>
          <a:ln/>
        </p:spPr>
      </p:pic>
      <p:sp>
        <p:nvSpPr>
          <p:cNvPr id="4" name="TextBox 3">
            <a:extLst>
              <a:ext uri="{FF2B5EF4-FFF2-40B4-BE49-F238E27FC236}">
                <a16:creationId xmlns:a16="http://schemas.microsoft.com/office/drawing/2014/main" id="{DAE5AE91-D60B-5903-CE02-589B84A9A38D}"/>
              </a:ext>
            </a:extLst>
          </p:cNvPr>
          <p:cNvSpPr txBox="1"/>
          <p:nvPr/>
        </p:nvSpPr>
        <p:spPr>
          <a:xfrm>
            <a:off x="7696200" y="4152900"/>
            <a:ext cx="609600" cy="523220"/>
          </a:xfrm>
          <a:prstGeom prst="rect">
            <a:avLst/>
          </a:prstGeom>
          <a:noFill/>
        </p:spPr>
        <p:txBody>
          <a:bodyPr wrap="square" rtlCol="0">
            <a:spAutoFit/>
          </a:bodyPr>
          <a:lstStyle/>
          <a:p>
            <a:r>
              <a:rPr lang="en-US" sz="1400" dirty="0"/>
              <a:t>Biden Only</a:t>
            </a:r>
          </a:p>
        </p:txBody>
      </p:sp>
      <p:cxnSp>
        <p:nvCxnSpPr>
          <p:cNvPr id="6" name="Straight Arrow Connector 5">
            <a:extLst>
              <a:ext uri="{FF2B5EF4-FFF2-40B4-BE49-F238E27FC236}">
                <a16:creationId xmlns:a16="http://schemas.microsoft.com/office/drawing/2014/main" id="{181DA6C6-E3C9-05C7-A018-C7E87C44AE33}"/>
              </a:ext>
            </a:extLst>
          </p:cNvPr>
          <p:cNvCxnSpPr/>
          <p:nvPr/>
        </p:nvCxnSpPr>
        <p:spPr>
          <a:xfrm flipH="1">
            <a:off x="7315200" y="4414510"/>
            <a:ext cx="381000" cy="26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A2067F9-4175-1E2D-5842-8E358AD53AAE}"/>
              </a:ext>
            </a:extLst>
          </p:cNvPr>
          <p:cNvSpPr txBox="1"/>
          <p:nvPr/>
        </p:nvSpPr>
        <p:spPr>
          <a:xfrm>
            <a:off x="5879804" y="2181661"/>
            <a:ext cx="747823" cy="738664"/>
          </a:xfrm>
          <a:prstGeom prst="rect">
            <a:avLst/>
          </a:prstGeom>
          <a:noFill/>
        </p:spPr>
        <p:txBody>
          <a:bodyPr wrap="square" rtlCol="0">
            <a:spAutoFit/>
          </a:bodyPr>
          <a:lstStyle/>
          <a:p>
            <a:r>
              <a:rPr lang="en-US" sz="1400" dirty="0"/>
              <a:t>Biden </a:t>
            </a:r>
            <a:r>
              <a:rPr lang="en-US" sz="1400" b="1" i="1" dirty="0"/>
              <a:t>against</a:t>
            </a:r>
            <a:r>
              <a:rPr lang="en-US" sz="1400" dirty="0"/>
              <a:t> CDC</a:t>
            </a:r>
          </a:p>
        </p:txBody>
      </p:sp>
      <p:cxnSp>
        <p:nvCxnSpPr>
          <p:cNvPr id="8" name="Straight Arrow Connector 7">
            <a:extLst>
              <a:ext uri="{FF2B5EF4-FFF2-40B4-BE49-F238E27FC236}">
                <a16:creationId xmlns:a16="http://schemas.microsoft.com/office/drawing/2014/main" id="{726DE4D2-1CBF-F90D-412F-8B02ED925CF4}"/>
              </a:ext>
            </a:extLst>
          </p:cNvPr>
          <p:cNvCxnSpPr/>
          <p:nvPr/>
        </p:nvCxnSpPr>
        <p:spPr>
          <a:xfrm flipH="1">
            <a:off x="5562600" y="2395210"/>
            <a:ext cx="381000" cy="26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19E289C-ADC3-F5E5-A3C7-9EA538799F5D}"/>
              </a:ext>
            </a:extLst>
          </p:cNvPr>
          <p:cNvSpPr txBox="1"/>
          <p:nvPr/>
        </p:nvSpPr>
        <p:spPr>
          <a:xfrm>
            <a:off x="4191000" y="2395210"/>
            <a:ext cx="609600" cy="738664"/>
          </a:xfrm>
          <a:prstGeom prst="rect">
            <a:avLst/>
          </a:prstGeom>
          <a:noFill/>
        </p:spPr>
        <p:txBody>
          <a:bodyPr wrap="square" rtlCol="0">
            <a:spAutoFit/>
          </a:bodyPr>
          <a:lstStyle/>
          <a:p>
            <a:r>
              <a:rPr lang="en-US" sz="1400" dirty="0"/>
              <a:t>Biden </a:t>
            </a:r>
            <a:r>
              <a:rPr lang="en-US" sz="1400" b="1" i="1" dirty="0"/>
              <a:t>with</a:t>
            </a:r>
            <a:r>
              <a:rPr lang="en-US" sz="1400" dirty="0"/>
              <a:t> CDC</a:t>
            </a:r>
          </a:p>
        </p:txBody>
      </p:sp>
      <p:cxnSp>
        <p:nvCxnSpPr>
          <p:cNvPr id="10" name="Straight Arrow Connector 9">
            <a:extLst>
              <a:ext uri="{FF2B5EF4-FFF2-40B4-BE49-F238E27FC236}">
                <a16:creationId xmlns:a16="http://schemas.microsoft.com/office/drawing/2014/main" id="{ACC4AEC5-63DA-CB4B-A8DA-895CBC886747}"/>
              </a:ext>
            </a:extLst>
          </p:cNvPr>
          <p:cNvCxnSpPr/>
          <p:nvPr/>
        </p:nvCxnSpPr>
        <p:spPr>
          <a:xfrm flipH="1">
            <a:off x="3810000" y="2656820"/>
            <a:ext cx="381000" cy="26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69DA249-F79B-EE26-6482-93C467974DE9}"/>
              </a:ext>
            </a:extLst>
          </p:cNvPr>
          <p:cNvSpPr txBox="1"/>
          <p:nvPr/>
        </p:nvSpPr>
        <p:spPr>
          <a:xfrm>
            <a:off x="1808422" y="2598134"/>
            <a:ext cx="609600" cy="523220"/>
          </a:xfrm>
          <a:prstGeom prst="rect">
            <a:avLst/>
          </a:prstGeom>
          <a:noFill/>
        </p:spPr>
        <p:txBody>
          <a:bodyPr wrap="square" rtlCol="0">
            <a:spAutoFit/>
          </a:bodyPr>
          <a:lstStyle/>
          <a:p>
            <a:r>
              <a:rPr lang="en-US" sz="1400" dirty="0"/>
              <a:t>CDC Only</a:t>
            </a:r>
          </a:p>
        </p:txBody>
      </p:sp>
      <p:cxnSp>
        <p:nvCxnSpPr>
          <p:cNvPr id="12" name="Straight Arrow Connector 11">
            <a:extLst>
              <a:ext uri="{FF2B5EF4-FFF2-40B4-BE49-F238E27FC236}">
                <a16:creationId xmlns:a16="http://schemas.microsoft.com/office/drawing/2014/main" id="{A86A3478-F0D4-0BA5-C86D-79B936194B68}"/>
              </a:ext>
            </a:extLst>
          </p:cNvPr>
          <p:cNvCxnSpPr>
            <a:cxnSpLocks/>
          </p:cNvCxnSpPr>
          <p:nvPr/>
        </p:nvCxnSpPr>
        <p:spPr>
          <a:xfrm>
            <a:off x="2286000" y="3003069"/>
            <a:ext cx="520110" cy="130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939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50000"/>
          </a:schemeClr>
        </a:solidFill>
        <a:effectLst/>
      </p:bgPr>
    </p:bg>
    <p:spTree>
      <p:nvGrpSpPr>
        <p:cNvPr id="1" name=""/>
        <p:cNvGrpSpPr/>
        <p:nvPr/>
      </p:nvGrpSpPr>
      <p:grpSpPr>
        <a:xfrm>
          <a:off x="0" y="0"/>
          <a:ext cx="0" cy="0"/>
          <a:chOff x="0" y="0"/>
          <a:chExt cx="0" cy="0"/>
        </a:xfrm>
      </p:grpSpPr>
      <p:pic>
        <p:nvPicPr>
          <p:cNvPr id="2" name="image3.png">
            <a:extLst>
              <a:ext uri="{FF2B5EF4-FFF2-40B4-BE49-F238E27FC236}">
                <a16:creationId xmlns:a16="http://schemas.microsoft.com/office/drawing/2014/main" id="{C2C5E477-801B-D380-686C-EE565E11A92F}"/>
              </a:ext>
            </a:extLst>
          </p:cNvPr>
          <p:cNvPicPr/>
          <p:nvPr/>
        </p:nvPicPr>
        <p:blipFill>
          <a:blip r:embed="rId2"/>
          <a:srcRect/>
          <a:stretch>
            <a:fillRect/>
          </a:stretch>
        </p:blipFill>
        <p:spPr>
          <a:xfrm>
            <a:off x="0" y="0"/>
            <a:ext cx="9144000" cy="6858000"/>
          </a:xfrm>
          <a:prstGeom prst="rect">
            <a:avLst/>
          </a:prstGeom>
          <a:ln/>
        </p:spPr>
      </p:pic>
      <p:sp>
        <p:nvSpPr>
          <p:cNvPr id="4" name="TextBox 3">
            <a:extLst>
              <a:ext uri="{FF2B5EF4-FFF2-40B4-BE49-F238E27FC236}">
                <a16:creationId xmlns:a16="http://schemas.microsoft.com/office/drawing/2014/main" id="{FDDC1532-A792-F244-CFD5-8A0A81A72049}"/>
              </a:ext>
            </a:extLst>
          </p:cNvPr>
          <p:cNvSpPr txBox="1"/>
          <p:nvPr/>
        </p:nvSpPr>
        <p:spPr>
          <a:xfrm>
            <a:off x="2362200" y="3733800"/>
            <a:ext cx="609600" cy="523220"/>
          </a:xfrm>
          <a:prstGeom prst="rect">
            <a:avLst/>
          </a:prstGeom>
          <a:noFill/>
        </p:spPr>
        <p:txBody>
          <a:bodyPr wrap="square" rtlCol="0">
            <a:spAutoFit/>
          </a:bodyPr>
          <a:lstStyle/>
          <a:p>
            <a:r>
              <a:rPr lang="en-US" sz="1400" dirty="0"/>
              <a:t>CDC Only</a:t>
            </a:r>
          </a:p>
        </p:txBody>
      </p:sp>
      <p:cxnSp>
        <p:nvCxnSpPr>
          <p:cNvPr id="5" name="Straight Arrow Connector 4">
            <a:extLst>
              <a:ext uri="{FF2B5EF4-FFF2-40B4-BE49-F238E27FC236}">
                <a16:creationId xmlns:a16="http://schemas.microsoft.com/office/drawing/2014/main" id="{443219D9-F279-BE53-0F60-FD04C6166D5B}"/>
              </a:ext>
            </a:extLst>
          </p:cNvPr>
          <p:cNvCxnSpPr>
            <a:cxnSpLocks/>
          </p:cNvCxnSpPr>
          <p:nvPr/>
        </p:nvCxnSpPr>
        <p:spPr>
          <a:xfrm>
            <a:off x="2839778" y="4138735"/>
            <a:ext cx="520110" cy="130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DB0F6C1-59F2-4F3B-3B3A-923FEDFE0F10}"/>
              </a:ext>
            </a:extLst>
          </p:cNvPr>
          <p:cNvSpPr txBox="1"/>
          <p:nvPr/>
        </p:nvSpPr>
        <p:spPr>
          <a:xfrm>
            <a:off x="2534978" y="1828800"/>
            <a:ext cx="609600" cy="738664"/>
          </a:xfrm>
          <a:prstGeom prst="rect">
            <a:avLst/>
          </a:prstGeom>
          <a:noFill/>
        </p:spPr>
        <p:txBody>
          <a:bodyPr wrap="square" rtlCol="0">
            <a:spAutoFit/>
          </a:bodyPr>
          <a:lstStyle/>
          <a:p>
            <a:r>
              <a:rPr lang="en-US" sz="1400" dirty="0"/>
              <a:t>Biden </a:t>
            </a:r>
            <a:r>
              <a:rPr lang="en-US" sz="1400" b="1" i="1" dirty="0"/>
              <a:t>with</a:t>
            </a:r>
            <a:r>
              <a:rPr lang="en-US" sz="1400" dirty="0"/>
              <a:t> CDC</a:t>
            </a:r>
          </a:p>
        </p:txBody>
      </p:sp>
      <p:cxnSp>
        <p:nvCxnSpPr>
          <p:cNvPr id="7" name="Straight Arrow Connector 6">
            <a:extLst>
              <a:ext uri="{FF2B5EF4-FFF2-40B4-BE49-F238E27FC236}">
                <a16:creationId xmlns:a16="http://schemas.microsoft.com/office/drawing/2014/main" id="{EAB0C423-BE4C-A41E-2C10-3D57A490E59E}"/>
              </a:ext>
            </a:extLst>
          </p:cNvPr>
          <p:cNvCxnSpPr>
            <a:cxnSpLocks/>
          </p:cNvCxnSpPr>
          <p:nvPr/>
        </p:nvCxnSpPr>
        <p:spPr>
          <a:xfrm>
            <a:off x="3076796" y="2067327"/>
            <a:ext cx="88560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746B0C9-7D14-EA10-629E-791F9E97C2B4}"/>
              </a:ext>
            </a:extLst>
          </p:cNvPr>
          <p:cNvSpPr txBox="1"/>
          <p:nvPr/>
        </p:nvSpPr>
        <p:spPr>
          <a:xfrm>
            <a:off x="4800600" y="2097453"/>
            <a:ext cx="747823" cy="738664"/>
          </a:xfrm>
          <a:prstGeom prst="rect">
            <a:avLst/>
          </a:prstGeom>
          <a:noFill/>
        </p:spPr>
        <p:txBody>
          <a:bodyPr wrap="square" rtlCol="0">
            <a:spAutoFit/>
          </a:bodyPr>
          <a:lstStyle/>
          <a:p>
            <a:r>
              <a:rPr lang="en-US" sz="1400" dirty="0"/>
              <a:t>Biden </a:t>
            </a:r>
            <a:r>
              <a:rPr lang="en-US" sz="1400" b="1" i="1" dirty="0"/>
              <a:t>against</a:t>
            </a:r>
            <a:r>
              <a:rPr lang="en-US" sz="1400" dirty="0"/>
              <a:t> CDC</a:t>
            </a:r>
          </a:p>
        </p:txBody>
      </p:sp>
      <p:cxnSp>
        <p:nvCxnSpPr>
          <p:cNvPr id="10" name="Straight Arrow Connector 9">
            <a:extLst>
              <a:ext uri="{FF2B5EF4-FFF2-40B4-BE49-F238E27FC236}">
                <a16:creationId xmlns:a16="http://schemas.microsoft.com/office/drawing/2014/main" id="{729952E8-525E-2CF7-935A-EF8C65DE146B}"/>
              </a:ext>
            </a:extLst>
          </p:cNvPr>
          <p:cNvCxnSpPr/>
          <p:nvPr/>
        </p:nvCxnSpPr>
        <p:spPr>
          <a:xfrm flipH="1">
            <a:off x="4483396" y="2311002"/>
            <a:ext cx="381000" cy="26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226CBBB-E425-DFAB-E699-4851F3751BE0}"/>
              </a:ext>
            </a:extLst>
          </p:cNvPr>
          <p:cNvSpPr txBox="1"/>
          <p:nvPr/>
        </p:nvSpPr>
        <p:spPr>
          <a:xfrm>
            <a:off x="6576239" y="3429000"/>
            <a:ext cx="609600" cy="523220"/>
          </a:xfrm>
          <a:prstGeom prst="rect">
            <a:avLst/>
          </a:prstGeom>
          <a:noFill/>
        </p:spPr>
        <p:txBody>
          <a:bodyPr wrap="square" rtlCol="0">
            <a:spAutoFit/>
          </a:bodyPr>
          <a:lstStyle/>
          <a:p>
            <a:r>
              <a:rPr lang="en-US" sz="1400" dirty="0"/>
              <a:t>Biden Only</a:t>
            </a:r>
          </a:p>
        </p:txBody>
      </p:sp>
      <p:cxnSp>
        <p:nvCxnSpPr>
          <p:cNvPr id="12" name="Straight Arrow Connector 11">
            <a:extLst>
              <a:ext uri="{FF2B5EF4-FFF2-40B4-BE49-F238E27FC236}">
                <a16:creationId xmlns:a16="http://schemas.microsoft.com/office/drawing/2014/main" id="{B653972C-9FE1-EC12-1180-6466D021AB90}"/>
              </a:ext>
            </a:extLst>
          </p:cNvPr>
          <p:cNvCxnSpPr/>
          <p:nvPr/>
        </p:nvCxnSpPr>
        <p:spPr>
          <a:xfrm flipH="1">
            <a:off x="6195239" y="3690610"/>
            <a:ext cx="381000" cy="26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537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228600"/>
            <a:ext cx="8534400" cy="758952"/>
          </a:xfrm>
        </p:spPr>
        <p:txBody>
          <a:bodyPr>
            <a:normAutofit fontScale="90000"/>
          </a:bodyPr>
          <a:lstStyle/>
          <a:p>
            <a:pPr fontAlgn="auto">
              <a:spcAft>
                <a:spcPts val="0"/>
              </a:spcAft>
            </a:pPr>
            <a:r>
              <a:rPr lang="en-US" dirty="0"/>
              <a:t>Take-Aways from Mixed Messaging Experiment</a:t>
            </a:r>
          </a:p>
        </p:txBody>
      </p:sp>
      <p:sp>
        <p:nvSpPr>
          <p:cNvPr id="3" name="Content Placeholder 2"/>
          <p:cNvSpPr>
            <a:spLocks noGrp="1"/>
          </p:cNvSpPr>
          <p:nvPr>
            <p:ph sz="quarter" idx="1"/>
          </p:nvPr>
        </p:nvSpPr>
        <p:spPr>
          <a:xfrm>
            <a:off x="304800" y="1447800"/>
            <a:ext cx="8610600" cy="5330952"/>
          </a:xfrm>
        </p:spPr>
        <p:txBody>
          <a:bodyPr>
            <a:normAutofit/>
          </a:bodyPr>
          <a:lstStyle/>
          <a:p>
            <a:r>
              <a:rPr lang="en-US" sz="2800" dirty="0"/>
              <a:t>Inconsistency in institutional messaging matters! </a:t>
            </a:r>
          </a:p>
          <a:p>
            <a:r>
              <a:rPr lang="en-US" sz="2800" dirty="0"/>
              <a:t>People update their priors according to the information to which they are exposed.</a:t>
            </a:r>
          </a:p>
          <a:p>
            <a:pPr lvl="1"/>
            <a:r>
              <a:rPr lang="en-US" sz="2300" b="1" dirty="0"/>
              <a:t>But not all information sources are equal.</a:t>
            </a:r>
          </a:p>
          <a:p>
            <a:r>
              <a:rPr lang="en-US" sz="2800" dirty="0"/>
              <a:t>Voters updated their priors on points of uncertainty about the crisis more </a:t>
            </a:r>
            <a:r>
              <a:rPr lang="en-US" sz="2800" b="1" dirty="0"/>
              <a:t>towards CDC than to Trump</a:t>
            </a:r>
          </a:p>
          <a:p>
            <a:pPr lvl="1"/>
            <a:r>
              <a:rPr lang="en-US" sz="2000" dirty="0"/>
              <a:t>NOTE: *when they are exposed to the CDC’s position*</a:t>
            </a:r>
          </a:p>
          <a:p>
            <a:r>
              <a:rPr lang="en-US" sz="2800" dirty="0"/>
              <a:t>Voters updated their priors on points of uncertainty about the crisis more </a:t>
            </a:r>
            <a:r>
              <a:rPr lang="en-US" sz="2800" b="1" dirty="0"/>
              <a:t>towards Biden than to CDC: </a:t>
            </a:r>
            <a:r>
              <a:rPr lang="en-US" sz="2800" dirty="0"/>
              <a:t>attacks on organizational credibility?  </a:t>
            </a:r>
          </a:p>
        </p:txBody>
      </p:sp>
    </p:spTree>
    <p:extLst>
      <p:ext uri="{BB962C8B-B14F-4D97-AF65-F5344CB8AC3E}">
        <p14:creationId xmlns:p14="http://schemas.microsoft.com/office/powerpoint/2010/main" val="160863287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22396</TotalTime>
  <Words>2120</Words>
  <Application>Microsoft Macintosh PowerPoint</Application>
  <PresentationFormat>On-screen Show (4:3)</PresentationFormat>
  <Paragraphs>203</Paragraphs>
  <Slides>24</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Garamond</vt:lpstr>
      <vt:lpstr>Georgia</vt:lpstr>
      <vt:lpstr>Wingdings</vt:lpstr>
      <vt:lpstr>Wingdings 2</vt:lpstr>
      <vt:lpstr>Civic</vt:lpstr>
      <vt:lpstr>PowerPoint Presentation</vt:lpstr>
      <vt:lpstr>PowerPoint Presentation</vt:lpstr>
      <vt:lpstr>PowerPoint Presentation</vt:lpstr>
      <vt:lpstr>An Introduction</vt:lpstr>
      <vt:lpstr>Literature on WTP</vt:lpstr>
      <vt:lpstr>Literature on WTP</vt:lpstr>
      <vt:lpstr>Survey Experiment: Information Treatment</vt:lpstr>
      <vt:lpstr>Treatment: Case Fatality Rates </vt:lpstr>
      <vt:lpstr>Treatment: Vaccine development</vt:lpstr>
      <vt:lpstr>Treatment: Importance of Mask Wearing</vt:lpstr>
      <vt:lpstr>Survey Experiment: Data Collection</vt:lpstr>
      <vt:lpstr>Results for WTP Spending</vt:lpstr>
      <vt:lpstr>Results for WTP Tax Increase</vt:lpstr>
      <vt:lpstr>Results for WTP PHE vs. Economy</vt:lpstr>
      <vt:lpstr>Take-Aways from the Study</vt:lpstr>
      <vt:lpstr>In the end, even Trump changed his position</vt:lpstr>
      <vt:lpstr>Supplementary</vt:lpstr>
      <vt:lpstr>OLM Regression Results (odds ratios)</vt:lpstr>
      <vt:lpstr>Regression Results</vt:lpstr>
      <vt:lpstr>PowerPoint Presentation</vt:lpstr>
      <vt:lpstr>PowerPoint Presentation</vt:lpstr>
      <vt:lpstr>PowerPoint Presentation</vt:lpstr>
      <vt:lpstr>PowerPoint Presentation</vt:lpstr>
      <vt:lpstr>Take-Aways from Mixed Messaging 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Effects of Mixed Institutional Messaging During the COVID-19 Crisis</dc:title>
  <dc:creator>William Resh</dc:creator>
  <cp:lastModifiedBy>Hsu, Yu-Hsin</cp:lastModifiedBy>
  <cp:revision>23</cp:revision>
  <dcterms:created xsi:type="dcterms:W3CDTF">2020-05-06T03:40:39Z</dcterms:created>
  <dcterms:modified xsi:type="dcterms:W3CDTF">2025-11-13T22:50:11Z</dcterms:modified>
</cp:coreProperties>
</file>