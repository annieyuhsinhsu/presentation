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49"/>
  </p:notesMasterIdLst>
  <p:handoutMasterIdLst>
    <p:handoutMasterId r:id="rId50"/>
  </p:handoutMasterIdLst>
  <p:sldIdLst>
    <p:sldId id="314" r:id="rId5"/>
    <p:sldId id="315" r:id="rId6"/>
    <p:sldId id="316" r:id="rId7"/>
    <p:sldId id="317" r:id="rId8"/>
    <p:sldId id="323" r:id="rId9"/>
    <p:sldId id="324" r:id="rId10"/>
    <p:sldId id="319" r:id="rId11"/>
    <p:sldId id="326" r:id="rId12"/>
    <p:sldId id="327" r:id="rId13"/>
    <p:sldId id="328" r:id="rId14"/>
    <p:sldId id="329" r:id="rId15"/>
    <p:sldId id="330" r:id="rId16"/>
    <p:sldId id="351" r:id="rId17"/>
    <p:sldId id="331" r:id="rId18"/>
    <p:sldId id="332" r:id="rId19"/>
    <p:sldId id="335" r:id="rId20"/>
    <p:sldId id="352" r:id="rId21"/>
    <p:sldId id="336" r:id="rId22"/>
    <p:sldId id="337" r:id="rId23"/>
    <p:sldId id="334" r:id="rId24"/>
    <p:sldId id="333" r:id="rId25"/>
    <p:sldId id="340" r:id="rId26"/>
    <p:sldId id="341" r:id="rId27"/>
    <p:sldId id="342" r:id="rId28"/>
    <p:sldId id="338" r:id="rId29"/>
    <p:sldId id="347" r:id="rId30"/>
    <p:sldId id="344" r:id="rId31"/>
    <p:sldId id="348" r:id="rId32"/>
    <p:sldId id="346" r:id="rId33"/>
    <p:sldId id="354" r:id="rId34"/>
    <p:sldId id="355" r:id="rId35"/>
    <p:sldId id="357" r:id="rId36"/>
    <p:sldId id="320" r:id="rId37"/>
    <p:sldId id="343" r:id="rId38"/>
    <p:sldId id="362" r:id="rId39"/>
    <p:sldId id="363" r:id="rId40"/>
    <p:sldId id="373" r:id="rId41"/>
    <p:sldId id="377" r:id="rId42"/>
    <p:sldId id="374" r:id="rId43"/>
    <p:sldId id="358" r:id="rId44"/>
    <p:sldId id="359" r:id="rId45"/>
    <p:sldId id="375" r:id="rId46"/>
    <p:sldId id="349" r:id="rId47"/>
    <p:sldId id="356" r:id="rId4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85">
          <p15:clr>
            <a:srgbClr val="A4A3A4"/>
          </p15:clr>
        </p15:guide>
        <p15:guide id="2" pos="39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9E9A95"/>
    <a:srgbClr val="382E25"/>
    <a:srgbClr val="C17945"/>
    <a:srgbClr val="31526A"/>
    <a:srgbClr val="690304"/>
    <a:srgbClr val="252626"/>
    <a:srgbClr val="A6A6A6"/>
    <a:srgbClr val="C6BFBB"/>
    <a:srgbClr val="ED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4" autoAdjust="0"/>
    <p:restoredTop sz="85758" autoAdjust="0"/>
  </p:normalViewPr>
  <p:slideViewPr>
    <p:cSldViewPr snapToGrid="0" snapToObjects="1">
      <p:cViewPr>
        <p:scale>
          <a:sx n="110" d="100"/>
          <a:sy n="110" d="100"/>
        </p:scale>
        <p:origin x="1912" y="464"/>
      </p:cViewPr>
      <p:guideLst>
        <p:guide orient="horz" pos="3185"/>
        <p:guide pos="3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9" d="100"/>
        <a:sy n="149" d="100"/>
      </p:scale>
      <p:origin x="0" y="0"/>
    </p:cViewPr>
  </p:sorterViewPr>
  <p:notesViewPr>
    <p:cSldViewPr snapToGrid="0" snapToObjects="1">
      <p:cViewPr varScale="1">
        <p:scale>
          <a:sx n="132" d="100"/>
          <a:sy n="132" d="100"/>
        </p:scale>
        <p:origin x="-592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87859BD-4604-2843-976C-9F2DEE3C79DB}" type="datetimeFigureOut">
              <a:rPr lang="en-US" smtClean="0"/>
              <a:t>9/17/26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B64456-6A4C-DF40-836A-7ED7CB7228F1}" type="slidenum">
              <a:rPr lang="en-US" smtClean="0"/>
              <a:t>‹#›</a:t>
            </a:fld>
            <a:endParaRPr lang="en-US"/>
          </a:p>
        </p:txBody>
      </p:sp>
    </p:spTree>
    <p:extLst>
      <p:ext uri="{BB962C8B-B14F-4D97-AF65-F5344CB8AC3E}">
        <p14:creationId xmlns:p14="http://schemas.microsoft.com/office/powerpoint/2010/main" val="26327832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03:02:43.595"/>
    </inkml:context>
    <inkml:brush xml:id="br0">
      <inkml:brushProperty name="width" value="0.035" units="cm"/>
      <inkml:brushProperty name="height" value="0.035" units="cm"/>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108F45-8DB7-E449-85E4-EC04F96DF3AA}" type="datetimeFigureOut">
              <a:rPr lang="en-US" smtClean="0"/>
              <a:t>9/16/26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06D261-4ACC-5E49-97C5-9D8FD2D9A3AF}" type="slidenum">
              <a:rPr lang="en-US" smtClean="0"/>
              <a:t>‹#›</a:t>
            </a:fld>
            <a:endParaRPr lang="en-US"/>
          </a:p>
        </p:txBody>
      </p:sp>
    </p:spTree>
    <p:extLst>
      <p:ext uri="{BB962C8B-B14F-4D97-AF65-F5344CB8AC3E}">
        <p14:creationId xmlns:p14="http://schemas.microsoft.com/office/powerpoint/2010/main" val="194734559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
                <a:srgbClr val="808080"/>
              </a:buClr>
            </a:pPr>
            <a:r>
              <a:rPr lang="en-US" dirty="0"/>
              <a:t>*Central cities retain broader service mandates and legacy costs</a:t>
            </a:r>
          </a:p>
          <a:p>
            <a:pPr>
              <a:buClr>
                <a:srgbClr val="808080"/>
              </a:buClr>
            </a:pPr>
            <a:r>
              <a:rPr lang="en-US" dirty="0"/>
              <a:t>*Fiscal outcomes exhibit strong city–suburb co-movement</a:t>
            </a:r>
          </a:p>
          <a:p>
            <a:r>
              <a:rPr lang="en-US" dirty="0"/>
              <a:t>The average suburban population share rises from roughly 41 percent to 52 percent in this sample. </a:t>
            </a:r>
          </a:p>
          <a:p>
            <a:r>
              <a:rPr lang="en-US" dirty="0"/>
              <a:t>This raises a fiscal question: how do central-city budgets adjust as population and economic activity increasingly locate in the suburbs?</a:t>
            </a:r>
          </a:p>
        </p:txBody>
      </p:sp>
      <p:sp>
        <p:nvSpPr>
          <p:cNvPr id="4" name="Slide Number Placeholder 3"/>
          <p:cNvSpPr>
            <a:spLocks noGrp="1"/>
          </p:cNvSpPr>
          <p:nvPr>
            <p:ph type="sldNum" sz="quarter" idx="5"/>
          </p:nvPr>
        </p:nvSpPr>
        <p:spPr/>
        <p:txBody>
          <a:bodyPr/>
          <a:lstStyle/>
          <a:p>
            <a:fld id="{9706D261-4ACC-5E49-97C5-9D8FD2D9A3AF}" type="slidenum">
              <a:rPr lang="en-US" smtClean="0"/>
              <a:t>3</a:t>
            </a:fld>
            <a:endParaRPr lang="en-US"/>
          </a:p>
        </p:txBody>
      </p:sp>
    </p:spTree>
    <p:extLst>
      <p:ext uri="{BB962C8B-B14F-4D97-AF65-F5344CB8AC3E}">
        <p14:creationId xmlns:p14="http://schemas.microsoft.com/office/powerpoint/2010/main" val="2249897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empirical challenge is to separate directional fiscal response from shared regional economic forces</a:t>
            </a:r>
          </a:p>
          <a:p>
            <a:r>
              <a:rPr lang="en-US" dirty="0"/>
              <a:t>*</a:t>
            </a:r>
            <a:r>
              <a:rPr lang="en-US" b="1" dirty="0"/>
              <a:t>Fiscal spillovers:</a:t>
            </a:r>
            <a:r>
              <a:rPr lang="en-US" dirty="0"/>
              <a:t> Central-city budgets respond to suburban fiscal changes.</a:t>
            </a:r>
          </a:p>
          <a:p>
            <a:r>
              <a:rPr lang="en-US" dirty="0"/>
              <a:t>*Our contribution is to examine both the composition and timing of central-city fiscal responses. </a:t>
            </a:r>
          </a:p>
          <a:p>
            <a:r>
              <a:rPr lang="en-US" dirty="0"/>
              <a:t>*These comparisons help assess whether the evidence supports a persistent revenue–expenditure asymmetry.</a:t>
            </a:r>
          </a:p>
        </p:txBody>
      </p:sp>
      <p:sp>
        <p:nvSpPr>
          <p:cNvPr id="4" name="Slide Number Placeholder 3"/>
          <p:cNvSpPr>
            <a:spLocks noGrp="1"/>
          </p:cNvSpPr>
          <p:nvPr>
            <p:ph type="sldNum" sz="quarter" idx="5"/>
          </p:nvPr>
        </p:nvSpPr>
        <p:spPr/>
        <p:txBody>
          <a:bodyPr/>
          <a:lstStyle/>
          <a:p>
            <a:fld id="{9706D261-4ACC-5E49-97C5-9D8FD2D9A3AF}" type="slidenum">
              <a:rPr lang="en-US" smtClean="0"/>
              <a:t>4</a:t>
            </a:fld>
            <a:endParaRPr lang="en-US"/>
          </a:p>
        </p:txBody>
      </p:sp>
    </p:spTree>
    <p:extLst>
      <p:ext uri="{BB962C8B-B14F-4D97-AF65-F5344CB8AC3E}">
        <p14:creationId xmlns:p14="http://schemas.microsoft.com/office/powerpoint/2010/main" val="2800351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*Revenue–expenditure asymmetry can be consistent with fiscal retention, but it can also reflect adjustment lags or differences in spending responsibilities. </a:t>
            </a:r>
          </a:p>
          <a:p>
            <a:r>
              <a:rPr lang="en-US" dirty="0"/>
              <a:t>*I therefore treat the gap as a mechanism diagnostic that requires further evidence.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(cumulative/lag)</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a:t>
            </a:fld>
            <a:endParaRPr lang="en-US"/>
          </a:p>
        </p:txBody>
      </p:sp>
    </p:spTree>
    <p:extLst>
      <p:ext uri="{BB962C8B-B14F-4D97-AF65-F5344CB8AC3E}">
        <p14:creationId xmlns:p14="http://schemas.microsoft.com/office/powerpoint/2010/main" val="3925609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positive correlation can emerge when governments respond strategically or when they face common shocks. </a:t>
            </a:r>
          </a:p>
          <a:p>
            <a:r>
              <a:rPr lang="en-US" dirty="0"/>
              <a:t>*Division-by-year effects address broad regional shocks, although metropolitan-specific shocks may remain.</a:t>
            </a:r>
          </a:p>
        </p:txBody>
      </p:sp>
      <p:sp>
        <p:nvSpPr>
          <p:cNvPr id="4" name="Slide Number Placeholder 3"/>
          <p:cNvSpPr>
            <a:spLocks noGrp="1"/>
          </p:cNvSpPr>
          <p:nvPr>
            <p:ph type="sldNum" sz="quarter" idx="5"/>
          </p:nvPr>
        </p:nvSpPr>
        <p:spPr/>
        <p:txBody>
          <a:bodyPr/>
          <a:lstStyle/>
          <a:p>
            <a:fld id="{9706D261-4ACC-5E49-97C5-9D8FD2D9A3AF}" type="slidenum">
              <a:rPr lang="en-US" smtClean="0"/>
              <a:t>6</a:t>
            </a:fld>
            <a:endParaRPr lang="en-US"/>
          </a:p>
        </p:txBody>
      </p:sp>
    </p:spTree>
    <p:extLst>
      <p:ext uri="{BB962C8B-B14F-4D97-AF65-F5344CB8AC3E}">
        <p14:creationId xmlns:p14="http://schemas.microsoft.com/office/powerpoint/2010/main" val="1401905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Saiz?</a:t>
            </a:r>
          </a:p>
          <a:p>
            <a:r>
              <a:rPr lang="en-US" sz="1200" dirty="0"/>
              <a:t>*</a:t>
            </a:r>
            <a:r>
              <a:rPr lang="en-US" dirty="0"/>
              <a:t>The labor and housing controls cover smaller samples, so I compare specifications within each matched sample.</a:t>
            </a:r>
          </a:p>
        </p:txBody>
      </p:sp>
      <p:sp>
        <p:nvSpPr>
          <p:cNvPr id="4" name="Slide Number Placeholder 3"/>
          <p:cNvSpPr>
            <a:spLocks noGrp="1"/>
          </p:cNvSpPr>
          <p:nvPr>
            <p:ph type="sldNum" sz="quarter" idx="5"/>
          </p:nvPr>
        </p:nvSpPr>
        <p:spPr/>
        <p:txBody>
          <a:bodyPr/>
          <a:lstStyle/>
          <a:p>
            <a:fld id="{9706D261-4ACC-5E49-97C5-9D8FD2D9A3AF}" type="slidenum">
              <a:rPr lang="en-US" smtClean="0"/>
              <a:t>8</a:t>
            </a:fld>
            <a:endParaRPr lang="en-US"/>
          </a:p>
        </p:txBody>
      </p:sp>
    </p:spTree>
    <p:extLst>
      <p:ext uri="{BB962C8B-B14F-4D97-AF65-F5344CB8AC3E}">
        <p14:creationId xmlns:p14="http://schemas.microsoft.com/office/powerpoint/2010/main" val="1089029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Endogeneity: reverse causality, simultaneity, omitted variables</a:t>
            </a:r>
          </a:p>
          <a:p>
            <a:endParaRPr lang="en-US" dirty="0"/>
          </a:p>
          <a:p>
            <a:r>
              <a:rPr lang="en-US" dirty="0"/>
              <a:t>I first estimate how central-city fiscal outcomes move with suburban fiscal growth. I then examine whether the responses differ across revenue and expenditure categories.</a:t>
            </a:r>
          </a:p>
        </p:txBody>
      </p:sp>
      <p:sp>
        <p:nvSpPr>
          <p:cNvPr id="4" name="Slide Number Placeholder 3"/>
          <p:cNvSpPr>
            <a:spLocks noGrp="1"/>
          </p:cNvSpPr>
          <p:nvPr>
            <p:ph type="sldNum" sz="quarter" idx="5"/>
          </p:nvPr>
        </p:nvSpPr>
        <p:spPr/>
        <p:txBody>
          <a:bodyPr/>
          <a:lstStyle/>
          <a:p>
            <a:fld id="{9706D261-4ACC-5E49-97C5-9D8FD2D9A3AF}" type="slidenum">
              <a:rPr lang="en-US" smtClean="0"/>
              <a:t>9</a:t>
            </a:fld>
            <a:endParaRPr lang="en-US"/>
          </a:p>
        </p:txBody>
      </p:sp>
    </p:spTree>
    <p:extLst>
      <p:ext uri="{BB962C8B-B14F-4D97-AF65-F5344CB8AC3E}">
        <p14:creationId xmlns:p14="http://schemas.microsoft.com/office/powerpoint/2010/main" val="3217595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monetary units: dollars per capita</a:t>
            </a:r>
          </a:p>
          <a:p>
            <a:r>
              <a:rPr lang="en-US" dirty="0"/>
              <a:t>price base year: 2000</a:t>
            </a:r>
          </a:p>
          <a:p>
            <a:r>
              <a:rPr lang="en-US" dirty="0"/>
              <a:t>Central cities have higher fiscal levels than their surrounding suburbs. </a:t>
            </a:r>
          </a:p>
          <a:p>
            <a:r>
              <a:rPr lang="en-US" dirty="0"/>
              <a:t>This provides context for differences in fiscal responsibilities, while the regressions focus on changes over time.</a:t>
            </a:r>
          </a:p>
        </p:txBody>
      </p:sp>
      <p:sp>
        <p:nvSpPr>
          <p:cNvPr id="4" name="Slide Number Placeholder 3"/>
          <p:cNvSpPr>
            <a:spLocks noGrp="1"/>
          </p:cNvSpPr>
          <p:nvPr>
            <p:ph type="sldNum" sz="quarter" idx="5"/>
          </p:nvPr>
        </p:nvSpPr>
        <p:spPr/>
        <p:txBody>
          <a:bodyPr/>
          <a:lstStyle/>
          <a:p>
            <a:fld id="{9706D261-4ACC-5E49-97C5-9D8FD2D9A3AF}" type="slidenum">
              <a:rPr lang="en-US" smtClean="0"/>
              <a:t>10</a:t>
            </a:fld>
            <a:endParaRPr lang="en-US"/>
          </a:p>
        </p:txBody>
      </p:sp>
    </p:spTree>
    <p:extLst>
      <p:ext uri="{BB962C8B-B14F-4D97-AF65-F5344CB8AC3E}">
        <p14:creationId xmlns:p14="http://schemas.microsoft.com/office/powerpoint/2010/main" val="75903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changes the time effects from national to division-specific.</a:t>
            </a:r>
          </a:p>
          <a:p>
            <a:r>
              <a:rPr lang="en-US" dirty="0"/>
              <a:t>The first specification absorbs national year shocks, while the second allows shocks to differ across Census divisions. </a:t>
            </a:r>
          </a:p>
          <a:p>
            <a:r>
              <a:rPr lang="en-US" dirty="0"/>
              <a:t>This comparison shows how sensitive the estimated response is to broader regional conditions.</a:t>
            </a:r>
          </a:p>
        </p:txBody>
      </p:sp>
      <p:sp>
        <p:nvSpPr>
          <p:cNvPr id="4" name="Slide Number Placeholder 3"/>
          <p:cNvSpPr>
            <a:spLocks noGrp="1"/>
          </p:cNvSpPr>
          <p:nvPr>
            <p:ph type="sldNum" sz="quarter" idx="5"/>
          </p:nvPr>
        </p:nvSpPr>
        <p:spPr/>
        <p:txBody>
          <a:bodyPr/>
          <a:lstStyle/>
          <a:p>
            <a:fld id="{9706D261-4ACC-5E49-97C5-9D8FD2D9A3AF}" type="slidenum">
              <a:rPr lang="en-US" smtClean="0"/>
              <a:t>11</a:t>
            </a:fld>
            <a:endParaRPr lang="en-US"/>
          </a:p>
        </p:txBody>
      </p:sp>
    </p:spTree>
    <p:extLst>
      <p:ext uri="{BB962C8B-B14F-4D97-AF65-F5344CB8AC3E}">
        <p14:creationId xmlns:p14="http://schemas.microsoft.com/office/powerpoint/2010/main" val="15127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 draws on suburban fiscal growth outside the central city’s state. </a:t>
            </a:r>
          </a:p>
          <a:p>
            <a:r>
              <a:rPr lang="en-US" dirty="0"/>
              <a:t>*Its relevance is observable in the first stage, while its exclusion restriction requires that remaining external shocks do not directly affect central-city outcomes.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Q: what does the IV actually identify? Ans: Identification comes from the component of suburban fiscal change predicted by external suburban fiscal movements.</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12</a:t>
            </a:fld>
            <a:endParaRPr lang="en-US"/>
          </a:p>
        </p:txBody>
      </p:sp>
    </p:spTree>
    <p:extLst>
      <p:ext uri="{BB962C8B-B14F-4D97-AF65-F5344CB8AC3E}">
        <p14:creationId xmlns:p14="http://schemas.microsoft.com/office/powerpoint/2010/main" val="550978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observation entering the instrument is another MSA’s suburban fiscal aggregate. For Houston, the preferred instrument uses those aggregates from outside Texas.</a:t>
            </a:r>
          </a:p>
        </p:txBody>
      </p:sp>
      <p:sp>
        <p:nvSpPr>
          <p:cNvPr id="4" name="Slide Number Placeholder 3"/>
          <p:cNvSpPr>
            <a:spLocks noGrp="1"/>
          </p:cNvSpPr>
          <p:nvPr>
            <p:ph type="sldNum" sz="quarter" idx="5"/>
          </p:nvPr>
        </p:nvSpPr>
        <p:spPr/>
        <p:txBody>
          <a:bodyPr/>
          <a:lstStyle/>
          <a:p>
            <a:fld id="{9706D261-4ACC-5E49-97C5-9D8FD2D9A3AF}" type="slidenum">
              <a:rPr lang="en-US" smtClean="0"/>
              <a:t>13</a:t>
            </a:fld>
            <a:endParaRPr lang="en-US"/>
          </a:p>
        </p:txBody>
      </p:sp>
    </p:spTree>
    <p:extLst>
      <p:ext uri="{BB962C8B-B14F-4D97-AF65-F5344CB8AC3E}">
        <p14:creationId xmlns:p14="http://schemas.microsoft.com/office/powerpoint/2010/main" val="1982472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out-of-state instrument provides substantially more first-stage information than the in-state instrument in this diagnostic sample. </a:t>
            </a:r>
          </a:p>
          <a:p>
            <a:r>
              <a:rPr lang="en-US" dirty="0"/>
              <a:t>*This motivates the instrument choice, while exclusion remains a separate identifying assumption.</a:t>
            </a:r>
          </a:p>
          <a:p>
            <a:r>
              <a:rPr lang="en-US" dirty="0"/>
              <a:t>Why? </a:t>
            </a:r>
            <a:r>
              <a:rPr lang="en-US" dirty="0" err="1"/>
              <a:t>關鍵是要區分</a:t>
            </a:r>
            <a:r>
              <a:rPr lang="en-US" dirty="0"/>
              <a:t>：「</a:t>
            </a:r>
            <a:r>
              <a:rPr lang="en-US" dirty="0" err="1"/>
              <a:t>同州其他</a:t>
            </a:r>
            <a:r>
              <a:rPr lang="en-US" dirty="0"/>
              <a:t> MSA </a:t>
            </a:r>
            <a:r>
              <a:rPr lang="en-US" dirty="0" err="1"/>
              <a:t>的</a:t>
            </a:r>
            <a:r>
              <a:rPr lang="en-US" dirty="0"/>
              <a:t> suburban fiscal changes </a:t>
            </a:r>
            <a:r>
              <a:rPr lang="en-US" dirty="0" err="1"/>
              <a:t>跟本</a:t>
            </a:r>
            <a:r>
              <a:rPr lang="en-US" dirty="0"/>
              <a:t> MSA suburbs </a:t>
            </a:r>
            <a:r>
              <a:rPr lang="en-US" dirty="0" err="1"/>
              <a:t>可能很</a:t>
            </a:r>
            <a:r>
              <a:rPr lang="en-US" dirty="0"/>
              <a:t> </a:t>
            </a:r>
            <a:r>
              <a:rPr lang="en-US" dirty="0" err="1"/>
              <a:t>correlated」和「在你的</a:t>
            </a:r>
            <a:r>
              <a:rPr lang="en-US" dirty="0"/>
              <a:t> regression controls / FE </a:t>
            </a:r>
            <a:r>
              <a:rPr lang="en-US" dirty="0" err="1"/>
              <a:t>之後，這個</a:t>
            </a:r>
            <a:r>
              <a:rPr lang="en-US" dirty="0"/>
              <a:t> IV </a:t>
            </a:r>
            <a:r>
              <a:rPr lang="en-US" dirty="0" err="1"/>
              <a:t>還剩多少</a:t>
            </a:r>
            <a:r>
              <a:rPr lang="en-US" dirty="0"/>
              <a:t> </a:t>
            </a:r>
            <a:r>
              <a:rPr lang="en-US" i="1" dirty="0"/>
              <a:t>independent identifying variation</a:t>
            </a:r>
            <a:r>
              <a:rPr lang="en-US" dirty="0"/>
              <a:t>」。KP F </a:t>
            </a:r>
            <a:r>
              <a:rPr lang="en-US" dirty="0" err="1"/>
              <a:t>衡量的是後者。Raw</a:t>
            </a:r>
            <a:r>
              <a:rPr lang="en-US" dirty="0"/>
              <a:t> correlation </a:t>
            </a:r>
            <a:r>
              <a:rPr lang="en-US" dirty="0" err="1"/>
              <a:t>確實可能很高，但</a:t>
            </a:r>
            <a:r>
              <a:rPr lang="en-US" dirty="0"/>
              <a:t> conditional first stage </a:t>
            </a:r>
            <a:r>
              <a:rPr lang="en-US" dirty="0" err="1"/>
              <a:t>可以很弱</a:t>
            </a:r>
            <a:r>
              <a:rPr lang="en-US" dirty="0"/>
              <a:t>。</a:t>
            </a:r>
            <a:br>
              <a:rPr lang="en-US" dirty="0"/>
            </a:br>
            <a:r>
              <a:rPr lang="en-US" dirty="0"/>
              <a:t>1. In-state IV </a:t>
            </a:r>
            <a:r>
              <a:rPr lang="en-US" dirty="0" err="1"/>
              <a:t>的</a:t>
            </a:r>
            <a:r>
              <a:rPr lang="en-US" dirty="0"/>
              <a:t> variation </a:t>
            </a:r>
            <a:r>
              <a:rPr lang="en-US" dirty="0" err="1"/>
              <a:t>很容易被</a:t>
            </a:r>
            <a:r>
              <a:rPr lang="en-US" dirty="0"/>
              <a:t> year / regional FE </a:t>
            </a:r>
            <a:r>
              <a:rPr lang="en-US" dirty="0" err="1"/>
              <a:t>吃掉</a:t>
            </a:r>
            <a:r>
              <a:rPr lang="en-US" dirty="0"/>
              <a:t>: In-state fiscal variables can be highly correlated in levels or raw changes, while having little residual predictive power after fixed effects.</a:t>
            </a:r>
          </a:p>
          <a:p>
            <a:r>
              <a:rPr lang="en-US" dirty="0"/>
              <a:t>2. In-state IV </a:t>
            </a:r>
            <a:r>
              <a:rPr lang="en-US" dirty="0" err="1"/>
              <a:t>的</a:t>
            </a:r>
            <a:r>
              <a:rPr lang="en-US" dirty="0"/>
              <a:t> effective peer group </a:t>
            </a:r>
            <a:r>
              <a:rPr lang="en-US" dirty="0" err="1"/>
              <a:t>很小</a:t>
            </a:r>
            <a:r>
              <a:rPr lang="en-US" dirty="0"/>
              <a:t>: </a:t>
            </a:r>
            <a:r>
              <a:rPr lang="en-US" dirty="0" err="1"/>
              <a:t>如果某個</a:t>
            </a:r>
            <a:r>
              <a:rPr lang="en-US" dirty="0"/>
              <a:t> state </a:t>
            </a:r>
            <a:r>
              <a:rPr lang="en-US" dirty="0" err="1"/>
              <a:t>在你的</a:t>
            </a:r>
            <a:r>
              <a:rPr lang="en-US" dirty="0"/>
              <a:t> top-quartile MSA sample </a:t>
            </a:r>
            <a:r>
              <a:rPr lang="en-US" dirty="0" err="1"/>
              <a:t>裡只有</a:t>
            </a:r>
            <a:r>
              <a:rPr lang="en-US" dirty="0"/>
              <a:t> </a:t>
            </a:r>
            <a:r>
              <a:rPr lang="en-US" b="1" dirty="0"/>
              <a:t>2–3 </a:t>
            </a:r>
            <a:r>
              <a:rPr lang="en-US" b="1" dirty="0" err="1"/>
              <a:t>MSAs</a:t>
            </a:r>
            <a:r>
              <a:rPr lang="en-US" dirty="0" err="1"/>
              <a:t>，那對每個</a:t>
            </a:r>
            <a:r>
              <a:rPr lang="en-US" dirty="0"/>
              <a:t> MSA </a:t>
            </a:r>
            <a:r>
              <a:rPr lang="en-US" dirty="0" err="1"/>
              <a:t>而言，in-state</a:t>
            </a:r>
            <a:r>
              <a:rPr lang="en-US" dirty="0"/>
              <a:t> instrument </a:t>
            </a:r>
            <a:r>
              <a:rPr lang="en-US" dirty="0" err="1"/>
              <a:t>可能其實只是由</a:t>
            </a:r>
            <a:r>
              <a:rPr lang="en-US" dirty="0"/>
              <a:t> </a:t>
            </a:r>
            <a:r>
              <a:rPr lang="en-US" b="1" dirty="0"/>
              <a:t>1–2 </a:t>
            </a:r>
            <a:r>
              <a:rPr lang="en-US" b="1" dirty="0" err="1"/>
              <a:t>個</a:t>
            </a:r>
            <a:r>
              <a:rPr lang="en-US" b="1" dirty="0"/>
              <a:t> other MSAs</a:t>
            </a:r>
            <a:r>
              <a:rPr lang="en-US" dirty="0"/>
              <a:t> construct </a:t>
            </a:r>
            <a:r>
              <a:rPr lang="en-US" dirty="0" err="1"/>
              <a:t>出來。所以雖然</a:t>
            </a:r>
            <a:r>
              <a:rPr lang="en-US" dirty="0"/>
              <a:t> geographically/institutionally </a:t>
            </a:r>
            <a:r>
              <a:rPr lang="en-US" dirty="0" err="1"/>
              <a:t>它們很</a:t>
            </a:r>
            <a:r>
              <a:rPr lang="en-US" dirty="0"/>
              <a:t> </a:t>
            </a:r>
            <a:r>
              <a:rPr lang="en-US" dirty="0" err="1"/>
              <a:t>related，statistically</a:t>
            </a:r>
            <a:r>
              <a:rPr lang="en-US" dirty="0"/>
              <a:t> </a:t>
            </a:r>
            <a:r>
              <a:rPr lang="en-US" dirty="0" err="1"/>
              <a:t>它其實是個</a:t>
            </a:r>
            <a:r>
              <a:rPr lang="en-US" dirty="0"/>
              <a:t> </a:t>
            </a:r>
            <a:r>
              <a:rPr lang="en-US" b="1" dirty="0"/>
              <a:t>noisy leave-one-out measure</a:t>
            </a:r>
            <a:r>
              <a:rPr lang="en-US" dirty="0"/>
              <a:t>。</a:t>
            </a:r>
          </a:p>
          <a:p>
            <a:r>
              <a:rPr lang="en-US" dirty="0"/>
              <a:t>* </a:t>
            </a:r>
            <a:r>
              <a:rPr lang="en-US" b="1" dirty="0"/>
              <a:t>out-state isolates variation that is less mechanically tied to the focal city's state-level fiscal environment</a:t>
            </a:r>
            <a:r>
              <a:rPr lang="en-US" dirty="0"/>
              <a:t>。</a:t>
            </a:r>
          </a:p>
        </p:txBody>
      </p:sp>
      <p:sp>
        <p:nvSpPr>
          <p:cNvPr id="4" name="Slide Number Placeholder 3"/>
          <p:cNvSpPr>
            <a:spLocks noGrp="1"/>
          </p:cNvSpPr>
          <p:nvPr>
            <p:ph type="sldNum" sz="quarter" idx="5"/>
          </p:nvPr>
        </p:nvSpPr>
        <p:spPr/>
        <p:txBody>
          <a:bodyPr/>
          <a:lstStyle/>
          <a:p>
            <a:fld id="{9706D261-4ACC-5E49-97C5-9D8FD2D9A3AF}" type="slidenum">
              <a:rPr lang="en-US" smtClean="0"/>
              <a:t>14</a:t>
            </a:fld>
            <a:endParaRPr lang="en-US"/>
          </a:p>
        </p:txBody>
      </p:sp>
    </p:spTree>
    <p:extLst>
      <p:ext uri="{BB962C8B-B14F-4D97-AF65-F5344CB8AC3E}">
        <p14:creationId xmlns:p14="http://schemas.microsoft.com/office/powerpoint/2010/main" val="2990059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Q: </a:t>
            </a:r>
            <a:r>
              <a:rPr lang="en-US" sz="1200" dirty="0"/>
              <a:t>When suburban fiscal activity increases, how do central cities respond?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benchmark results suggest that central cities respond more strongly on the revenue side than on the expenditure side. The natural next question is: where does that tax response come from?”</a:t>
            </a:r>
          </a:p>
          <a:p>
            <a:r>
              <a:rPr lang="en-US" dirty="0"/>
              <a:t>Tax revenue has a larger estimated response than basic expenditure in the benchmark comparisons. </a:t>
            </a:r>
          </a:p>
          <a:p>
            <a:r>
              <a:rPr lang="en-US" dirty="0"/>
              <a:t>The reduction under division-by-year effects shows that the magnitude is sensitive to how we account for regional conditions.</a:t>
            </a:r>
          </a:p>
        </p:txBody>
      </p:sp>
      <p:sp>
        <p:nvSpPr>
          <p:cNvPr id="4" name="Slide Number Placeholder 3"/>
          <p:cNvSpPr>
            <a:spLocks noGrp="1"/>
          </p:cNvSpPr>
          <p:nvPr>
            <p:ph type="sldNum" sz="quarter" idx="5"/>
          </p:nvPr>
        </p:nvSpPr>
        <p:spPr/>
        <p:txBody>
          <a:bodyPr/>
          <a:lstStyle/>
          <a:p>
            <a:fld id="{9706D261-4ACC-5E49-97C5-9D8FD2D9A3AF}" type="slidenum">
              <a:rPr lang="en-US" smtClean="0"/>
              <a:t>16</a:t>
            </a:fld>
            <a:endParaRPr lang="en-US"/>
          </a:p>
        </p:txBody>
      </p:sp>
    </p:spTree>
    <p:extLst>
      <p:ext uri="{BB962C8B-B14F-4D97-AF65-F5344CB8AC3E}">
        <p14:creationId xmlns:p14="http://schemas.microsoft.com/office/powerpoint/2010/main" val="4030211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2C770-11D1-2C46-1910-EF9FDCB1E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25D2B-6E56-0F32-FDAB-BB9615DEE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42E84-C312-B8CA-B3EA-2644C81F1EB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Regional-controls ladder table: </a:t>
            </a:r>
            <a:r>
              <a:rPr lang="en-US" sz="1200" b="1" dirty="0"/>
              <a:t>out-state IV only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r>
              <a:rPr lang="en-US" dirty="0"/>
              <a:t>*Within the labor and housing samples, adding the observed regional controls changes the estimates very little. </a:t>
            </a:r>
          </a:p>
          <a:p>
            <a:r>
              <a:rPr lang="en-US" dirty="0"/>
              <a:t>*Division-by-year effects have a larger influence, suggesting that these observed controls do not capture all of the relevant regional variation.</a:t>
            </a:r>
          </a:p>
        </p:txBody>
      </p:sp>
      <p:sp>
        <p:nvSpPr>
          <p:cNvPr id="4" name="Slide Number Placeholder 3">
            <a:extLst>
              <a:ext uri="{FF2B5EF4-FFF2-40B4-BE49-F238E27FC236}">
                <a16:creationId xmlns:a16="http://schemas.microsoft.com/office/drawing/2014/main" id="{FA0DBECC-8911-08E3-EB91-DADCF7659314}"/>
              </a:ext>
            </a:extLst>
          </p:cNvPr>
          <p:cNvSpPr>
            <a:spLocks noGrp="1"/>
          </p:cNvSpPr>
          <p:nvPr>
            <p:ph type="sldNum" sz="quarter" idx="5"/>
          </p:nvPr>
        </p:nvSpPr>
        <p:spPr/>
        <p:txBody>
          <a:bodyPr/>
          <a:lstStyle/>
          <a:p>
            <a:fld id="{9706D261-4ACC-5E49-97C5-9D8FD2D9A3AF}" type="slidenum">
              <a:rPr lang="en-US" smtClean="0"/>
              <a:t>17</a:t>
            </a:fld>
            <a:endParaRPr lang="en-US"/>
          </a:p>
        </p:txBody>
      </p:sp>
    </p:spTree>
    <p:extLst>
      <p:ext uri="{BB962C8B-B14F-4D97-AF65-F5344CB8AC3E}">
        <p14:creationId xmlns:p14="http://schemas.microsoft.com/office/powerpoint/2010/main" val="4239012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Which tax categories are driving the aggregate tax response?</a:t>
            </a:r>
          </a:p>
          <a:p>
            <a:r>
              <a:rPr lang="en-US" sz="1200" dirty="0"/>
              <a:t>“The aggregate tax response is not coming uniformly from all revenue sources. It appears to be concentrated in property and sales taxes, while the income-tax response is essentially zero.”</a:t>
            </a:r>
          </a:p>
          <a:p>
            <a:r>
              <a:rPr lang="en-US" sz="1200" dirty="0"/>
              <a:t>“So far these are contemporaneous responses. But if this is a meaningful fiscal adjustment rather than a one-year fluctuation, we should also ask whether the response accumulates over time.”</a:t>
            </a:r>
          </a:p>
          <a:p>
            <a:r>
              <a:rPr lang="en-US" sz="1200" dirty="0"/>
              <a:t>Regional-year effects attenuate magnitudes, but total, property, and sales tax responses remain positive.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positive estimates are clearest for property and sales tax revenues. These results identify the revenue categories involved, although they do not separately identify changes in tax rates and tax bases.</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18</a:t>
            </a:fld>
            <a:endParaRPr lang="en-US"/>
          </a:p>
        </p:txBody>
      </p:sp>
    </p:spTree>
    <p:extLst>
      <p:ext uri="{BB962C8B-B14F-4D97-AF65-F5344CB8AC3E}">
        <p14:creationId xmlns:p14="http://schemas.microsoft.com/office/powerpoint/2010/main" val="1946945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equality table </a:t>
            </a:r>
            <a:r>
              <a:rPr lang="en-US" dirty="0" err="1"/>
              <a:t>顯示：在</a:t>
            </a:r>
            <a:r>
              <a:rPr lang="en-US" dirty="0"/>
              <a:t> Division-by-year FE </a:t>
            </a:r>
            <a:r>
              <a:rPr lang="en-US" dirty="0" err="1"/>
              <a:t>下，Tax</a:t>
            </a:r>
            <a:r>
              <a:rPr lang="en-US" dirty="0"/>
              <a:t>–BE </a:t>
            </a:r>
            <a:r>
              <a:rPr lang="en-US" dirty="0" err="1"/>
              <a:t>差距到</a:t>
            </a:r>
            <a:r>
              <a:rPr lang="en-US" dirty="0"/>
              <a:t> cumulative horizon </a:t>
            </a:r>
            <a:r>
              <a:rPr lang="en-US" dirty="0" err="1"/>
              <a:t>已經不顯著了</a:t>
            </a:r>
            <a:r>
              <a:rPr lang="en-US" dirty="0"/>
              <a:t>。</a:t>
            </a: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Figure 3 — Dynamic cumulative response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Does the fiscal response persist or accumulate?</a:t>
            </a:r>
          </a:p>
          <a:p>
            <a:r>
              <a:rPr lang="en-US" sz="1200" dirty="0"/>
              <a:t>“The revenue response is not purely contemporaneous. </a:t>
            </a:r>
          </a:p>
          <a:p>
            <a:r>
              <a:rPr lang="en-US" sz="1200" dirty="0"/>
              <a:t>Under both specifications, the cumulative tax response remains positive over the next two years. </a:t>
            </a:r>
          </a:p>
          <a:p>
            <a:r>
              <a:rPr lang="en-US" sz="1200" dirty="0"/>
              <a:t>Basic expenditure also rises, but the revenue response is generally larger, especially under the simpler Year FE specification.”</a:t>
            </a:r>
          </a:p>
          <a:p>
            <a:r>
              <a:rPr lang="en-US" sz="1200" dirty="0"/>
              <a:t>“This pattern is consistent with a revenue response that is not fully translated into basic expenditure, although the gap becomes less sharp under stronger regional controls.”</a:t>
            </a:r>
          </a:p>
          <a:p>
            <a:r>
              <a:rPr lang="en-US" sz="1200" dirty="0"/>
              <a:t>With year FE, cumulative Tax exceeds BE through t+2.</a:t>
            </a:r>
          </a:p>
          <a:p>
            <a:r>
              <a:rPr lang="en-US" sz="1200" dirty="0"/>
              <a:t>With regional-year FE, the responses converge after t. </a:t>
            </a:r>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19</a:t>
            </a:fld>
            <a:endParaRPr lang="en-US"/>
          </a:p>
        </p:txBody>
      </p:sp>
    </p:spTree>
    <p:extLst>
      <p:ext uri="{BB962C8B-B14F-4D97-AF65-F5344CB8AC3E}">
        <p14:creationId xmlns:p14="http://schemas.microsoft.com/office/powerpoint/2010/main" val="1480244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drawing an economic interpretation from these patterns, I address three alternative explanations.</a:t>
            </a:r>
          </a:p>
        </p:txBody>
      </p:sp>
      <p:sp>
        <p:nvSpPr>
          <p:cNvPr id="4" name="Slide Number Placeholder 3"/>
          <p:cNvSpPr>
            <a:spLocks noGrp="1"/>
          </p:cNvSpPr>
          <p:nvPr>
            <p:ph type="sldNum" sz="quarter" idx="5"/>
          </p:nvPr>
        </p:nvSpPr>
        <p:spPr/>
        <p:txBody>
          <a:bodyPr/>
          <a:lstStyle/>
          <a:p>
            <a:fld id="{9706D261-4ACC-5E49-97C5-9D8FD2D9A3AF}" type="slidenum">
              <a:rPr lang="en-US" smtClean="0"/>
              <a:t>20</a:t>
            </a:fld>
            <a:endParaRPr lang="en-US"/>
          </a:p>
        </p:txBody>
      </p:sp>
    </p:spTree>
    <p:extLst>
      <p:ext uri="{BB962C8B-B14F-4D97-AF65-F5344CB8AC3E}">
        <p14:creationId xmlns:p14="http://schemas.microsoft.com/office/powerpoint/2010/main" val="1057321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Reverse timing/pre-trend concern:</a:t>
            </a:r>
            <a:br>
              <a:rPr lang="en-US" sz="1200" dirty="0"/>
            </a:br>
            <a:r>
              <a:rPr lang="en-US" dirty="0"/>
              <a:t>“Fundamental concern: Could central-city outcomes have moved before the suburban fiscal change?”</a:t>
            </a:r>
          </a:p>
          <a:p>
            <a:r>
              <a:rPr lang="en-US" dirty="0"/>
              <a:t>“Before interpreting these patterns economically, I want to address three alternative explanations. The first is reverse timing.”</a:t>
            </a:r>
          </a:p>
          <a:p>
            <a:r>
              <a:rPr lang="en-US" dirty="0"/>
              <a:t>“The pre-outcomes are individually and jointly insignificant, which is reassuring against a simple reverse-timing story.”</a:t>
            </a:r>
          </a:p>
          <a:p>
            <a:endParaRPr lang="en-US" dirty="0"/>
          </a:p>
          <a:p>
            <a:r>
              <a:rPr lang="en-US" dirty="0"/>
              <a:t>“The second concern is whether the apparent revenue–expenditure asymmetry is actually statistically distinguishable.”</a:t>
            </a:r>
          </a:p>
          <a:p>
            <a:r>
              <a:rPr lang="en-US" dirty="0"/>
              <a:t>*Neither the individual nor the joint placebo tests reject zero coefficients on earlier city fiscal outcomes. </a:t>
            </a:r>
          </a:p>
          <a:p>
            <a:r>
              <a:rPr lang="en-US" dirty="0"/>
              <a:t>*These results are reassuring about timing, although they do not establish the exclusion restriction.</a:t>
            </a:r>
          </a:p>
        </p:txBody>
      </p:sp>
      <p:sp>
        <p:nvSpPr>
          <p:cNvPr id="4" name="Slide Number Placeholder 3"/>
          <p:cNvSpPr>
            <a:spLocks noGrp="1"/>
          </p:cNvSpPr>
          <p:nvPr>
            <p:ph type="sldNum" sz="quarter" idx="5"/>
          </p:nvPr>
        </p:nvSpPr>
        <p:spPr/>
        <p:txBody>
          <a:bodyPr/>
          <a:lstStyle/>
          <a:p>
            <a:fld id="{9706D261-4ACC-5E49-97C5-9D8FD2D9A3AF}" type="slidenum">
              <a:rPr lang="en-US" smtClean="0"/>
              <a:t>21</a:t>
            </a:fld>
            <a:endParaRPr lang="en-US"/>
          </a:p>
        </p:txBody>
      </p:sp>
    </p:spTree>
    <p:extLst>
      <p:ext uri="{BB962C8B-B14F-4D97-AF65-F5344CB8AC3E}">
        <p14:creationId xmlns:p14="http://schemas.microsoft.com/office/powerpoint/2010/main" val="4084338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check: Are tax and basic expenditure really different??”</a:t>
            </a:r>
          </a:p>
          <a:p>
            <a:r>
              <a:rPr lang="en-US" dirty="0"/>
              <a:t>“At the contemporaneous horizon, the difference is significant under both FE specifications. But once we move to cumulative horizons, the two become statistically indistinguishable under the stronger fixed effects.”</a:t>
            </a:r>
          </a:p>
          <a:p>
            <a:r>
              <a:rPr lang="en-US" dirty="0"/>
              <a:t>“The strongest evidence for revenue–expenditure asymmetry is contemporaneous; over longer horizons, the distinction weakens once we absorb division-specific time shocks.”</a:t>
            </a:r>
          </a:p>
          <a:p>
            <a:endParaRPr lang="en-US" dirty="0"/>
          </a:p>
          <a:p>
            <a:r>
              <a:rPr lang="en-US" dirty="0"/>
              <a:t>“That raises a third question: could the cumulative pattern simply reflect persistence in city fiscal variables themselves?”</a:t>
            </a:r>
          </a:p>
          <a:p>
            <a:r>
              <a:rPr lang="en-US" dirty="0"/>
              <a:t>*The contemporaneous tax response exceeds the basic expenditure response under both fixed-effects specifications. With division-by-year effects, the cumulative differences are no longer statistically significant, but the equivalence test still does not establish that the responses lie within 0.10 of each other.</a:t>
            </a:r>
          </a:p>
        </p:txBody>
      </p:sp>
      <p:sp>
        <p:nvSpPr>
          <p:cNvPr id="4" name="Slide Number Placeholder 3"/>
          <p:cNvSpPr>
            <a:spLocks noGrp="1"/>
          </p:cNvSpPr>
          <p:nvPr>
            <p:ph type="sldNum" sz="quarter" idx="5"/>
          </p:nvPr>
        </p:nvSpPr>
        <p:spPr/>
        <p:txBody>
          <a:bodyPr/>
          <a:lstStyle/>
          <a:p>
            <a:fld id="{9706D261-4ACC-5E49-97C5-9D8FD2D9A3AF}" type="slidenum">
              <a:rPr lang="en-US" smtClean="0"/>
              <a:t>22</a:t>
            </a:fld>
            <a:endParaRPr lang="en-US"/>
          </a:p>
        </p:txBody>
      </p:sp>
    </p:spTree>
    <p:extLst>
      <p:ext uri="{BB962C8B-B14F-4D97-AF65-F5344CB8AC3E}">
        <p14:creationId xmlns:p14="http://schemas.microsoft.com/office/powerpoint/2010/main" val="4240052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city tax today predicts city tax tomorrow, so your cumulative effect is mechanical.”</a:t>
            </a:r>
          </a:p>
          <a:p>
            <a:r>
              <a:rPr lang="en-US" dirty="0"/>
              <a:t>“Adding lagged city tax and basic expenditure barely changes either the coefficients or the first-stage strength.”</a:t>
            </a:r>
          </a:p>
          <a:p>
            <a:r>
              <a:rPr lang="en-US" dirty="0"/>
              <a:t>“So the cumulative pattern does not appear to be driven simply by fiscal persistence.”</a:t>
            </a:r>
          </a:p>
          <a:p>
            <a:r>
              <a:rPr lang="en-US" dirty="0"/>
              <a:t>*The coefficients remain similar when lagged city Tax and BE are included. Because the lagged-control specification uses a smaller sample, this comparison combines the effects of adding controls and changing the sample.</a:t>
            </a:r>
          </a:p>
        </p:txBody>
      </p:sp>
      <p:sp>
        <p:nvSpPr>
          <p:cNvPr id="4" name="Slide Number Placeholder 3"/>
          <p:cNvSpPr>
            <a:spLocks noGrp="1"/>
          </p:cNvSpPr>
          <p:nvPr>
            <p:ph type="sldNum" sz="quarter" idx="5"/>
          </p:nvPr>
        </p:nvSpPr>
        <p:spPr/>
        <p:txBody>
          <a:bodyPr/>
          <a:lstStyle/>
          <a:p>
            <a:fld id="{9706D261-4ACC-5E49-97C5-9D8FD2D9A3AF}" type="slidenum">
              <a:rPr lang="en-US" smtClean="0"/>
              <a:t>23</a:t>
            </a:fld>
            <a:endParaRPr lang="en-US"/>
          </a:p>
        </p:txBody>
      </p:sp>
    </p:spTree>
    <p:extLst>
      <p:ext uri="{BB962C8B-B14F-4D97-AF65-F5344CB8AC3E}">
        <p14:creationId xmlns:p14="http://schemas.microsoft.com/office/powerpoint/2010/main" val="3730342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CD69-4019-CB41-1802-6DD08FA41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8E424-233A-D114-0F90-F7B2C70EF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4F009-5F6A-0C59-D6C1-59E0CE45DF92}"/>
              </a:ext>
            </a:extLst>
          </p:cNvPr>
          <p:cNvSpPr>
            <a:spLocks noGrp="1"/>
          </p:cNvSpPr>
          <p:nvPr>
            <p:ph type="body" idx="1"/>
          </p:nvPr>
        </p:nvSpPr>
        <p:spPr/>
        <p:txBody>
          <a:bodyPr/>
          <a:lstStyle/>
          <a:p>
            <a:pPr lvl="0"/>
            <a:r>
              <a:rPr lang="en-US" sz="1200" b="1" dirty="0"/>
              <a:t>2007:</a:t>
            </a:r>
            <a:r>
              <a:rPr lang="en-US" sz="1200" dirty="0"/>
              <a:t> New Jersey limited annual property-tax levy growth to 4% for municipalities, counties, and fire districts, subject to waivers and statutory exclusions. </a:t>
            </a:r>
          </a:p>
          <a:p>
            <a:pPr lvl="0"/>
            <a:r>
              <a:rPr lang="en-US" sz="1200" b="1" dirty="0"/>
              <a:t>2010:</a:t>
            </a:r>
            <a:r>
              <a:rPr lang="en-US" sz="1200" dirty="0"/>
              <a:t> The cap was tightened to 2%, with fewer waivers and modified exclusions.</a:t>
            </a:r>
          </a:p>
          <a:p>
            <a:r>
              <a:rPr lang="en-US" sz="1200" b="1" dirty="0"/>
              <a:t>Identification:</a:t>
            </a:r>
            <a:r>
              <a:rPr lang="en-US" sz="1200" dirty="0"/>
              <a:t> Compare fiscal outcomes across suburban governments exposed to the same metropolitan economy but located on opposite sides of the New Jersey–Pennsylvania policy border.</a:t>
            </a:r>
            <a:endParaRPr lang="en-US" sz="1200" b="1" dirty="0"/>
          </a:p>
          <a:p>
            <a:r>
              <a:rPr lang="en-US" sz="1200" b="1" dirty="0"/>
              <a:t>External validation:</a:t>
            </a:r>
            <a:r>
              <a:rPr lang="en-US" sz="1200" dirty="0"/>
              <a:t> We additionally examine New Jersey’s 2007 and 2010 levy caps within the Philadelphia metropolitan area, providing a second policy setting with a different statutory mechanism.</a:t>
            </a:r>
          </a:p>
          <a:p>
            <a:r>
              <a:rPr lang="en-US" dirty="0"/>
              <a:t>This setting provides policy variation across suburbs within the same metropolitan economy. The first task is to establish the suburban fiscal response, followed by a credible comparison for Philadelphia’s own response.</a:t>
            </a:r>
          </a:p>
        </p:txBody>
      </p:sp>
      <p:sp>
        <p:nvSpPr>
          <p:cNvPr id="4" name="Slide Number Placeholder 3">
            <a:extLst>
              <a:ext uri="{FF2B5EF4-FFF2-40B4-BE49-F238E27FC236}">
                <a16:creationId xmlns:a16="http://schemas.microsoft.com/office/drawing/2014/main" id="{FB76B99D-185A-EFE4-AD1B-CA400277BAA6}"/>
              </a:ext>
            </a:extLst>
          </p:cNvPr>
          <p:cNvSpPr>
            <a:spLocks noGrp="1"/>
          </p:cNvSpPr>
          <p:nvPr>
            <p:ph type="sldNum" sz="quarter" idx="5"/>
          </p:nvPr>
        </p:nvSpPr>
        <p:spPr/>
        <p:txBody>
          <a:bodyPr/>
          <a:lstStyle/>
          <a:p>
            <a:fld id="{9706D261-4ACC-5E49-97C5-9D8FD2D9A3AF}" type="slidenum">
              <a:rPr lang="en-US" smtClean="0"/>
              <a:t>26</a:t>
            </a:fld>
            <a:endParaRPr lang="en-US"/>
          </a:p>
        </p:txBody>
      </p:sp>
    </p:spTree>
    <p:extLst>
      <p:ext uri="{BB962C8B-B14F-4D97-AF65-F5344CB8AC3E}">
        <p14:creationId xmlns:p14="http://schemas.microsoft.com/office/powerpoint/2010/main" val="26270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instrument</a:t>
            </a:r>
          </a:p>
          <a:p>
            <a:r>
              <a:rPr lang="en-US" dirty="0"/>
              <a:t>The proposed exposure measure combines predetermined suburban exposure with the timing of the cap reforms. Historical worksheets are still needed to distinguish statutory bindingness from a proxy based on earlier levy growth.</a:t>
            </a:r>
          </a:p>
        </p:txBody>
      </p:sp>
      <p:sp>
        <p:nvSpPr>
          <p:cNvPr id="4" name="Slide Number Placeholder 3"/>
          <p:cNvSpPr>
            <a:spLocks noGrp="1"/>
          </p:cNvSpPr>
          <p:nvPr>
            <p:ph type="sldNum" sz="quarter" idx="5"/>
          </p:nvPr>
        </p:nvSpPr>
        <p:spPr/>
        <p:txBody>
          <a:bodyPr/>
          <a:lstStyle/>
          <a:p>
            <a:fld id="{9706D261-4ACC-5E49-97C5-9D8FD2D9A3AF}" type="slidenum">
              <a:rPr lang="en-US" smtClean="0"/>
              <a:t>27</a:t>
            </a:fld>
            <a:endParaRPr lang="en-US"/>
          </a:p>
        </p:txBody>
      </p:sp>
    </p:spTree>
    <p:extLst>
      <p:ext uri="{BB962C8B-B14F-4D97-AF65-F5344CB8AC3E}">
        <p14:creationId xmlns:p14="http://schemas.microsoft.com/office/powerpoint/2010/main" val="316772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78C7-CB91-87D1-EBEF-19B191A21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0A730-43B1-5C36-4DE0-C9A6343F8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BDF7E-41C6-714D-99BB-0F20BBB78E8C}"/>
              </a:ext>
            </a:extLst>
          </p:cNvPr>
          <p:cNvSpPr>
            <a:spLocks noGrp="1"/>
          </p:cNvSpPr>
          <p:nvPr>
            <p:ph type="body" idx="1"/>
          </p:nvPr>
        </p:nvSpPr>
        <p:spPr/>
        <p:txBody>
          <a:bodyPr/>
          <a:lstStyle/>
          <a:p>
            <a:r>
              <a:rPr lang="en-US" dirty="0"/>
              <a:t>Not causal event-study evidence.</a:t>
            </a:r>
          </a:p>
          <a:p>
            <a:r>
              <a:rPr lang="en-US" b="1" dirty="0"/>
              <a:t>It should be: Descriptive first-stage pattern</a:t>
            </a:r>
            <a:endParaRPr lang="en-US" dirty="0"/>
          </a:p>
          <a:p>
            <a:r>
              <a:rPr lang="en-US" dirty="0"/>
              <a:t>Or </a:t>
            </a:r>
            <a:r>
              <a:rPr lang="en-US" b="1" dirty="0"/>
              <a:t>Evolution of the bindingness gradient around the reforms</a:t>
            </a:r>
            <a:endParaRPr lang="en-US" dirty="0"/>
          </a:p>
          <a:p>
            <a:r>
              <a:rPr lang="en-US" dirty="0"/>
              <a:t>And say:</a:t>
            </a:r>
          </a:p>
          <a:p>
            <a:r>
              <a:rPr lang="en-US" dirty="0"/>
              <a:t>“This is not yet the reduced-form treatment effect. It documents whether predetermined statutory exposure translates into differential levy growth around the two reforms.”</a:t>
            </a:r>
          </a:p>
          <a:p>
            <a:pPr lvl="0"/>
            <a:r>
              <a:rPr lang="en-US" dirty="0"/>
              <a:t>Municipalities with greater pre-reform bindingness exhibit systematically different levy paths around the 2007 introduction and the 2010 tightening. </a:t>
            </a:r>
          </a:p>
          <a:p>
            <a:pPr lvl="0"/>
            <a:r>
              <a:rPr lang="en-US" dirty="0"/>
              <a:t>The institutional design uses this predetermined cross-sectional exposure—not the statutory reform dates alone—to isolate differential treatment intensity.</a:t>
            </a:r>
          </a:p>
          <a:p>
            <a:pPr lvl="0"/>
            <a:r>
              <a:rPr lang="en-US" dirty="0"/>
              <a:t>Say: This graph documents how levy paths differ across the exposure measure, including substantial differences before the reform. I therefore treat it as a preliminary diagnostic while refining the exposure construction and counterfactual.</a:t>
            </a:r>
          </a:p>
          <a:p>
            <a:endParaRPr lang="en-US" dirty="0"/>
          </a:p>
        </p:txBody>
      </p:sp>
      <p:sp>
        <p:nvSpPr>
          <p:cNvPr id="4" name="Slide Number Placeholder 3">
            <a:extLst>
              <a:ext uri="{FF2B5EF4-FFF2-40B4-BE49-F238E27FC236}">
                <a16:creationId xmlns:a16="http://schemas.microsoft.com/office/drawing/2014/main" id="{080B81BB-D149-4B8E-CE91-4CF3958647BE}"/>
              </a:ext>
            </a:extLst>
          </p:cNvPr>
          <p:cNvSpPr>
            <a:spLocks noGrp="1"/>
          </p:cNvSpPr>
          <p:nvPr>
            <p:ph type="sldNum" sz="quarter" idx="5"/>
          </p:nvPr>
        </p:nvSpPr>
        <p:spPr/>
        <p:txBody>
          <a:bodyPr/>
          <a:lstStyle/>
          <a:p>
            <a:fld id="{9706D261-4ACC-5E49-97C5-9D8FD2D9A3AF}" type="slidenum">
              <a:rPr lang="en-US" smtClean="0"/>
              <a:t>28</a:t>
            </a:fld>
            <a:endParaRPr lang="en-US"/>
          </a:p>
        </p:txBody>
      </p:sp>
    </p:spTree>
    <p:extLst>
      <p:ext uri="{BB962C8B-B14F-4D97-AF65-F5344CB8AC3E}">
        <p14:creationId xmlns:p14="http://schemas.microsoft.com/office/powerpoint/2010/main" val="349337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Cincinnati metropolitan area spans three states. Indiana-side suburbs in Dearborn County were exposed to Indiana’s property-tax caps, while Ohio- and Kentucky-side suburbs provide two geographically distinct comparison groups within the same metropolitan economy. Cincinnati’s central city, located in Ohio, was not directly subject to the Indiana policy.</a:t>
            </a:r>
          </a:p>
          <a:p>
            <a:endParaRPr lang="en-US" dirty="0"/>
          </a:p>
          <a:p>
            <a:r>
              <a:rPr lang="en-US" dirty="0"/>
              <a:t>“Indiana’s property-tax caps have been studied previously, particularly their incidence and the incentives created among overlapping taxing units. Our use of the reform is different. We exploit the fact that metropolitan economies cross state borders and ask whether a fiscal constraint imposed on Indiana-side suburbs changes the fiscal behavior of an untreated central city.”</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Existing evidence:</a:t>
            </a:r>
            <a:r>
              <a:rPr lang="en-US" dirty="0"/>
              <a:t> Indiana’s caps generated heterogeneous revenue losses and strategic incentives across overlapping local governments (Ross et al. 2015), with broader regional consequences documented through simulation-based analysis (</a:t>
            </a:r>
            <a:r>
              <a:rPr lang="en-US" dirty="0" err="1"/>
              <a:t>Thaiprasert</a:t>
            </a:r>
            <a:r>
              <a:rPr lang="en-US" dirty="0"/>
              <a:t> et al. 2013).</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This paper:</a:t>
            </a:r>
            <a:r>
              <a:rPr lang="en-US" dirty="0"/>
              <a:t> We use cross-state variation within metropolitan areas to test whether cap-induced fiscal constraints on Indiana suburbs affect untreated central cities.</a:t>
            </a:r>
          </a:p>
          <a:p>
            <a:endParaRPr lang="en-US" dirty="0"/>
          </a:p>
          <a:p>
            <a:r>
              <a:rPr lang="en-US" dirty="0"/>
              <a:t>Say: Indiana’s caps create policy exposure on one side of the Cincinnati metropolitan area. Cincinnati itself lies outside Indiana, allowing us to investigate fiscal spillovers while still accounting for other cross-border economic effects.</a:t>
            </a:r>
          </a:p>
          <a:p>
            <a:endParaRPr lang="en-US" dirty="0"/>
          </a:p>
          <a:p>
            <a:r>
              <a:rPr lang="en-US" dirty="0"/>
              <a:t>Indiana’s Phased Property-Tax Caps:</a:t>
            </a:r>
          </a:p>
          <a:p>
            <a:pPr lvl="1"/>
            <a:r>
              <a:rPr lang="en-US" dirty="0"/>
              <a:t>2008 reform</a:t>
            </a:r>
          </a:p>
          <a:p>
            <a:pPr lvl="1"/>
            <a:r>
              <a:rPr lang="en-US" dirty="0"/>
              <a:t>2009 transitional caps</a:t>
            </a:r>
          </a:p>
          <a:p>
            <a:pPr lvl="1"/>
            <a:r>
              <a:rPr lang="en-US" dirty="0"/>
              <a:t>2010 full 1%–2%–3% caps</a:t>
            </a:r>
          </a:p>
          <a:p>
            <a:pPr lvl="1"/>
            <a:r>
              <a:rPr lang="en-US" dirty="0"/>
              <a:t>Circuit-breaker credits create revenue losses for local taxing units</a:t>
            </a:r>
          </a:p>
          <a:p>
            <a:r>
              <a:rPr lang="en-US" dirty="0"/>
              <a:t>Cross-border geography: </a:t>
            </a:r>
          </a:p>
          <a:p>
            <a:pPr lvl="1"/>
            <a:r>
              <a:rPr lang="en-US" dirty="0"/>
              <a:t>Indiana-side suburbs in Dearborn County were exposed to the caps; Cincinnati and the Ohio/Kentucky suburban governments were outside Indiana’s statutory regime.</a:t>
            </a:r>
          </a:p>
          <a:p>
            <a:pPr lvl="1"/>
            <a:endParaRPr lang="en-US" dirty="0"/>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29</a:t>
            </a:fld>
            <a:endParaRPr lang="en-US"/>
          </a:p>
        </p:txBody>
      </p:sp>
    </p:spTree>
    <p:extLst>
      <p:ext uri="{BB962C8B-B14F-4D97-AF65-F5344CB8AC3E}">
        <p14:creationId xmlns:p14="http://schemas.microsoft.com/office/powerpoint/2010/main" val="38150808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EB22D-52E1-71F9-8F43-B8F21030E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F8E2F-01D6-07B8-3159-40F69AC35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954E1-B807-2584-CB9E-F1EAA8CF8D2C}"/>
              </a:ext>
            </a:extLst>
          </p:cNvPr>
          <p:cNvSpPr>
            <a:spLocks noGrp="1"/>
          </p:cNvSpPr>
          <p:nvPr>
            <p:ph type="body" idx="1"/>
          </p:nvPr>
        </p:nvSpPr>
        <p:spPr/>
        <p:txBody>
          <a:bodyPr/>
          <a:lstStyle/>
          <a:p>
            <a:r>
              <a:rPr lang="en-US" dirty="0"/>
              <a:t>Unlike a conventional levy cap, Indiana’s circuit breaker does not mechanically constrain the certified local levy. </a:t>
            </a:r>
          </a:p>
          <a:p>
            <a:r>
              <a:rPr lang="en-US" dirty="0"/>
              <a:t>It caps the taxpayer’s liability and converts the excess into a credit, which becomes a direct revenue loss for local taxing units. </a:t>
            </a:r>
          </a:p>
          <a:p>
            <a:r>
              <a:rPr lang="en-US" dirty="0"/>
              <a:t>The newly obtained DLGF records show that this exposure was economically meaningful and highly uneven across the 21 Indiana-side governments in the Cincinnati metropolitan area.</a:t>
            </a:r>
          </a:p>
          <a:p>
            <a:endParaRPr lang="en-US" dirty="0"/>
          </a:p>
          <a:p>
            <a:r>
              <a:rPr lang="en-US" dirty="0"/>
              <a:t>Indiana’s property-tax caps limit taxpayers’ liabilities. County auditors apply circuit-breaker credits to amounts above the caps, reducing revenue received by local taxing units. </a:t>
            </a:r>
          </a:p>
          <a:p>
            <a:r>
              <a:rPr lang="en-US" dirty="0"/>
              <a:t>Across Dearborn County’s </a:t>
            </a:r>
            <a:r>
              <a:rPr lang="en-US" b="1" dirty="0"/>
              <a:t>21</a:t>
            </a:r>
            <a:r>
              <a:rPr lang="en-US" dirty="0"/>
              <a:t> general-purpose governments, official DLGF credit estimates equaled 2.5% of levy in 2010, 1.9% in 2011, and 3.9% of abstract levy in 2013.</a:t>
            </a:r>
          </a:p>
          <a:p>
            <a:r>
              <a:rPr lang="en-US" dirty="0"/>
              <a:t>Exposure varied substantially across governments. In 2013, credits reached 10.5% of levy in Greendale, 9.6% in West Harrison, and 7.7% in Aurora.</a:t>
            </a:r>
          </a:p>
          <a:p>
            <a:r>
              <a:rPr lang="en-US" b="1" dirty="0"/>
              <a:t>Next step:</a:t>
            </a:r>
            <a:r>
              <a:rPr lang="en-US" dirty="0"/>
              <a:t> Merge annual unit-level credits into the Cincinnati border panel and compare Indiana suburbs with the Ohio and Kentucky sides.</a:t>
            </a:r>
          </a:p>
          <a:p>
            <a:endParaRPr lang="en-US" dirty="0"/>
          </a:p>
          <a:p>
            <a:r>
              <a:rPr lang="en-US" dirty="0"/>
              <a:t>The records show economically meaningful and uneven exposure across local governments. Cross-year comparisons require care because the earlier files contain projections and the levy denominators differ.</a:t>
            </a:r>
          </a:p>
        </p:txBody>
      </p:sp>
      <p:sp>
        <p:nvSpPr>
          <p:cNvPr id="4" name="Slide Number Placeholder 3">
            <a:extLst>
              <a:ext uri="{FF2B5EF4-FFF2-40B4-BE49-F238E27FC236}">
                <a16:creationId xmlns:a16="http://schemas.microsoft.com/office/drawing/2014/main" id="{0F90E550-B26C-3778-707D-ED6E506103C9}"/>
              </a:ext>
            </a:extLst>
          </p:cNvPr>
          <p:cNvSpPr>
            <a:spLocks noGrp="1"/>
          </p:cNvSpPr>
          <p:nvPr>
            <p:ph type="sldNum" sz="quarter" idx="5"/>
          </p:nvPr>
        </p:nvSpPr>
        <p:spPr/>
        <p:txBody>
          <a:bodyPr/>
          <a:lstStyle/>
          <a:p>
            <a:fld id="{9706D261-4ACC-5E49-97C5-9D8FD2D9A3AF}" type="slidenum">
              <a:rPr lang="en-US" smtClean="0"/>
              <a:t>30</a:t>
            </a:fld>
            <a:endParaRPr lang="en-US"/>
          </a:p>
        </p:txBody>
      </p:sp>
    </p:spTree>
    <p:extLst>
      <p:ext uri="{BB962C8B-B14F-4D97-AF65-F5344CB8AC3E}">
        <p14:creationId xmlns:p14="http://schemas.microsoft.com/office/powerpoint/2010/main" val="4400082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map shows the identifying geography and the variation in exposure across Indiana-side municipalities. I am using these records to develop the suburban first stage, alongside a separate levy-cap design in New Jersey.</a:t>
            </a:r>
          </a:p>
        </p:txBody>
      </p:sp>
      <p:sp>
        <p:nvSpPr>
          <p:cNvPr id="4" name="Slide Number Placeholder 3"/>
          <p:cNvSpPr>
            <a:spLocks noGrp="1"/>
          </p:cNvSpPr>
          <p:nvPr>
            <p:ph type="sldNum" sz="quarter" idx="5"/>
          </p:nvPr>
        </p:nvSpPr>
        <p:spPr/>
        <p:txBody>
          <a:bodyPr/>
          <a:lstStyle/>
          <a:p>
            <a:fld id="{9706D261-4ACC-5E49-97C5-9D8FD2D9A3AF}" type="slidenum">
              <a:rPr lang="en-US" smtClean="0"/>
              <a:t>31</a:t>
            </a:fld>
            <a:endParaRPr lang="en-US"/>
          </a:p>
        </p:txBody>
      </p:sp>
    </p:spTree>
    <p:extLst>
      <p:ext uri="{BB962C8B-B14F-4D97-AF65-F5344CB8AC3E}">
        <p14:creationId xmlns:p14="http://schemas.microsoft.com/office/powerpoint/2010/main" val="318978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detailed values show that exposure is concentrated in particular municipalities, while many townships have little recorded exposure. These differences help guide the construction of treatment intensity.</a:t>
            </a:r>
          </a:p>
        </p:txBody>
      </p:sp>
      <p:sp>
        <p:nvSpPr>
          <p:cNvPr id="4" name="Slide Number Placeholder 3"/>
          <p:cNvSpPr>
            <a:spLocks noGrp="1"/>
          </p:cNvSpPr>
          <p:nvPr>
            <p:ph type="sldNum" sz="quarter" idx="5"/>
          </p:nvPr>
        </p:nvSpPr>
        <p:spPr/>
        <p:txBody>
          <a:bodyPr/>
          <a:lstStyle/>
          <a:p>
            <a:fld id="{9706D261-4ACC-5E49-97C5-9D8FD2D9A3AF}" type="slidenum">
              <a:rPr lang="en-US" smtClean="0"/>
              <a:t>32</a:t>
            </a:fld>
            <a:endParaRPr lang="en-US"/>
          </a:p>
        </p:txBody>
      </p:sp>
    </p:spTree>
    <p:extLst>
      <p:ext uri="{BB962C8B-B14F-4D97-AF65-F5344CB8AC3E}">
        <p14:creationId xmlns:p14="http://schemas.microsoft.com/office/powerpoint/2010/main" val="8686435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1.Suburban fiscal expansion predicts an increase in central-city tax revenue, concentrated in property and sales taxes. </a:t>
            </a:r>
          </a:p>
          <a:p>
            <a:r>
              <a:rPr lang="en-US" dirty="0"/>
              <a:t>2.The contemporaneous expenditure response is smaller, but the tax–expenditure gap narrows over longer horizons and under division-by-year fixed effects. </a:t>
            </a:r>
          </a:p>
          <a:p>
            <a:r>
              <a:rPr lang="en-US" dirty="0"/>
              <a:t>3.These patterns provide limited evidence of short-run fiscal retention, while also indicating an important role for common regional forces. </a:t>
            </a:r>
          </a:p>
          <a:p>
            <a:r>
              <a:rPr lang="en-US" dirty="0"/>
              <a:t>4.Ongoing institutional designs will test whether externally induced suburban fiscal constraints generate corresponding central-city responses.</a:t>
            </a:r>
          </a:p>
          <a:p>
            <a:r>
              <a:rPr lang="en-US" dirty="0"/>
              <a:t>5.Takeaway: Central cities raise tax revenue when suburban fiscal activity expands, but the evidence points to short-run fiscal retention rather than persistent rent capture, with common regional forces explaining part of the relationship.</a:t>
            </a:r>
          </a:p>
          <a:p>
            <a:r>
              <a:rPr lang="en-US" dirty="0"/>
              <a:t>Say: The central finding is a positive tax response whose interpretation depends on regional controls and adjustment timing. Establishing whether this reflects causal fiscal spillovers or rent capture is the next step of the institutional analysis.</a:t>
            </a:r>
          </a:p>
        </p:txBody>
      </p:sp>
      <p:sp>
        <p:nvSpPr>
          <p:cNvPr id="4" name="Slide Number Placeholder 3"/>
          <p:cNvSpPr>
            <a:spLocks noGrp="1"/>
          </p:cNvSpPr>
          <p:nvPr>
            <p:ph type="sldNum" sz="quarter" idx="5"/>
          </p:nvPr>
        </p:nvSpPr>
        <p:spPr/>
        <p:txBody>
          <a:bodyPr/>
          <a:lstStyle/>
          <a:p>
            <a:fld id="{9706D261-4ACC-5E49-97C5-9D8FD2D9A3AF}" type="slidenum">
              <a:rPr lang="en-US" smtClean="0"/>
              <a:t>33</a:t>
            </a:fld>
            <a:endParaRPr lang="en-US"/>
          </a:p>
        </p:txBody>
      </p:sp>
    </p:spTree>
    <p:extLst>
      <p:ext uri="{BB962C8B-B14F-4D97-AF65-F5344CB8AC3E}">
        <p14:creationId xmlns:p14="http://schemas.microsoft.com/office/powerpoint/2010/main" val="16487197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36</a:t>
            </a:fld>
            <a:endParaRPr lang="en-US"/>
          </a:p>
        </p:txBody>
      </p:sp>
    </p:spTree>
    <p:extLst>
      <p:ext uri="{BB962C8B-B14F-4D97-AF65-F5344CB8AC3E}">
        <p14:creationId xmlns:p14="http://schemas.microsoft.com/office/powerpoint/2010/main" val="2368384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First-stage relevance</a:t>
            </a:r>
            <a:endParaRPr lang="en-US" dirty="0"/>
          </a:p>
          <a:p>
            <a:r>
              <a:rPr lang="en-US" dirty="0"/>
              <a:t>• Joint IV specification: generally adequate first stage</a:t>
            </a:r>
            <a:br>
              <a:rPr lang="en-US" dirty="0"/>
            </a:br>
            <a:r>
              <a:rPr lang="en-US" dirty="0"/>
              <a:t>• Out-of-state IV: remains strong across FE specifications</a:t>
            </a:r>
            <a:br>
              <a:rPr lang="en-US" dirty="0"/>
            </a:br>
            <a:r>
              <a:rPr lang="en-US" dirty="0"/>
              <a:t>• In-state IV: weak/unstable once Division × Year shocks are absorbed</a:t>
            </a:r>
          </a:p>
          <a:p>
            <a:endParaRPr lang="en-US" dirty="0"/>
          </a:p>
          <a:p>
            <a:r>
              <a:rPr lang="en-US" b="1" dirty="0"/>
              <a:t>Exclusion consideration</a:t>
            </a:r>
            <a:endParaRPr lang="en-US" dirty="0"/>
          </a:p>
          <a:p>
            <a:r>
              <a:rPr lang="en-US" dirty="0"/>
              <a:t>Same-state suburbs may share:</a:t>
            </a:r>
          </a:p>
          <a:p>
            <a:r>
              <a:rPr lang="en-US" dirty="0"/>
              <a:t>• State aid formulas</a:t>
            </a:r>
            <a:br>
              <a:rPr lang="en-US" dirty="0"/>
            </a:br>
            <a:r>
              <a:rPr lang="en-US" dirty="0"/>
              <a:t>• Tax/expenditure limitations</a:t>
            </a:r>
            <a:br>
              <a:rPr lang="en-US" dirty="0"/>
            </a:br>
            <a:r>
              <a:rPr lang="en-US" dirty="0"/>
              <a:t>• State fiscal reforms</a:t>
            </a:r>
            <a:br>
              <a:rPr lang="en-US" dirty="0"/>
            </a:br>
            <a:r>
              <a:rPr lang="en-US" dirty="0"/>
              <a:t>• Other statewide fiscal shocks</a:t>
            </a:r>
          </a:p>
          <a:p>
            <a:r>
              <a:rPr lang="en-US" b="1" dirty="0"/>
              <a:t>Out-of-state IV reduces exposure to these common state-policy channels.</a:t>
            </a:r>
            <a:endParaRPr lang="en-US" dirty="0"/>
          </a:p>
          <a:p>
            <a:endParaRPr lang="en-US" dirty="0"/>
          </a:p>
          <a:p>
            <a:r>
              <a:rPr lang="en-US" dirty="0"/>
              <a:t>Q: But couldn't out-of-state suburbs also be affected by national shocks that directly affect your central cities?</a:t>
            </a:r>
          </a:p>
          <a:p>
            <a:r>
              <a:rPr lang="en-US" dirty="0"/>
              <a:t>Ans: Yes. Moving out of state does not by itself eliminate common national or regional shocks. That's why the specification includes year fixed effects, and in the more demanding specification, division-by-year fixed effects, together with the regional controls. The motivation for the out-of-state construction is narrower: it removes the direct common-state-policy channel while the fixed effects and controls address broader common shocks.</a:t>
            </a:r>
            <a:br>
              <a:rPr lang="en-US" dirty="0"/>
            </a:br>
            <a:br>
              <a:rPr lang="en-US" dirty="0"/>
            </a:br>
            <a:r>
              <a:rPr lang="en-US" dirty="0" err="1"/>
              <a:t>整套</a:t>
            </a:r>
            <a:r>
              <a:rPr lang="en-US" dirty="0"/>
              <a:t> identification strategy </a:t>
            </a:r>
            <a:r>
              <a:rPr lang="en-US" dirty="0" err="1"/>
              <a:t>串起來了</a:t>
            </a:r>
            <a:r>
              <a:rPr lang="en-US" dirty="0"/>
              <a:t>：</a:t>
            </a:r>
          </a:p>
          <a:p>
            <a:r>
              <a:rPr lang="en-US" dirty="0"/>
              <a:t>State-level common shocks→​Exclude same-state peers</a:t>
            </a:r>
          </a:p>
          <a:p>
            <a:r>
              <a:rPr lang="en-US" dirty="0"/>
              <a:t>National common </a:t>
            </a:r>
            <a:r>
              <a:rPr lang="en-US" dirty="0" err="1"/>
              <a:t>shocks→Year</a:t>
            </a:r>
            <a:r>
              <a:rPr lang="en-US" dirty="0"/>
              <a:t> FE</a:t>
            </a:r>
          </a:p>
          <a:p>
            <a:r>
              <a:rPr lang="en-US" dirty="0"/>
              <a:t>Regional common shocks→ </a:t>
            </a:r>
            <a:r>
              <a:rPr lang="en-US" dirty="0" err="1"/>
              <a:t>Division×Year</a:t>
            </a:r>
            <a:r>
              <a:rPr lang="en-US" dirty="0"/>
              <a:t> FE</a:t>
            </a:r>
          </a:p>
          <a:p>
            <a:r>
              <a:rPr lang="en-US" dirty="0"/>
              <a:t>Observable regional conditions​→Regional controls​​</a:t>
            </a:r>
            <a:br>
              <a:rPr lang="en-US" dirty="0"/>
            </a:br>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37</a:t>
            </a:fld>
            <a:endParaRPr lang="en-US"/>
          </a:p>
        </p:txBody>
      </p:sp>
    </p:spTree>
    <p:extLst>
      <p:ext uri="{BB962C8B-B14F-4D97-AF65-F5344CB8AC3E}">
        <p14:creationId xmlns:p14="http://schemas.microsoft.com/office/powerpoint/2010/main" val="8867953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out-of-state IV </a:t>
                </a:r>
                <a:r>
                  <a:rPr lang="en-US" dirty="0" err="1"/>
                  <a:t>有一個非常值得注意的結果</a:t>
                </a:r>
                <a:r>
                  <a:rPr lang="en-US" dirty="0"/>
                  <a:t>: </a:t>
                </a:r>
                <a:r>
                  <a:rPr lang="en-US" b="1" dirty="0"/>
                  <a:t>raw correlation </a:t>
                </a:r>
                <a:r>
                  <a:rPr lang="en-US" b="1" dirty="0" err="1"/>
                  <a:t>是</a:t>
                </a:r>
                <a:r>
                  <a:rPr lang="en-US" b="1" dirty="0"/>
                  <a:t> </a:t>
                </a:r>
                <a:r>
                  <a:rPr lang="en-US" b="1" dirty="0" err="1"/>
                  <a:t>positive，但是</a:t>
                </a:r>
                <a:r>
                  <a:rPr lang="en-US" b="1" dirty="0"/>
                  <a:t> conditional relationship </a:t>
                </a:r>
                <a:r>
                  <a:rPr lang="en-US" b="1" dirty="0" err="1"/>
                  <a:t>是</a:t>
                </a:r>
                <a:r>
                  <a:rPr lang="en-US" b="1" dirty="0"/>
                  <a:t> strongly negative。</a:t>
                </a:r>
                <a:endParaRPr lang="en-US" dirty="0"/>
              </a:p>
              <a:p>
                <a:r>
                  <a:rPr lang="en-US" dirty="0" err="1"/>
                  <a:t>所以</a:t>
                </a:r>
                <a:r>
                  <a:rPr lang="en-US" dirty="0"/>
                  <a:t> out-of-state IV </a:t>
                </a:r>
                <a:r>
                  <a:rPr lang="en-US" dirty="0" err="1"/>
                  <a:t>的</a:t>
                </a:r>
                <a:r>
                  <a:rPr lang="en-US" dirty="0"/>
                  <a:t> strength </a:t>
                </a:r>
                <a:r>
                  <a:rPr lang="en-US" dirty="0" err="1"/>
                  <a:t>並不是來自</a:t>
                </a:r>
                <a:r>
                  <a:rPr lang="en-US" dirty="0"/>
                  <a:t> simple raw </a:t>
                </a:r>
                <a:r>
                  <a:rPr lang="en-US" dirty="0" err="1"/>
                  <a:t>comovement</a:t>
                </a:r>
                <a:r>
                  <a:rPr lang="en-US" dirty="0"/>
                  <a:t>。</a:t>
                </a:r>
              </a:p>
              <a:p>
                <a:r>
                  <a:rPr lang="en-US" dirty="0" err="1"/>
                  <a:t>反而是</a:t>
                </a:r>
                <a:r>
                  <a:rPr lang="en-US" dirty="0"/>
                  <a:t>：</a:t>
                </a:r>
                <a14:m>
                  <m:oMath xmlns:m="http://schemas.openxmlformats.org/officeDocument/2006/math">
                    <m:r>
                      <m:rPr>
                        <m:nor/>
                      </m:rPr>
                      <a:rPr lang="en-US" b="0" i="0"/>
                      <m:t>common aggregate variation removed</m:t>
                    </m:r>
                    <m:r>
                      <a:rPr lang="en-US" sz="1200" b="0" i="0" kern="1200">
                        <a:solidFill>
                          <a:schemeClr val="tx1"/>
                        </a:solidFill>
                        <a:latin typeface="+mn-lt"/>
                        <a:ea typeface="+mn-ea"/>
                        <a:cs typeface="+mn-cs"/>
                      </a:rPr>
                      <m:t> ⇒ </m:t>
                    </m:r>
                    <m:r>
                      <m:rPr>
                        <m:nor/>
                      </m:rPr>
                      <a:rPr lang="en-US" sz="1200" b="0" i="0" kern="1200">
                        <a:solidFill>
                          <a:schemeClr val="tx1"/>
                        </a:solidFill>
                        <a:latin typeface="+mn-lt"/>
                        <a:ea typeface="+mn-ea"/>
                        <a:cs typeface="+mn-cs"/>
                      </a:rPr>
                      <m:t>strong conditional relationship emerges</m:t>
                    </m:r>
                    <m:r>
                      <a:rPr lang="en-US" sz="1200" b="0" i="0" kern="1200">
                        <a:solidFill>
                          <a:schemeClr val="tx1"/>
                        </a:solidFill>
                        <a:latin typeface="+mn-lt"/>
                        <a:ea typeface="+mn-ea"/>
                        <a:cs typeface="+mn-cs"/>
                      </a:rPr>
                      <m:t>.</m:t>
                    </m:r>
                  </m:oMath>
                </a14:m>
                <a:endParaRPr lang="en-US" b="0" dirty="0"/>
              </a:p>
              <a:p>
                <a:r>
                  <a:rPr lang="en-US" dirty="0" err="1"/>
                  <a:t>而且這個</a:t>
                </a:r>
                <a:r>
                  <a:rPr lang="en-US" dirty="0"/>
                  <a:t> pattern </a:t>
                </a:r>
                <a:r>
                  <a:rPr lang="en-US" dirty="0" err="1"/>
                  <a:t>六個</a:t>
                </a:r>
                <a:r>
                  <a:rPr lang="en-US" dirty="0"/>
                  <a:t> outcomes </a:t>
                </a:r>
                <a:r>
                  <a:rPr lang="en-US" dirty="0" err="1"/>
                  <a:t>幾乎全部一致，所以不像</a:t>
                </a:r>
                <a:r>
                  <a:rPr lang="en-US" dirty="0"/>
                  <a:t> accidental noise。</a:t>
                </a:r>
              </a:p>
              <a:p>
                <a:r>
                  <a:rPr lang="en-US" dirty="0" err="1"/>
                  <a:t>這也很好地解釋：Why</a:t>
                </a:r>
                <a:r>
                  <a:rPr lang="en-US" dirty="0"/>
                  <a:t> can the out-of-state KP F be strong even though raw correlation isn't particularly impressive?</a:t>
                </a:r>
              </a:p>
              <a:p>
                <a:r>
                  <a:rPr lang="en-US" dirty="0" err="1"/>
                  <a:t>因為</a:t>
                </a:r>
                <a:r>
                  <a:rPr lang="en-US" dirty="0"/>
                  <a:t> first-stage F/KP F </a:t>
                </a:r>
                <a:r>
                  <a:rPr lang="en-US" dirty="0" err="1"/>
                  <a:t>看的是</a:t>
                </a:r>
                <a:r>
                  <a:rPr lang="en-US" dirty="0"/>
                  <a:t> </a:t>
                </a:r>
                <a:r>
                  <a:rPr lang="en-US" b="1" dirty="0"/>
                  <a:t>conditional first </a:t>
                </a:r>
                <a:r>
                  <a:rPr lang="en-US" b="1" dirty="0" err="1"/>
                  <a:t>stage</a:t>
                </a:r>
                <a:r>
                  <a:rPr lang="en-US" dirty="0" err="1"/>
                  <a:t>，不是</a:t>
                </a:r>
                <a:r>
                  <a:rPr lang="en-US" dirty="0"/>
                  <a:t> raw correlation。</a:t>
                </a:r>
              </a:p>
              <a:p>
                <a:endParaRPr lang="en-US" dirty="0"/>
              </a:p>
            </p:txBody>
          </p:sp>
        </mc:Choice>
        <mc:Fallback>
          <p:sp>
            <p:nvSpPr>
              <p:cNvPr id="3" name="Notes Placeholder 2"/>
              <p:cNvSpPr>
                <a:spLocks noGrp="1"/>
              </p:cNvSpPr>
              <p:nvPr>
                <p:ph type="body" idx="1"/>
              </p:nvPr>
            </p:nvSpPr>
            <p:spPr/>
            <p:txBody>
              <a:bodyPr/>
              <a:lstStyle/>
              <a:p>
                <a:r>
                  <a:rPr lang="en-US" dirty="0"/>
                  <a:t>out-of-state IV </a:t>
                </a:r>
                <a:r>
                  <a:rPr lang="en-US" dirty="0" err="1"/>
                  <a:t>有一個非常值得注意的結果</a:t>
                </a:r>
                <a:r>
                  <a:rPr lang="en-US" dirty="0"/>
                  <a:t>: </a:t>
                </a:r>
                <a:r>
                  <a:rPr lang="en-US" b="1" dirty="0"/>
                  <a:t>raw correlation </a:t>
                </a:r>
                <a:r>
                  <a:rPr lang="en-US" b="1" dirty="0" err="1"/>
                  <a:t>是</a:t>
                </a:r>
                <a:r>
                  <a:rPr lang="en-US" b="1" dirty="0"/>
                  <a:t> </a:t>
                </a:r>
                <a:r>
                  <a:rPr lang="en-US" b="1" dirty="0" err="1"/>
                  <a:t>positive，但是</a:t>
                </a:r>
                <a:r>
                  <a:rPr lang="en-US" b="1" dirty="0"/>
                  <a:t> conditional relationship </a:t>
                </a:r>
                <a:r>
                  <a:rPr lang="en-US" b="1" dirty="0" err="1"/>
                  <a:t>是</a:t>
                </a:r>
                <a:r>
                  <a:rPr lang="en-US" b="1" dirty="0"/>
                  <a:t> strongly negative。</a:t>
                </a:r>
                <a:endParaRPr lang="en-US" dirty="0"/>
              </a:p>
              <a:p>
                <a:r>
                  <a:rPr lang="en-US" dirty="0" err="1"/>
                  <a:t>所以</a:t>
                </a:r>
                <a:r>
                  <a:rPr lang="en-US" dirty="0"/>
                  <a:t> out-of-state IV </a:t>
                </a:r>
                <a:r>
                  <a:rPr lang="en-US" dirty="0" err="1"/>
                  <a:t>的</a:t>
                </a:r>
                <a:r>
                  <a:rPr lang="en-US" dirty="0"/>
                  <a:t> strength </a:t>
                </a:r>
                <a:r>
                  <a:rPr lang="en-US" dirty="0" err="1"/>
                  <a:t>並不是來自</a:t>
                </a:r>
                <a:r>
                  <a:rPr lang="en-US" dirty="0"/>
                  <a:t> simple raw </a:t>
                </a:r>
                <a:r>
                  <a:rPr lang="en-US" dirty="0" err="1"/>
                  <a:t>comovement</a:t>
                </a:r>
                <a:r>
                  <a:rPr lang="en-US" dirty="0"/>
                  <a:t>。</a:t>
                </a:r>
              </a:p>
              <a:p>
                <a:r>
                  <a:rPr lang="en-US" dirty="0" err="1"/>
                  <a:t>反而是</a:t>
                </a:r>
                <a:r>
                  <a:rPr lang="en-US" dirty="0"/>
                  <a:t>：</a:t>
                </a:r>
                <a:r>
                  <a:rPr lang="en-US" b="0" i="0">
                    <a:latin typeface="Cambria Math" panose="02040503050406030204" pitchFamily="18" charset="0"/>
                  </a:rPr>
                  <a:t>"common aggregate variation removed</a:t>
                </a:r>
                <a:r>
                  <a:rPr lang="en-US" sz="1200" b="0" i="0" kern="1200">
                    <a:solidFill>
                      <a:schemeClr val="tx1"/>
                    </a:solidFill>
                    <a:latin typeface="+mn-lt"/>
                    <a:ea typeface="+mn-ea"/>
                    <a:cs typeface="+mn-cs"/>
                  </a:rPr>
                  <a:t>" ⇒ </a:t>
                </a:r>
                <a:r>
                  <a:rPr lang="en-US" sz="1200" b="0" i="0" kern="1200">
                    <a:solidFill>
                      <a:schemeClr val="tx1"/>
                    </a:solidFill>
                    <a:latin typeface="Cambria Math" panose="02040503050406030204" pitchFamily="18" charset="0"/>
                    <a:ea typeface="+mn-ea"/>
                    <a:cs typeface="+mn-cs"/>
                  </a:rPr>
                  <a:t>"strong conditional relationship emerges</a:t>
                </a:r>
                <a:r>
                  <a:rPr lang="en-US" sz="1200" b="0" i="0" kern="1200">
                    <a:solidFill>
                      <a:schemeClr val="tx1"/>
                    </a:solidFill>
                    <a:latin typeface="+mn-lt"/>
                    <a:ea typeface="+mn-ea"/>
                    <a:cs typeface="+mn-cs"/>
                  </a:rPr>
                  <a:t>".</a:t>
                </a:r>
                <a:endParaRPr lang="en-US" b="0" dirty="0"/>
              </a:p>
              <a:p>
                <a:r>
                  <a:rPr lang="en-US" dirty="0" err="1"/>
                  <a:t>而且這個</a:t>
                </a:r>
                <a:r>
                  <a:rPr lang="en-US" dirty="0"/>
                  <a:t> pattern </a:t>
                </a:r>
                <a:r>
                  <a:rPr lang="en-US" dirty="0" err="1"/>
                  <a:t>六個</a:t>
                </a:r>
                <a:r>
                  <a:rPr lang="en-US" dirty="0"/>
                  <a:t> outcomes </a:t>
                </a:r>
                <a:r>
                  <a:rPr lang="en-US" dirty="0" err="1"/>
                  <a:t>幾乎全部一致，所以不像</a:t>
                </a:r>
                <a:r>
                  <a:rPr lang="en-US" dirty="0"/>
                  <a:t> accidental noise。</a:t>
                </a:r>
              </a:p>
              <a:p>
                <a:r>
                  <a:rPr lang="en-US" dirty="0" err="1"/>
                  <a:t>這也很好地解釋：Why</a:t>
                </a:r>
                <a:r>
                  <a:rPr lang="en-US" dirty="0"/>
                  <a:t> can the out-of-state KP F be strong even though raw correlation isn't particularly impressive?</a:t>
                </a:r>
              </a:p>
              <a:p>
                <a:r>
                  <a:rPr lang="en-US" dirty="0" err="1"/>
                  <a:t>因為</a:t>
                </a:r>
                <a:r>
                  <a:rPr lang="en-US" dirty="0"/>
                  <a:t> first-stage F/KP F </a:t>
                </a:r>
                <a:r>
                  <a:rPr lang="en-US" dirty="0" err="1"/>
                  <a:t>看的是</a:t>
                </a:r>
                <a:r>
                  <a:rPr lang="en-US" dirty="0"/>
                  <a:t> </a:t>
                </a:r>
                <a:r>
                  <a:rPr lang="en-US" b="1" dirty="0"/>
                  <a:t>conditional first </a:t>
                </a:r>
                <a:r>
                  <a:rPr lang="en-US" b="1" dirty="0" err="1"/>
                  <a:t>stage</a:t>
                </a:r>
                <a:r>
                  <a:rPr lang="en-US" dirty="0" err="1"/>
                  <a:t>，不是</a:t>
                </a:r>
                <a:r>
                  <a:rPr lang="en-US" dirty="0"/>
                  <a:t> raw correlation。</a:t>
                </a:r>
              </a:p>
              <a:p>
                <a:endParaRPr lang="en-US" dirty="0"/>
              </a:p>
            </p:txBody>
          </p:sp>
        </mc:Fallback>
      </mc:AlternateContent>
      <p:sp>
        <p:nvSpPr>
          <p:cNvPr id="4" name="Slide Number Placeholder 3"/>
          <p:cNvSpPr>
            <a:spLocks noGrp="1"/>
          </p:cNvSpPr>
          <p:nvPr>
            <p:ph type="sldNum" sz="quarter" idx="5"/>
          </p:nvPr>
        </p:nvSpPr>
        <p:spPr/>
        <p:txBody>
          <a:bodyPr/>
          <a:lstStyle/>
          <a:p>
            <a:fld id="{9706D261-4ACC-5E49-97C5-9D8FD2D9A3AF}" type="slidenum">
              <a:rPr lang="en-US" smtClean="0"/>
              <a:t>38</a:t>
            </a:fld>
            <a:endParaRPr lang="en-US"/>
          </a:p>
        </p:txBody>
      </p:sp>
    </p:spTree>
    <p:extLst>
      <p:ext uri="{BB962C8B-B14F-4D97-AF65-F5344CB8AC3E}">
        <p14:creationId xmlns:p14="http://schemas.microsoft.com/office/powerpoint/2010/main" val="30948776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8592B-7162-35F2-E910-41831973A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8AB07-FEA8-A242-D32D-1D952DB46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5E09C-C019-2C2F-ECF8-510DC5BC014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r>
              <a:rPr lang="en-US" dirty="0"/>
              <a:t>This table reports the full set of matched-sample comparisons and first-stage diagnostics. It helps distinguish changes associated with the controls from changes associated with sample coverage.</a:t>
            </a:r>
          </a:p>
        </p:txBody>
      </p:sp>
      <p:sp>
        <p:nvSpPr>
          <p:cNvPr id="4" name="Slide Number Placeholder 3">
            <a:extLst>
              <a:ext uri="{FF2B5EF4-FFF2-40B4-BE49-F238E27FC236}">
                <a16:creationId xmlns:a16="http://schemas.microsoft.com/office/drawing/2014/main" id="{0939AF69-C50E-79CB-9188-4F573C3CA58A}"/>
              </a:ext>
            </a:extLst>
          </p:cNvPr>
          <p:cNvSpPr>
            <a:spLocks noGrp="1"/>
          </p:cNvSpPr>
          <p:nvPr>
            <p:ph type="sldNum" sz="quarter" idx="5"/>
          </p:nvPr>
        </p:nvSpPr>
        <p:spPr/>
        <p:txBody>
          <a:bodyPr/>
          <a:lstStyle/>
          <a:p>
            <a:fld id="{9706D261-4ACC-5E49-97C5-9D8FD2D9A3AF}" type="slidenum">
              <a:rPr lang="en-US" smtClean="0"/>
              <a:t>40</a:t>
            </a:fld>
            <a:endParaRPr lang="en-US"/>
          </a:p>
        </p:txBody>
      </p:sp>
    </p:spTree>
    <p:extLst>
      <p:ext uri="{BB962C8B-B14F-4D97-AF65-F5344CB8AC3E}">
        <p14:creationId xmlns:p14="http://schemas.microsoft.com/office/powerpoint/2010/main" val="136181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Baseline characteristics: 1972</a:t>
            </a:r>
          </a:p>
          <a:p>
            <a:r>
              <a:rPr lang="en-US" dirty="0"/>
              <a:t>Say: These specifications allow fiscal trajectories to differ with baseline metropolitan characteristics. The estimates remain close to the Year FE benchmark, providing an additional sensitivity check.</a:t>
            </a:r>
          </a:p>
        </p:txBody>
      </p:sp>
      <p:sp>
        <p:nvSpPr>
          <p:cNvPr id="4" name="Slide Number Placeholder 3"/>
          <p:cNvSpPr>
            <a:spLocks noGrp="1"/>
          </p:cNvSpPr>
          <p:nvPr>
            <p:ph type="sldNum" sz="quarter" idx="5"/>
          </p:nvPr>
        </p:nvSpPr>
        <p:spPr/>
        <p:txBody>
          <a:bodyPr/>
          <a:lstStyle/>
          <a:p>
            <a:fld id="{9706D261-4ACC-5E49-97C5-9D8FD2D9A3AF}" type="slidenum">
              <a:rPr lang="en-US" smtClean="0"/>
              <a:t>41</a:t>
            </a:fld>
            <a:endParaRPr lang="en-US"/>
          </a:p>
        </p:txBody>
      </p:sp>
    </p:spTree>
    <p:extLst>
      <p:ext uri="{BB962C8B-B14F-4D97-AF65-F5344CB8AC3E}">
        <p14:creationId xmlns:p14="http://schemas.microsoft.com/office/powerpoint/2010/main" val="35386119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specification retains the 52-MSA common sample inherited from the original two-instrument design. This appendix re-estimates the preferred out-of-state-IV specification on the expanded 68-MSA sample. The additional 16 MSAs are located in states represented by a single sampled MSA, for which the in-state leave-one-out instrument is unavailable but the out-of-state instrument remains well defined.</a:t>
            </a:r>
          </a:p>
          <a:p>
            <a:endParaRPr lang="en-US" dirty="0"/>
          </a:p>
          <a:p>
            <a:r>
              <a:rPr lang="en-US" dirty="0"/>
              <a:t>The 52-MSA restriction is inherited from our original specification using both in-state and out-of-state instruments. Because the in-state instrument cannot be constructed for states represented by only one MSA, that specification restricted the common sample to 52 MSAs. Once we move to the preferred out-of-state instrument alone, that restriction is no longer necessary. As a robustness check, I therefore expand the sample back to all 68 MSAs. The results are very similar—for example, the tax-revenue coefficient is 0.44 with year fixed effects and 0.33 with division-by-year fixed effects—so the main findings are not driven by the original 52-MSA sample restriction.</a:t>
            </a:r>
          </a:p>
        </p:txBody>
      </p:sp>
      <p:sp>
        <p:nvSpPr>
          <p:cNvPr id="4" name="Slide Number Placeholder 3"/>
          <p:cNvSpPr>
            <a:spLocks noGrp="1"/>
          </p:cNvSpPr>
          <p:nvPr>
            <p:ph type="sldNum" sz="quarter" idx="5"/>
          </p:nvPr>
        </p:nvSpPr>
        <p:spPr/>
        <p:txBody>
          <a:bodyPr/>
          <a:lstStyle/>
          <a:p>
            <a:fld id="{9706D261-4ACC-5E49-97C5-9D8FD2D9A3AF}" type="slidenum">
              <a:rPr lang="en-US" smtClean="0"/>
              <a:t>42</a:t>
            </a:fld>
            <a:endParaRPr lang="en-US"/>
          </a:p>
        </p:txBody>
      </p:sp>
    </p:spTree>
    <p:extLst>
      <p:ext uri="{BB962C8B-B14F-4D97-AF65-F5344CB8AC3E}">
        <p14:creationId xmlns:p14="http://schemas.microsoft.com/office/powerpoint/2010/main" val="37349693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3E30-FF4A-3CC9-DDB4-55163A1FD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EAE48-4B88-CDB5-841B-AA5140C49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8EB1D-D085-9FD3-FB8B-02F45A92AC76}"/>
              </a:ext>
            </a:extLst>
          </p:cNvPr>
          <p:cNvSpPr>
            <a:spLocks noGrp="1"/>
          </p:cNvSpPr>
          <p:nvPr>
            <p:ph type="body" idx="1"/>
          </p:nvPr>
        </p:nvSpPr>
        <p:spPr/>
        <p:txBody>
          <a:bodyPr/>
          <a:lstStyle/>
          <a:p>
            <a:r>
              <a:rPr lang="en-US" dirty="0"/>
              <a:t>Not causal event-study evidence.</a:t>
            </a:r>
          </a:p>
          <a:p>
            <a:r>
              <a:rPr lang="en-US" b="1" dirty="0"/>
              <a:t>It should be: Descriptive first-stage pattern</a:t>
            </a:r>
            <a:endParaRPr lang="en-US" dirty="0"/>
          </a:p>
          <a:p>
            <a:r>
              <a:rPr lang="en-US" dirty="0"/>
              <a:t>Or </a:t>
            </a:r>
            <a:r>
              <a:rPr lang="en-US" b="1" dirty="0"/>
              <a:t>Evolution of the bindingness gradient around the reforms</a:t>
            </a:r>
            <a:endParaRPr lang="en-US" dirty="0"/>
          </a:p>
          <a:p>
            <a:r>
              <a:rPr lang="en-US" dirty="0"/>
              <a:t>And say:</a:t>
            </a:r>
          </a:p>
          <a:p>
            <a:r>
              <a:rPr lang="en-US" dirty="0"/>
              <a:t>“This is not yet the reduced-form treatment effect. It documents whether predetermined statutory exposure translates into differential levy growth around the two reforms.”</a:t>
            </a:r>
          </a:p>
          <a:p>
            <a:endParaRPr lang="en-US" dirty="0"/>
          </a:p>
          <a:p>
            <a:r>
              <a:rPr lang="en-US" dirty="0"/>
              <a:t>A similar exposure pattern appears in the statewide sample. The pre-reform movement remains important, so the broader sample does not resolve the identification issue.</a:t>
            </a:r>
          </a:p>
        </p:txBody>
      </p:sp>
      <p:sp>
        <p:nvSpPr>
          <p:cNvPr id="4" name="Slide Number Placeholder 3">
            <a:extLst>
              <a:ext uri="{FF2B5EF4-FFF2-40B4-BE49-F238E27FC236}">
                <a16:creationId xmlns:a16="http://schemas.microsoft.com/office/drawing/2014/main" id="{A85729CB-1D78-7979-6CC8-31B0FEF58313}"/>
              </a:ext>
            </a:extLst>
          </p:cNvPr>
          <p:cNvSpPr>
            <a:spLocks noGrp="1"/>
          </p:cNvSpPr>
          <p:nvPr>
            <p:ph type="sldNum" sz="quarter" idx="5"/>
          </p:nvPr>
        </p:nvSpPr>
        <p:spPr/>
        <p:txBody>
          <a:bodyPr/>
          <a:lstStyle/>
          <a:p>
            <a:fld id="{9706D261-4ACC-5E49-97C5-9D8FD2D9A3AF}" type="slidenum">
              <a:rPr lang="en-US" smtClean="0"/>
              <a:t>43</a:t>
            </a:fld>
            <a:endParaRPr lang="en-US"/>
          </a:p>
        </p:txBody>
      </p:sp>
    </p:spTree>
    <p:extLst>
      <p:ext uri="{BB962C8B-B14F-4D97-AF65-F5344CB8AC3E}">
        <p14:creationId xmlns:p14="http://schemas.microsoft.com/office/powerpoint/2010/main" val="37629332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Exposure differs substantially across municipalities and townships. The differences across years reflect both economic variation and changes in the underlying reporting measures.</a:t>
            </a:r>
          </a:p>
        </p:txBody>
      </p:sp>
      <p:sp>
        <p:nvSpPr>
          <p:cNvPr id="4" name="Slide Number Placeholder 3"/>
          <p:cNvSpPr>
            <a:spLocks noGrp="1"/>
          </p:cNvSpPr>
          <p:nvPr>
            <p:ph type="sldNum" sz="quarter" idx="5"/>
          </p:nvPr>
        </p:nvSpPr>
        <p:spPr/>
        <p:txBody>
          <a:bodyPr/>
          <a:lstStyle/>
          <a:p>
            <a:fld id="{9706D261-4ACC-5E49-97C5-9D8FD2D9A3AF}" type="slidenum">
              <a:rPr lang="en-US" smtClean="0"/>
              <a:t>44</a:t>
            </a:fld>
            <a:endParaRPr lang="en-US"/>
          </a:p>
        </p:txBody>
      </p:sp>
    </p:spTree>
    <p:extLst>
      <p:ext uri="{BB962C8B-B14F-4D97-AF65-F5344CB8AC3E}">
        <p14:creationId xmlns:p14="http://schemas.microsoft.com/office/powerpoint/2010/main" val="18795949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tx1">
            <a:lumMod val="85000"/>
            <a:lumOff val="15000"/>
          </a:schemeClr>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633304" y="-648376"/>
            <a:ext cx="733465" cy="2367520"/>
            <a:chOff x="685136" y="-246616"/>
            <a:chExt cx="733465" cy="2367520"/>
          </a:xfrm>
        </p:grpSpPr>
        <p:sp>
          <p:nvSpPr>
            <p:cNvPr id="6" name="Rectangle 5"/>
            <p:cNvSpPr/>
            <p:nvPr userDrawn="1"/>
          </p:nvSpPr>
          <p:spPr>
            <a:xfrm>
              <a:off x="685136" y="-24661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7308" y="1380149"/>
              <a:ext cx="489120" cy="620806"/>
            </a:xfrm>
            <a:prstGeom prst="rect">
              <a:avLst/>
            </a:prstGeom>
          </p:spPr>
        </p:pic>
      </p:grpSp>
      <p:sp>
        <p:nvSpPr>
          <p:cNvPr id="2" name="Title 1"/>
          <p:cNvSpPr>
            <a:spLocks noGrp="1"/>
          </p:cNvSpPr>
          <p:nvPr userDrawn="1">
            <p:ph type="title" hasCustomPrompt="1"/>
          </p:nvPr>
        </p:nvSpPr>
        <p:spPr>
          <a:xfrm>
            <a:off x="502903" y="2766523"/>
            <a:ext cx="7734221" cy="1114494"/>
          </a:xfrm>
        </p:spPr>
        <p:txBody>
          <a:bodyPr anchor="ctr">
            <a:normAutofit/>
          </a:bodyPr>
          <a:lstStyle>
            <a:lvl1pPr>
              <a:lnSpc>
                <a:spcPct val="90000"/>
              </a:lnSpc>
              <a:defRPr sz="4000" b="1" i="0" spc="0" baseline="0">
                <a:solidFill>
                  <a:schemeClr val="bg1"/>
                </a:solidFill>
                <a:latin typeface="Arial"/>
                <a:cs typeface="Arial"/>
              </a:defRPr>
            </a:lvl1pPr>
          </a:lstStyle>
          <a:p>
            <a:r>
              <a:rPr lang="en-US" dirty="0"/>
              <a:t>Unnecessarily extra long title of presentation</a:t>
            </a:r>
          </a:p>
        </p:txBody>
      </p:sp>
      <p:sp>
        <p:nvSpPr>
          <p:cNvPr id="11" name="Text Placeholder 19"/>
          <p:cNvSpPr>
            <a:spLocks noGrp="1"/>
          </p:cNvSpPr>
          <p:nvPr userDrawn="1">
            <p:ph type="body" sz="quarter" idx="10" hasCustomPrompt="1"/>
          </p:nvPr>
        </p:nvSpPr>
        <p:spPr>
          <a:xfrm>
            <a:off x="530694" y="4709821"/>
            <a:ext cx="7734222" cy="277654"/>
          </a:xfrm>
        </p:spPr>
        <p:txBody>
          <a:bodyPr anchor="ctr">
            <a:noAutofit/>
          </a:bodyPr>
          <a:lstStyle>
            <a:lvl1pPr marL="0" indent="0">
              <a:buNone/>
              <a:defRPr sz="1100" b="1" spc="80" baseline="0">
                <a:solidFill>
                  <a:srgbClr val="A6A6A6"/>
                </a:solidFill>
                <a:latin typeface="Arial"/>
                <a:cs typeface="Arial"/>
              </a:defRPr>
            </a:lvl1pPr>
          </a:lstStyle>
          <a:p>
            <a:pPr lvl="0"/>
            <a:r>
              <a:rPr lang="en-US" dirty="0"/>
              <a:t>INDIANA UNIVERSITY BLOOMINGTON</a:t>
            </a:r>
          </a:p>
        </p:txBody>
      </p:sp>
      <p:sp>
        <p:nvSpPr>
          <p:cNvPr id="9" name="Text Placeholder 19"/>
          <p:cNvSpPr>
            <a:spLocks noGrp="1"/>
          </p:cNvSpPr>
          <p:nvPr>
            <p:ph type="body" sz="quarter" idx="11" hasCustomPrompt="1"/>
          </p:nvPr>
        </p:nvSpPr>
        <p:spPr>
          <a:xfrm>
            <a:off x="530694" y="2443859"/>
            <a:ext cx="7734222" cy="252412"/>
          </a:xfrm>
        </p:spPr>
        <p:txBody>
          <a:bodyPr anchor="ctr">
            <a:noAutofit/>
          </a:bodyPr>
          <a:lstStyle>
            <a:lvl1pPr marL="0" indent="0">
              <a:buNone/>
              <a:defRPr sz="1800" b="0" spc="0" baseline="0">
                <a:solidFill>
                  <a:srgbClr val="A6A6A6"/>
                </a:solidFill>
                <a:latin typeface="Arial"/>
                <a:cs typeface="Arial"/>
              </a:defRPr>
            </a:lvl1pPr>
          </a:lstStyle>
          <a:p>
            <a:pPr lvl="0"/>
            <a:r>
              <a:rPr lang="en-US" dirty="0"/>
              <a:t>SUBHEAD OR NAME OF SCHOOL, DEPARTMENT, OR UNIT</a:t>
            </a:r>
          </a:p>
        </p:txBody>
      </p:sp>
    </p:spTree>
    <p:extLst>
      <p:ext uri="{BB962C8B-B14F-4D97-AF65-F5344CB8AC3E}">
        <p14:creationId xmlns:p14="http://schemas.microsoft.com/office/powerpoint/2010/main" val="1256653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660B13"/>
        </a:solidFill>
        <a:effectLst/>
      </p:bgPr>
    </p:bg>
    <p:spTree>
      <p:nvGrpSpPr>
        <p:cNvPr id="1" name=""/>
        <p:cNvGrpSpPr/>
        <p:nvPr/>
      </p:nvGrpSpPr>
      <p:grpSpPr>
        <a:xfrm>
          <a:off x="0" y="0"/>
          <a:ext cx="0" cy="0"/>
          <a:chOff x="0" y="0"/>
          <a:chExt cx="0" cy="0"/>
        </a:xfrm>
      </p:grpSpPr>
      <p:sp>
        <p:nvSpPr>
          <p:cNvPr id="2" name="TextBox 1"/>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0" name="TextBox 9"/>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1" name="TextBox 10"/>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4" name="Title 13"/>
          <p:cNvSpPr>
            <a:spLocks noGrp="1"/>
          </p:cNvSpPr>
          <p:nvPr>
            <p:ph type="title" hasCustomPrompt="1"/>
          </p:nvPr>
        </p:nvSpPr>
        <p:spPr>
          <a:xfrm>
            <a:off x="506694" y="2274522"/>
            <a:ext cx="6802482" cy="656910"/>
          </a:xfrm>
        </p:spPr>
        <p:txBody>
          <a:bodyPr anchor="ctr">
            <a:noAutofit/>
          </a:bodyPr>
          <a:lstStyle>
            <a:lvl1pPr>
              <a:defRPr sz="4000" b="1" i="0" spc="0" baseline="0">
                <a:solidFill>
                  <a:srgbClr val="FFFFFF"/>
                </a:solidFill>
                <a:latin typeface="Arial"/>
                <a:cs typeface="Arial"/>
              </a:defRPr>
            </a:lvl1pPr>
          </a:lstStyle>
          <a:p>
            <a:r>
              <a:rPr lang="en-US" dirty="0"/>
              <a:t>Section Heading</a:t>
            </a:r>
          </a:p>
        </p:txBody>
      </p:sp>
      <p:sp>
        <p:nvSpPr>
          <p:cNvPr id="20" name="Text Placeholder 19"/>
          <p:cNvSpPr>
            <a:spLocks noGrp="1"/>
          </p:cNvSpPr>
          <p:nvPr>
            <p:ph type="body" sz="quarter" idx="10" hasCustomPrompt="1"/>
          </p:nvPr>
        </p:nvSpPr>
        <p:spPr>
          <a:xfrm>
            <a:off x="526131" y="2031339"/>
            <a:ext cx="3700462" cy="252412"/>
          </a:xfrm>
        </p:spPr>
        <p:txBody>
          <a:bodyPr anchor="ctr">
            <a:noAutofit/>
          </a:bodyPr>
          <a:lstStyle>
            <a:lvl1pPr marL="0" indent="0">
              <a:buNone/>
              <a:defRPr sz="1400" b="1" i="0" spc="50" baseline="0">
                <a:solidFill>
                  <a:srgbClr val="A6A6A6"/>
                </a:solidFill>
                <a:latin typeface="Arial"/>
                <a:cs typeface="Arial"/>
              </a:defRPr>
            </a:lvl1pPr>
          </a:lstStyle>
          <a:p>
            <a:pPr lvl="0"/>
            <a:r>
              <a:rPr lang="en-US" dirty="0"/>
              <a:t>SECTION NUMBER OR SUBTITLE</a:t>
            </a:r>
          </a:p>
        </p:txBody>
      </p:sp>
      <p:sp>
        <p:nvSpPr>
          <p:cNvPr id="4" name="Rectangle 3"/>
          <p:cNvSpPr/>
          <p:nvPr userDrawn="1"/>
        </p:nvSpPr>
        <p:spPr>
          <a:xfrm>
            <a:off x="-14942" y="2032000"/>
            <a:ext cx="148614" cy="83670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785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9827" y="759070"/>
            <a:ext cx="8004391" cy="699065"/>
          </a:xfrm>
        </p:spPr>
        <p:txBody>
          <a:bodyPr>
            <a:normAutofit/>
          </a:bodyPr>
          <a:lstStyle>
            <a:lvl1pPr>
              <a:defRPr sz="3000" b="1" i="0" cap="none" spc="0">
                <a:solidFill>
                  <a:srgbClr val="404041"/>
                </a:solidFill>
                <a:latin typeface="Arial"/>
                <a:cs typeface="Arial"/>
              </a:defRPr>
            </a:lvl1pPr>
          </a:lstStyle>
          <a:p>
            <a:r>
              <a:rPr lang="en-US" dirty="0"/>
              <a:t>Click to edit master title style</a:t>
            </a:r>
          </a:p>
        </p:txBody>
      </p:sp>
      <p:sp>
        <p:nvSpPr>
          <p:cNvPr id="5" name="Rectangle 4"/>
          <p:cNvSpPr/>
          <p:nvPr userDrawn="1"/>
        </p:nvSpPr>
        <p:spPr>
          <a:xfrm>
            <a:off x="0" y="957832"/>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 Placeholder 19"/>
          <p:cNvSpPr>
            <a:spLocks noGrp="1"/>
          </p:cNvSpPr>
          <p:nvPr>
            <p:ph type="body" sz="quarter" idx="10" hasCustomPrompt="1"/>
          </p:nvPr>
        </p:nvSpPr>
        <p:spPr>
          <a:xfrm>
            <a:off x="4833956" y="284947"/>
            <a:ext cx="3700462" cy="252412"/>
          </a:xfrm>
        </p:spPr>
        <p:txBody>
          <a:bodyPr>
            <a:noAutofit/>
          </a:bodyPr>
          <a:lstStyle>
            <a:lvl1pPr marL="0" indent="0" algn="r">
              <a:buNone/>
              <a:defRPr sz="1100" b="0" i="0" spc="0" baseline="0">
                <a:solidFill>
                  <a:srgbClr val="A6A6A6"/>
                </a:solidFill>
                <a:latin typeface="Arial"/>
                <a:cs typeface="Arial"/>
              </a:defRPr>
            </a:lvl1pPr>
          </a:lstStyle>
          <a:p>
            <a:pPr lvl="0"/>
            <a:r>
              <a:rPr lang="en-US" dirty="0"/>
              <a:t>SECTION TITLE OR SUBTITLE</a:t>
            </a:r>
          </a:p>
        </p:txBody>
      </p:sp>
      <p:sp>
        <p:nvSpPr>
          <p:cNvPr id="4" name="TextBox 3"/>
          <p:cNvSpPr txBox="1"/>
          <p:nvPr userDrawn="1"/>
        </p:nvSpPr>
        <p:spPr>
          <a:xfrm>
            <a:off x="3556000" y="3541059"/>
            <a:ext cx="184666" cy="369332"/>
          </a:xfrm>
          <a:prstGeom prst="rect">
            <a:avLst/>
          </a:prstGeom>
          <a:noFill/>
        </p:spPr>
        <p:txBody>
          <a:bodyPr wrap="none" rtlCol="0">
            <a:spAutoFit/>
          </a:bodyPr>
          <a:lstStyle/>
          <a:p>
            <a:endParaRPr lang="en-US" dirty="0"/>
          </a:p>
        </p:txBody>
      </p:sp>
      <p:sp>
        <p:nvSpPr>
          <p:cNvPr id="7" name="Text Placeholder 2"/>
          <p:cNvSpPr>
            <a:spLocks noGrp="1"/>
          </p:cNvSpPr>
          <p:nvPr>
            <p:ph idx="1" hasCustomPrompt="1"/>
          </p:nvPr>
        </p:nvSpPr>
        <p:spPr>
          <a:xfrm>
            <a:off x="518824" y="1629404"/>
            <a:ext cx="8015594" cy="2810633"/>
          </a:xfrm>
          <a:prstGeom prst="rect">
            <a:avLst/>
          </a:prstGeom>
        </p:spPr>
        <p:txBody>
          <a:bodyPr vert="horz" lIns="91440" tIns="45720" rIns="91440" bIns="45720" rtlCol="0">
            <a:norm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a:solidFill>
                  <a:srgbClr val="404041"/>
                </a:solidFill>
                <a:latin typeface="Arial"/>
                <a:cs typeface="Arial"/>
              </a:defRPr>
            </a:lvl1pPr>
            <a:lvl2pPr>
              <a:lnSpc>
                <a:spcPct val="100000"/>
              </a:lnSpc>
              <a:defRPr sz="1600">
                <a:solidFill>
                  <a:srgbClr val="404041"/>
                </a:solidFill>
                <a:latin typeface="Arial"/>
                <a:cs typeface="Arial"/>
              </a:defRPr>
            </a:lvl2pPr>
            <a:lvl3pPr>
              <a:lnSpc>
                <a:spcPct val="100000"/>
              </a:lnSpc>
              <a:defRPr sz="1600">
                <a:solidFill>
                  <a:srgbClr val="404041"/>
                </a:solidFill>
                <a:latin typeface="Arial"/>
                <a:cs typeface="Arial"/>
              </a:defRPr>
            </a:lvl3pPr>
            <a:lvl4pPr>
              <a:lnSpc>
                <a:spcPct val="100000"/>
              </a:lnSpc>
              <a:defRPr sz="1600">
                <a:solidFill>
                  <a:srgbClr val="404041"/>
                </a:solidFill>
                <a:latin typeface="Arial"/>
                <a:cs typeface="Arial"/>
              </a:defRPr>
            </a:lvl4pPr>
            <a:lvl5pPr>
              <a:lnSpc>
                <a:spcPct val="100000"/>
              </a:lnSpc>
              <a:defRPr sz="1600">
                <a:solidFill>
                  <a:srgbClr val="404041"/>
                </a:solidFill>
                <a:latin typeface="Arial"/>
                <a:cs typeface="Arial"/>
              </a:defRPr>
            </a:lvl5pPr>
          </a:lstStyle>
          <a:p>
            <a:pPr lvl="0"/>
            <a:r>
              <a:rPr lang="en-US" dirty="0"/>
              <a:t>Click to edit master subtitle style</a:t>
            </a:r>
          </a:p>
        </p:txBody>
      </p:sp>
      <p:grpSp>
        <p:nvGrpSpPr>
          <p:cNvPr id="12" name="Group 11"/>
          <p:cNvGrpSpPr/>
          <p:nvPr userDrawn="1"/>
        </p:nvGrpSpPr>
        <p:grpSpPr>
          <a:xfrm>
            <a:off x="-30788" y="4661517"/>
            <a:ext cx="9228667" cy="528963"/>
            <a:chOff x="-30788" y="4661517"/>
            <a:chExt cx="9228667" cy="528963"/>
          </a:xfrm>
        </p:grpSpPr>
        <p:sp>
          <p:nvSpPr>
            <p:cNvPr id="14" name="Rectangle 13"/>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21" name="TextBox 20"/>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3682060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and photo: whit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5303" y="464386"/>
            <a:ext cx="4560579" cy="779318"/>
          </a:xfrm>
          <a:prstGeom prst="rect">
            <a:avLst/>
          </a:prstGeom>
        </p:spPr>
        <p:txBody>
          <a:bodyPr vert="horz" lIns="91440" tIns="45720" rIns="91440" bIns="45720" rtlCol="0" anchor="ctr">
            <a:noAutofit/>
          </a:bodyPr>
          <a:lstStyle>
            <a:lvl1pPr>
              <a:defRPr sz="3000" b="1" i="0" spc="0">
                <a:solidFill>
                  <a:srgbClr val="404041"/>
                </a:solidFill>
                <a:latin typeface="Arial"/>
                <a:cs typeface="Arial"/>
              </a:defRPr>
            </a:lvl1pPr>
          </a:lstStyle>
          <a:p>
            <a:r>
              <a:rPr lang="en-US" dirty="0"/>
              <a:t>Click to edit master title style</a:t>
            </a:r>
          </a:p>
        </p:txBody>
      </p:sp>
      <p:sp>
        <p:nvSpPr>
          <p:cNvPr id="8" name="Text Placeholder 2"/>
          <p:cNvSpPr>
            <a:spLocks noGrp="1"/>
          </p:cNvSpPr>
          <p:nvPr>
            <p:ph idx="1"/>
          </p:nvPr>
        </p:nvSpPr>
        <p:spPr>
          <a:xfrm>
            <a:off x="525303" y="1629405"/>
            <a:ext cx="4560579" cy="2792362"/>
          </a:xfrm>
          <a:prstGeom prst="rect">
            <a:avLst/>
          </a:prstGeom>
        </p:spPr>
        <p:txBody>
          <a:bodyPr vert="horz" lIns="91440" tIns="45720" rIns="91440" bIns="45720" rtlCol="0">
            <a:normAutofit/>
          </a:bodyPr>
          <a:lstStyle>
            <a:lvl1pPr marL="342900" indent="-342900">
              <a:lnSpc>
                <a:spcPct val="100000"/>
              </a:lnSpc>
              <a:buFont typeface="Arial"/>
              <a:buChar char="•"/>
              <a:defRPr sz="1800">
                <a:solidFill>
                  <a:srgbClr val="404041"/>
                </a:solidFill>
                <a:latin typeface="Arial"/>
                <a:cs typeface="Arial"/>
              </a:defRPr>
            </a:lvl1pPr>
            <a:lvl2pPr marL="742950" indent="-285750">
              <a:lnSpc>
                <a:spcPct val="100000"/>
              </a:lnSpc>
              <a:buFont typeface="Arial"/>
              <a:buChar char="•"/>
              <a:defRPr sz="1800">
                <a:solidFill>
                  <a:srgbClr val="404041"/>
                </a:solidFill>
                <a:latin typeface="Arial"/>
                <a:cs typeface="Arial"/>
              </a:defRPr>
            </a:lvl2pPr>
            <a:lvl3pPr marL="1143000" indent="-228600">
              <a:lnSpc>
                <a:spcPct val="100000"/>
              </a:lnSpc>
              <a:buFont typeface="Arial"/>
              <a:buChar char="•"/>
              <a:defRPr sz="1800">
                <a:solidFill>
                  <a:srgbClr val="404041"/>
                </a:solidFill>
                <a:latin typeface="Arial"/>
                <a:cs typeface="Arial"/>
              </a:defRPr>
            </a:lvl3pPr>
            <a:lvl4pPr marL="1600200" indent="-228600">
              <a:lnSpc>
                <a:spcPct val="100000"/>
              </a:lnSpc>
              <a:buFont typeface="Arial"/>
              <a:buChar char="•"/>
              <a:defRPr sz="1800">
                <a:solidFill>
                  <a:srgbClr val="404041"/>
                </a:solidFill>
                <a:latin typeface="Arial"/>
                <a:cs typeface="Arial"/>
              </a:defRPr>
            </a:lvl4pPr>
            <a:lvl5pPr marL="2057400" indent="-228600">
              <a:lnSpc>
                <a:spcPct val="100000"/>
              </a:lnSpc>
              <a:buFont typeface="Arial"/>
              <a:buChar char="•"/>
              <a:defRPr sz="1800">
                <a:solidFill>
                  <a:srgbClr val="40404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0"/>
          </p:nvPr>
        </p:nvSpPr>
        <p:spPr>
          <a:xfrm>
            <a:off x="5573058" y="0"/>
            <a:ext cx="3570941" cy="5143500"/>
          </a:xfrm>
        </p:spPr>
        <p:txBody>
          <a:bodyPr/>
          <a:lstStyle/>
          <a:p>
            <a:r>
              <a:rPr lang="en-US"/>
              <a:t>Click icon to add picture</a:t>
            </a:r>
          </a:p>
        </p:txBody>
      </p:sp>
      <p:sp>
        <p:nvSpPr>
          <p:cNvPr id="17" name="Rectangle 16"/>
          <p:cNvSpPr/>
          <p:nvPr userDrawn="1"/>
        </p:nvSpPr>
        <p:spPr>
          <a:xfrm>
            <a:off x="0" y="486799"/>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635303" y="4661517"/>
            <a:ext cx="387197" cy="528963"/>
            <a:chOff x="635303" y="4661517"/>
            <a:chExt cx="387197" cy="528963"/>
          </a:xfrm>
        </p:grpSpPr>
        <p:sp>
          <p:nvSpPr>
            <p:cNvPr id="11" name="Rectangle 10"/>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322038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ly: blac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3348" y="759070"/>
            <a:ext cx="8004409" cy="699065"/>
          </a:xfrm>
        </p:spPr>
        <p:txBody>
          <a:bodyPr>
            <a:normAutofit/>
          </a:bodyPr>
          <a:lstStyle>
            <a:lvl1pPr>
              <a:defRPr sz="3000" b="1" i="0" cap="none" spc="0">
                <a:solidFill>
                  <a:schemeClr val="bg1"/>
                </a:solidFill>
                <a:latin typeface="Arial"/>
                <a:cs typeface="Arial"/>
              </a:defRPr>
            </a:lvl1pPr>
          </a:lstStyle>
          <a:p>
            <a:r>
              <a:rPr lang="en-US" dirty="0"/>
              <a:t>Click to edit master title style</a:t>
            </a:r>
          </a:p>
        </p:txBody>
      </p:sp>
      <p:sp>
        <p:nvSpPr>
          <p:cNvPr id="3" name="Subtitle 2"/>
          <p:cNvSpPr>
            <a:spLocks noGrp="1"/>
          </p:cNvSpPr>
          <p:nvPr>
            <p:ph type="subTitle" idx="1"/>
          </p:nvPr>
        </p:nvSpPr>
        <p:spPr>
          <a:xfrm>
            <a:off x="523348" y="1630404"/>
            <a:ext cx="8011069" cy="2818769"/>
          </a:xfrm>
        </p:spPr>
        <p:txBody>
          <a:bodyPr>
            <a:normAutofit/>
          </a:bodyPr>
          <a:lstStyle>
            <a:lvl1pPr marL="342900" indent="-342900" algn="l">
              <a:lnSpc>
                <a:spcPct val="100000"/>
              </a:lnSpc>
              <a:buFont typeface="+mj-lt"/>
              <a:buAutoNum type="arabicPeriod"/>
              <a:defRPr sz="1800" spc="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Text Placeholder 19"/>
          <p:cNvSpPr>
            <a:spLocks noGrp="1"/>
          </p:cNvSpPr>
          <p:nvPr>
            <p:ph type="body" sz="quarter" idx="10" hasCustomPrompt="1"/>
          </p:nvPr>
        </p:nvSpPr>
        <p:spPr>
          <a:xfrm>
            <a:off x="4833956" y="284947"/>
            <a:ext cx="3700462" cy="252412"/>
          </a:xfrm>
        </p:spPr>
        <p:txBody>
          <a:bodyPr>
            <a:noAutofit/>
          </a:bodyPr>
          <a:lstStyle>
            <a:lvl1pPr marL="0" indent="0" algn="r">
              <a:buNone/>
              <a:defRPr sz="1100" b="0" i="0" spc="0" baseline="0">
                <a:solidFill>
                  <a:srgbClr val="A6A6A6"/>
                </a:solidFill>
                <a:latin typeface="Arial"/>
                <a:cs typeface="Arial"/>
              </a:defRPr>
            </a:lvl1pPr>
          </a:lstStyle>
          <a:p>
            <a:pPr lvl="0"/>
            <a:r>
              <a:rPr lang="en-US" dirty="0"/>
              <a:t>SECTION TITLE OR SUBTITLE</a:t>
            </a:r>
          </a:p>
        </p:txBody>
      </p:sp>
      <p:sp>
        <p:nvSpPr>
          <p:cNvPr id="23" name="Rectangle 22"/>
          <p:cNvSpPr/>
          <p:nvPr userDrawn="1"/>
        </p:nvSpPr>
        <p:spPr>
          <a:xfrm>
            <a:off x="0" y="957832"/>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 name="Group 10"/>
          <p:cNvGrpSpPr/>
          <p:nvPr userDrawn="1"/>
        </p:nvGrpSpPr>
        <p:grpSpPr>
          <a:xfrm>
            <a:off x="-30788" y="4661517"/>
            <a:ext cx="9228667" cy="528963"/>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1728351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photo: black">
    <p:bg>
      <p:bgPr>
        <a:solidFill>
          <a:srgbClr val="252626"/>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30124" y="464386"/>
            <a:ext cx="4560579" cy="779318"/>
          </a:xfrm>
          <a:prstGeom prst="rect">
            <a:avLst/>
          </a:prstGeom>
        </p:spPr>
        <p:txBody>
          <a:bodyPr vert="horz" lIns="91440" tIns="45720" rIns="91440" bIns="45720" rtlCol="0" anchor="ctr">
            <a:noAutofit/>
          </a:bodyPr>
          <a:lstStyle>
            <a:lvl1pPr>
              <a:defRPr sz="3000" b="1" i="0" spc="0">
                <a:solidFill>
                  <a:schemeClr val="bg1"/>
                </a:solidFill>
                <a:latin typeface="Arial"/>
                <a:cs typeface="Arial"/>
              </a:defRPr>
            </a:lvl1pPr>
          </a:lstStyle>
          <a:p>
            <a:r>
              <a:rPr lang="en-US" dirty="0"/>
              <a:t>Click to edit master title style</a:t>
            </a:r>
          </a:p>
        </p:txBody>
      </p:sp>
      <p:sp>
        <p:nvSpPr>
          <p:cNvPr id="8" name="Text Placeholder 2"/>
          <p:cNvSpPr>
            <a:spLocks noGrp="1"/>
          </p:cNvSpPr>
          <p:nvPr>
            <p:ph idx="1"/>
          </p:nvPr>
        </p:nvSpPr>
        <p:spPr>
          <a:xfrm>
            <a:off x="530124" y="1629404"/>
            <a:ext cx="4560579" cy="2801497"/>
          </a:xfrm>
          <a:prstGeom prst="rect">
            <a:avLst/>
          </a:prstGeom>
        </p:spPr>
        <p:txBody>
          <a:bodyPr vert="horz" lIns="91440" tIns="45720" rIns="91440" bIns="45720" rtlCol="0">
            <a:normAutofit/>
          </a:bodyPr>
          <a:lstStyle>
            <a:lvl1pPr marL="342900" indent="-342900">
              <a:lnSpc>
                <a:spcPct val="100000"/>
              </a:lnSpc>
              <a:buFont typeface="Arial"/>
              <a:buChar char="•"/>
              <a:defRPr sz="1800">
                <a:solidFill>
                  <a:schemeClr val="bg1"/>
                </a:solidFill>
                <a:latin typeface="Arial"/>
                <a:cs typeface="Arial"/>
              </a:defRPr>
            </a:lvl1pPr>
            <a:lvl2pPr marL="742950" indent="-285750">
              <a:lnSpc>
                <a:spcPct val="100000"/>
              </a:lnSpc>
              <a:buFont typeface="Arial"/>
              <a:buChar char="•"/>
              <a:defRPr sz="1800">
                <a:solidFill>
                  <a:schemeClr val="bg1"/>
                </a:solidFill>
                <a:latin typeface="Arial"/>
                <a:cs typeface="Arial"/>
              </a:defRPr>
            </a:lvl2pPr>
            <a:lvl3pPr marL="1143000" indent="-228600">
              <a:lnSpc>
                <a:spcPct val="100000"/>
              </a:lnSpc>
              <a:buFont typeface="Arial"/>
              <a:buChar char="•"/>
              <a:defRPr sz="1800">
                <a:solidFill>
                  <a:schemeClr val="bg1"/>
                </a:solidFill>
                <a:latin typeface="Arial"/>
                <a:cs typeface="Arial"/>
              </a:defRPr>
            </a:lvl3pPr>
            <a:lvl4pPr marL="1600200" indent="-228600">
              <a:lnSpc>
                <a:spcPct val="100000"/>
              </a:lnSpc>
              <a:buFont typeface="Arial"/>
              <a:buChar char="•"/>
              <a:defRPr sz="1800">
                <a:solidFill>
                  <a:schemeClr val="bg1"/>
                </a:solidFill>
                <a:latin typeface="Arial"/>
                <a:cs typeface="Arial"/>
              </a:defRPr>
            </a:lvl4pPr>
            <a:lvl5pPr marL="2057400" indent="-228600">
              <a:lnSpc>
                <a:spcPct val="100000"/>
              </a:lnSpc>
              <a:buFont typeface="Arial"/>
              <a:buChar char="•"/>
              <a:defRPr sz="1800">
                <a:solidFill>
                  <a:schemeClr val="bg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0"/>
          </p:nvPr>
        </p:nvSpPr>
        <p:spPr>
          <a:xfrm>
            <a:off x="5564909" y="0"/>
            <a:ext cx="3570941" cy="5143500"/>
          </a:xfrm>
        </p:spPr>
        <p:txBody>
          <a:bodyPr/>
          <a:lstStyle/>
          <a:p>
            <a:r>
              <a:rPr lang="en-US"/>
              <a:t>Click icon to add picture</a:t>
            </a:r>
            <a:endParaRPr lang="en-US" dirty="0"/>
          </a:p>
        </p:txBody>
      </p:sp>
      <p:sp>
        <p:nvSpPr>
          <p:cNvPr id="13" name="Rectangle 12"/>
          <p:cNvSpPr/>
          <p:nvPr userDrawn="1"/>
        </p:nvSpPr>
        <p:spPr>
          <a:xfrm>
            <a:off x="-15847" y="486799"/>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635303" y="4661517"/>
            <a:ext cx="387197" cy="528963"/>
            <a:chOff x="635303" y="4661517"/>
            <a:chExt cx="387197" cy="528963"/>
          </a:xfrm>
        </p:grpSpPr>
        <p:sp>
          <p:nvSpPr>
            <p:cNvPr id="12" name="Rectangle 11"/>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11433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footer: white">
    <p:spTree>
      <p:nvGrpSpPr>
        <p:cNvPr id="1" name=""/>
        <p:cNvGrpSpPr/>
        <p:nvPr/>
      </p:nvGrpSpPr>
      <p:grpSpPr>
        <a:xfrm>
          <a:off x="0" y="0"/>
          <a:ext cx="0" cy="0"/>
          <a:chOff x="0" y="0"/>
          <a:chExt cx="0" cy="0"/>
        </a:xfrm>
      </p:grpSpPr>
      <p:grpSp>
        <p:nvGrpSpPr>
          <p:cNvPr id="8" name="Group 7"/>
          <p:cNvGrpSpPr/>
          <p:nvPr userDrawn="1"/>
        </p:nvGrpSpPr>
        <p:grpSpPr>
          <a:xfrm>
            <a:off x="-30788" y="4661517"/>
            <a:ext cx="9228667" cy="528963"/>
            <a:chOff x="-30788" y="4661517"/>
            <a:chExt cx="9228667" cy="528963"/>
          </a:xfrm>
        </p:grpSpPr>
        <p:sp>
          <p:nvSpPr>
            <p:cNvPr id="9" name="Rectangle 8"/>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2" name="TextBox 11"/>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131565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with footer: black">
    <p:bg>
      <p:bgPr>
        <a:solidFill>
          <a:srgbClr val="252626"/>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30788" y="4661517"/>
            <a:ext cx="9228667" cy="528963"/>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727036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with IUPUI lockup">
    <p:bg>
      <p:bgPr>
        <a:solidFill>
          <a:srgbClr val="690304"/>
        </a:solidFill>
        <a:effectLst/>
      </p:bgPr>
    </p:bg>
    <p:spTree>
      <p:nvGrpSpPr>
        <p:cNvPr id="1" name=""/>
        <p:cNvGrpSpPr/>
        <p:nvPr/>
      </p:nvGrpSpPr>
      <p:grpSpPr>
        <a:xfrm>
          <a:off x="0" y="0"/>
          <a:ext cx="0" cy="0"/>
          <a:chOff x="0" y="0"/>
          <a:chExt cx="0" cy="0"/>
        </a:xfrm>
      </p:grpSpPr>
      <p:sp>
        <p:nvSpPr>
          <p:cNvPr id="8" name="Text Placeholder 2"/>
          <p:cNvSpPr>
            <a:spLocks noGrp="1"/>
          </p:cNvSpPr>
          <p:nvPr userDrawn="1">
            <p:ph idx="1"/>
          </p:nvPr>
        </p:nvSpPr>
        <p:spPr>
          <a:xfrm>
            <a:off x="536602" y="680397"/>
            <a:ext cx="7859185" cy="2721665"/>
          </a:xfrm>
          <a:prstGeom prst="rect">
            <a:avLst/>
          </a:prstGeom>
        </p:spPr>
        <p:txBody>
          <a:bodyPr vert="horz" lIns="91440" tIns="45720" rIns="91440" bIns="45720" rtlCol="0">
            <a:normAutofit/>
          </a:bodyPr>
          <a:lstStyle>
            <a:lvl1pPr marL="0" indent="0">
              <a:lnSpc>
                <a:spcPct val="100000"/>
              </a:lnSpc>
              <a:buNone/>
              <a:defRPr sz="1800">
                <a:solidFill>
                  <a:schemeClr val="bg1"/>
                </a:solidFill>
                <a:latin typeface="Arial"/>
                <a:cs typeface="Arial"/>
              </a:defRPr>
            </a:lvl1pPr>
            <a:lvl2pPr marL="457200" indent="0">
              <a:lnSpc>
                <a:spcPct val="100000"/>
              </a:lnSpc>
              <a:buNone/>
              <a:defRPr sz="1600">
                <a:solidFill>
                  <a:schemeClr val="bg1"/>
                </a:solidFill>
                <a:latin typeface="Arial"/>
                <a:cs typeface="Arial"/>
              </a:defRPr>
            </a:lvl2pPr>
            <a:lvl3pPr marL="914400" indent="0">
              <a:lnSpc>
                <a:spcPct val="100000"/>
              </a:lnSpc>
              <a:buNone/>
              <a:defRPr sz="1600">
                <a:solidFill>
                  <a:schemeClr val="bg1"/>
                </a:solidFill>
                <a:latin typeface="Arial"/>
                <a:cs typeface="Arial"/>
              </a:defRPr>
            </a:lvl3pPr>
            <a:lvl4pPr marL="1371600" indent="0">
              <a:lnSpc>
                <a:spcPct val="100000"/>
              </a:lnSpc>
              <a:buNone/>
              <a:defRPr sz="1600">
                <a:solidFill>
                  <a:schemeClr val="bg1"/>
                </a:solidFill>
                <a:latin typeface="Arial"/>
                <a:cs typeface="Arial"/>
              </a:defRPr>
            </a:lvl4pPr>
            <a:lvl5pPr>
              <a:lnSpc>
                <a:spcPct val="100000"/>
              </a:lnSpc>
              <a:defRPr sz="1600">
                <a:solidFill>
                  <a:schemeClr val="bg1"/>
                </a:solidFill>
                <a:latin typeface="Arial"/>
                <a:cs typeface="Arial"/>
              </a:defRPr>
            </a:lvl5pPr>
          </a:lstStyle>
          <a:p>
            <a:pPr lvl="0"/>
            <a:r>
              <a:rPr lang="en-US"/>
              <a:t>Click to edit Master text styles</a:t>
            </a:r>
          </a:p>
        </p:txBody>
      </p:sp>
      <p:sp>
        <p:nvSpPr>
          <p:cNvPr id="10" name="Rectangle 9"/>
          <p:cNvSpPr/>
          <p:nvPr userDrawn="1"/>
        </p:nvSpPr>
        <p:spPr>
          <a:xfrm>
            <a:off x="-15847" y="680397"/>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31042" y="4235585"/>
            <a:ext cx="536130" cy="92208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28D10E6-FF8A-CC4E-B6D5-BFBD2D0FEC82}"/>
              </a:ext>
            </a:extLst>
          </p:cNvPr>
          <p:cNvPicPr>
            <a:picLocks noChangeAspect="1"/>
          </p:cNvPicPr>
          <p:nvPr userDrawn="1"/>
        </p:nvPicPr>
        <p:blipFill rotWithShape="1">
          <a:blip r:embed="rId2"/>
          <a:srcRect l="11083" t="-148" r="-1556" b="28718"/>
          <a:stretch/>
        </p:blipFill>
        <p:spPr>
          <a:xfrm>
            <a:off x="1240484" y="4147274"/>
            <a:ext cx="4622227" cy="457200"/>
          </a:xfrm>
          <a:prstGeom prst="rect">
            <a:avLst/>
          </a:prstGeom>
        </p:spPr>
      </p:pic>
      <p:pic>
        <p:nvPicPr>
          <p:cNvPr id="13" name="Picture 12" descr="tab-rgb.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0345" y="4326066"/>
            <a:ext cx="357525" cy="453783"/>
          </a:xfrm>
          <a:prstGeom prst="rect">
            <a:avLst/>
          </a:prstGeom>
        </p:spPr>
      </p:pic>
    </p:spTree>
    <p:extLst>
      <p:ext uri="{BB962C8B-B14F-4D97-AF65-F5344CB8AC3E}">
        <p14:creationId xmlns:p14="http://schemas.microsoft.com/office/powerpoint/2010/main" val="118966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61892" y="634604"/>
            <a:ext cx="6802482"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61892" y="1589938"/>
            <a:ext cx="6802482" cy="32152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93469" r:id="rId1"/>
    <p:sldLayoutId id="2147493467" r:id="rId2"/>
    <p:sldLayoutId id="2147493472" r:id="rId3"/>
    <p:sldLayoutId id="2147493457" r:id="rId4"/>
    <p:sldLayoutId id="2147493456" r:id="rId5"/>
    <p:sldLayoutId id="2147493474" r:id="rId6"/>
    <p:sldLayoutId id="2147493475" r:id="rId7"/>
    <p:sldLayoutId id="2147493476" r:id="rId8"/>
    <p:sldLayoutId id="2147493477" r:id="rId9"/>
  </p:sldLayoutIdLst>
  <p:txStyles>
    <p:titleStyle>
      <a:lvl1pPr algn="l" defTabSz="457200" rtl="0" eaLnBrk="1" latinLnBrk="0" hangingPunct="1">
        <a:spcBef>
          <a:spcPct val="0"/>
        </a:spcBef>
        <a:buNone/>
        <a:defRPr sz="3200" b="1" i="0" kern="100" spc="0">
          <a:solidFill>
            <a:schemeClr val="tx1"/>
          </a:solidFill>
          <a:latin typeface="Arial"/>
          <a:ea typeface="+mj-ea"/>
          <a:cs typeface="Arial"/>
        </a:defRPr>
      </a:lvl1pPr>
    </p:titleStyle>
    <p:bodyStyle>
      <a:lvl1pPr marL="342900" indent="-342900" algn="l"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Char char="§"/>
        <a:defRPr sz="1800" kern="120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03" y="2766523"/>
            <a:ext cx="7734221" cy="1043478"/>
          </a:xfrm>
        </p:spPr>
        <p:txBody>
          <a:bodyPr>
            <a:normAutofit/>
          </a:bodyPr>
          <a:lstStyle/>
          <a:p>
            <a:r>
              <a:rPr lang="en-US" sz="3000" dirty="0"/>
              <a:t>Rent Capture or Regional Forces?</a:t>
            </a:r>
            <a:br>
              <a:rPr lang="en-US" sz="3000" dirty="0"/>
            </a:br>
            <a:r>
              <a:rPr lang="en-US" sz="3000" dirty="0"/>
              <a:t>Fiscal Interaction in Metropolitan Areas</a:t>
            </a:r>
            <a:endParaRPr lang="en-US" sz="2200" dirty="0"/>
          </a:p>
        </p:txBody>
      </p:sp>
      <p:sp>
        <p:nvSpPr>
          <p:cNvPr id="3" name="Text Placeholder 2"/>
          <p:cNvSpPr>
            <a:spLocks noGrp="1"/>
          </p:cNvSpPr>
          <p:nvPr>
            <p:ph type="body" sz="quarter" idx="10"/>
          </p:nvPr>
        </p:nvSpPr>
        <p:spPr/>
        <p:txBody>
          <a:bodyPr/>
          <a:lstStyle/>
          <a:p>
            <a:r>
              <a:rPr lang="en-US" dirty="0"/>
              <a:t>ABFM Conference · September 24, 2026</a:t>
            </a:r>
          </a:p>
        </p:txBody>
      </p:sp>
      <p:sp>
        <p:nvSpPr>
          <p:cNvPr id="4" name="Text Placeholder 3"/>
          <p:cNvSpPr>
            <a:spLocks noGrp="1"/>
          </p:cNvSpPr>
          <p:nvPr>
            <p:ph type="body" sz="quarter" idx="11"/>
          </p:nvPr>
        </p:nvSpPr>
        <p:spPr/>
        <p:txBody>
          <a:bodyPr/>
          <a:lstStyle/>
          <a:p>
            <a:r>
              <a:rPr lang="en-US" dirty="0"/>
              <a:t>O’Neill School of Public and Environmental Affairs</a:t>
            </a:r>
          </a:p>
        </p:txBody>
      </p:sp>
      <p:sp>
        <p:nvSpPr>
          <p:cNvPr id="5" name="Title 1">
            <a:extLst>
              <a:ext uri="{FF2B5EF4-FFF2-40B4-BE49-F238E27FC236}">
                <a16:creationId xmlns:a16="http://schemas.microsoft.com/office/drawing/2014/main" id="{E6CF6985-BD46-9F88-269E-1358F50A8D53}"/>
              </a:ext>
            </a:extLst>
          </p:cNvPr>
          <p:cNvSpPr txBox="1">
            <a:spLocks/>
          </p:cNvSpPr>
          <p:nvPr/>
        </p:nvSpPr>
        <p:spPr>
          <a:xfrm>
            <a:off x="530694" y="3810001"/>
            <a:ext cx="7734221" cy="706743"/>
          </a:xfrm>
          <a:prstGeom prst="rect">
            <a:avLst/>
          </a:prstGeom>
        </p:spPr>
        <p:txBody>
          <a:bodyPr vert="horz" lIns="91440" tIns="45720" rIns="91440" bIns="45720" rtlCol="0" anchor="ctr">
            <a:normAutofit lnSpcReduction="10000"/>
          </a:bodyPr>
          <a:lstStyle>
            <a:lvl1pPr algn="l" defTabSz="457200" rtl="0" eaLnBrk="1" latinLnBrk="0" hangingPunct="1">
              <a:lnSpc>
                <a:spcPct val="90000"/>
              </a:lnSpc>
              <a:spcBef>
                <a:spcPct val="0"/>
              </a:spcBef>
              <a:buNone/>
              <a:defRPr sz="4000" b="1" i="0" kern="100" spc="0" baseline="0">
                <a:solidFill>
                  <a:schemeClr val="bg1"/>
                </a:solidFill>
                <a:latin typeface="Arial"/>
                <a:ea typeface="+mj-ea"/>
                <a:cs typeface="Arial"/>
              </a:defRPr>
            </a:lvl1pPr>
          </a:lstStyle>
          <a:p>
            <a:br>
              <a:rPr lang="en-US" sz="3000" dirty="0"/>
            </a:br>
            <a:r>
              <a:rPr lang="en-US" sz="1600" dirty="0"/>
              <a:t>Steven Craig, Oscar Galvez-Soriano, Annie Yu-Hsin Hsu, Janet Kohlhase</a:t>
            </a:r>
            <a:endParaRPr lang="en-US" sz="2200" dirty="0"/>
          </a:p>
        </p:txBody>
      </p:sp>
    </p:spTree>
    <p:extLst>
      <p:ext uri="{BB962C8B-B14F-4D97-AF65-F5344CB8AC3E}">
        <p14:creationId xmlns:p14="http://schemas.microsoft.com/office/powerpoint/2010/main" val="919017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Text Placeholder 2"/>
          <p:cNvSpPr>
            <a:spLocks noGrp="1"/>
          </p:cNvSpPr>
          <p:nvPr>
            <p:ph type="body" sz="quarter" idx="10"/>
          </p:nvPr>
        </p:nvSpPr>
        <p:spPr/>
        <p:txBody>
          <a:bodyPr/>
          <a:lstStyle/>
          <a:p>
            <a:r>
              <a:rPr lang="en-US" dirty="0"/>
              <a:t>SECTION 1</a:t>
            </a:r>
          </a:p>
        </p:txBody>
      </p:sp>
    </p:spTree>
    <p:extLst>
      <p:ext uri="{BB962C8B-B14F-4D97-AF65-F5344CB8AC3E}">
        <p14:creationId xmlns:p14="http://schemas.microsoft.com/office/powerpoint/2010/main" val="2409528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7987552" cy="857250"/>
          </a:xfrm>
        </p:spPr>
        <p:txBody>
          <a:bodyPr anchor="ctr">
            <a:normAutofit/>
          </a:bodyPr>
          <a:lstStyle/>
          <a:p>
            <a:pPr>
              <a:lnSpc>
                <a:spcPct val="90000"/>
              </a:lnSpc>
            </a:pPr>
            <a:r>
              <a:rPr lang="en-US" sz="2600" dirty="0"/>
              <a:t>Metropolitan fiscal restructuring in the long run:</a:t>
            </a:r>
          </a:p>
        </p:txBody>
      </p:sp>
      <p:sp>
        <p:nvSpPr>
          <p:cNvPr id="11" name="Text Placeholder 2">
            <a:extLst>
              <a:ext uri="{FF2B5EF4-FFF2-40B4-BE49-F238E27FC236}">
                <a16:creationId xmlns:a16="http://schemas.microsoft.com/office/drawing/2014/main" id="{A2178DE7-F4FC-2487-3637-D8D124702AD2}"/>
              </a:ext>
            </a:extLst>
          </p:cNvPr>
          <p:cNvSpPr>
            <a:spLocks noGrp="1"/>
          </p:cNvSpPr>
          <p:nvPr>
            <p:ph type="body" sz="quarter" idx="10"/>
          </p:nvPr>
        </p:nvSpPr>
        <p:spPr>
          <a:xfrm>
            <a:off x="5443537" y="4883240"/>
            <a:ext cx="3700462" cy="252412"/>
          </a:xfrm>
        </p:spPr>
        <p:txBody>
          <a:bodyPr/>
          <a:lstStyle/>
          <a:p>
            <a:r>
              <a:rPr lang="en-US" dirty="0"/>
              <a:t>Rent Capture or Regional Forces?</a:t>
            </a:r>
          </a:p>
        </p:txBody>
      </p:sp>
      <p:sp>
        <p:nvSpPr>
          <p:cNvPr id="3" name="Content Placeholder 2"/>
          <p:cNvSpPr>
            <a:spLocks noGrp="1"/>
          </p:cNvSpPr>
          <p:nvPr>
            <p:ph idx="1"/>
          </p:nvPr>
        </p:nvSpPr>
        <p:spPr>
          <a:xfrm>
            <a:off x="5751870" y="1354238"/>
            <a:ext cx="3392129" cy="3286587"/>
          </a:xfrm>
        </p:spPr>
        <p:txBody>
          <a:bodyPr vert="horz" lIns="91440" tIns="45720" rIns="91440" bIns="45720" rtlCol="0">
            <a:normAutofit/>
          </a:bodyPr>
          <a:lstStyle/>
          <a:p>
            <a:pPr>
              <a:buClr>
                <a:srgbClr val="808080"/>
              </a:buClr>
              <a:buFont typeface="Arial" panose="020B0604020202020204" pitchFamily="34" charset="0"/>
              <a:buChar char="•"/>
            </a:pPr>
            <a:r>
              <a:rPr lang="en-US" dirty="0"/>
              <a:t>Suburban population shares have increased substantially</a:t>
            </a:r>
          </a:p>
          <a:p>
            <a:pPr>
              <a:buClr>
                <a:srgbClr val="808080"/>
              </a:buClr>
              <a:buFont typeface="Arial" panose="020B0604020202020204" pitchFamily="34" charset="0"/>
              <a:buChar char="•"/>
            </a:pPr>
            <a:r>
              <a:rPr lang="en-US" dirty="0"/>
              <a:t>Suburbanization reallocates tax bases across jurisdictions</a:t>
            </a:r>
          </a:p>
        </p:txBody>
      </p:sp>
      <p:pic>
        <p:nvPicPr>
          <p:cNvPr id="6" name="Picture Placeholder 5">
            <a:extLst>
              <a:ext uri="{FF2B5EF4-FFF2-40B4-BE49-F238E27FC236}">
                <a16:creationId xmlns:a16="http://schemas.microsoft.com/office/drawing/2014/main" id="{652C2F4C-1ECA-6A8D-A934-BA68C9ED5DAB}"/>
              </a:ext>
            </a:extLst>
          </p:cNvPr>
          <p:cNvPicPr>
            <a:picLocks noGrp="1" noChangeAspect="1"/>
          </p:cNvPicPr>
          <p:nvPr>
            <p:ph type="pic" sz="quarter" idx="4294967295"/>
          </p:nvPr>
        </p:nvPicPr>
        <p:blipFill>
          <a:blip r:embed="rId3"/>
          <a:srcRect r="-4" b="1252"/>
          <a:stretch>
            <a:fillRect/>
          </a:stretch>
        </p:blipFill>
        <p:spPr>
          <a:xfrm>
            <a:off x="159194" y="614835"/>
            <a:ext cx="5604388" cy="4025990"/>
          </a:xfrm>
          <a:prstGeom prst="rect">
            <a:avLst/>
          </a:prstGeom>
          <a:noFill/>
        </p:spPr>
      </p:pic>
    </p:spTree>
    <p:extLst>
      <p:ext uri="{BB962C8B-B14F-4D97-AF65-F5344CB8AC3E}">
        <p14:creationId xmlns:p14="http://schemas.microsoft.com/office/powerpoint/2010/main" val="636483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8824" y="103434"/>
            <a:ext cx="8004391" cy="699065"/>
          </a:xfrm>
        </p:spPr>
        <p:txBody>
          <a:bodyPr>
            <a:normAutofit fontScale="90000"/>
          </a:bodyPr>
          <a:lstStyle/>
          <a:p>
            <a:r>
              <a:rPr lang="en-US" dirty="0"/>
              <a:t>Research question:</a:t>
            </a:r>
            <a:br>
              <a:rPr lang="en-US" dirty="0"/>
            </a:br>
            <a:r>
              <a:rPr lang="en-US" dirty="0"/>
              <a:t>What drives metropolitan fiscal co-movement?</a:t>
            </a:r>
          </a:p>
        </p:txBody>
      </p:sp>
      <p:sp>
        <p:nvSpPr>
          <p:cNvPr id="4" name="Content Placeholder 3"/>
          <p:cNvSpPr>
            <a:spLocks noGrp="1"/>
          </p:cNvSpPr>
          <p:nvPr>
            <p:ph idx="1"/>
          </p:nvPr>
        </p:nvSpPr>
        <p:spPr>
          <a:xfrm>
            <a:off x="518824" y="1003054"/>
            <a:ext cx="8162189" cy="3888034"/>
          </a:xfrm>
        </p:spPr>
        <p:txBody>
          <a:bodyPr>
            <a:normAutofit lnSpcReduction="10000"/>
          </a:bodyPr>
          <a:lstStyle/>
          <a:p>
            <a:r>
              <a:rPr lang="en-US" dirty="0"/>
              <a:t>Strategic interaction: </a:t>
            </a:r>
          </a:p>
          <a:p>
            <a:pPr lvl="1"/>
            <a:r>
              <a:rPr lang="en-US" dirty="0"/>
              <a:t>Central-city budgets respond to suburban fiscal expansion through strategic, political, or service-demand channels.</a:t>
            </a:r>
          </a:p>
          <a:p>
            <a:r>
              <a:rPr lang="en-US" dirty="0"/>
              <a:t>Common regional shocks: </a:t>
            </a:r>
          </a:p>
          <a:p>
            <a:pPr lvl="1"/>
            <a:r>
              <a:rPr lang="en-US" dirty="0"/>
              <a:t>Cities and suburbs share labor markets, housing demand, and state institutions.</a:t>
            </a:r>
          </a:p>
          <a:p>
            <a:r>
              <a:rPr lang="en-US" dirty="0"/>
              <a:t>Contribution: </a:t>
            </a:r>
          </a:p>
          <a:p>
            <a:pPr lvl="1"/>
            <a:r>
              <a:rPr lang="en-US" dirty="0"/>
              <a:t>Compare central-city tax and expenditure responses.</a:t>
            </a:r>
          </a:p>
          <a:p>
            <a:pPr lvl="1"/>
            <a:r>
              <a:rPr lang="en-US" dirty="0"/>
              <a:t>Assess sensitivity to regional controls.</a:t>
            </a:r>
          </a:p>
          <a:p>
            <a:pPr lvl="1"/>
            <a:r>
              <a:rPr lang="en-US" dirty="0"/>
              <a:t>Trace fiscal adjustment over multiple horizons.</a:t>
            </a:r>
          </a:p>
        </p:txBody>
      </p:sp>
      <p:sp>
        <p:nvSpPr>
          <p:cNvPr id="6" name="Text Placeholder 5">
            <a:extLst>
              <a:ext uri="{FF2B5EF4-FFF2-40B4-BE49-F238E27FC236}">
                <a16:creationId xmlns:a16="http://schemas.microsoft.com/office/drawing/2014/main" id="{3BC6FC52-1A09-109A-8F70-C8E1A260BC3D}"/>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2144012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FA143-8C49-FC8B-DB0F-BBE11F574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BCA80-FD48-9B97-EF6B-5DF3F0AE26AE}"/>
              </a:ext>
            </a:extLst>
          </p:cNvPr>
          <p:cNvSpPr>
            <a:spLocks noGrp="1"/>
          </p:cNvSpPr>
          <p:nvPr>
            <p:ph type="ctrTitle"/>
          </p:nvPr>
        </p:nvSpPr>
        <p:spPr>
          <a:xfrm>
            <a:off x="530027" y="100353"/>
            <a:ext cx="8004391" cy="920776"/>
          </a:xfrm>
        </p:spPr>
        <p:txBody>
          <a:bodyPr>
            <a:normAutofit fontScale="90000"/>
          </a:bodyPr>
          <a:lstStyle/>
          <a:p>
            <a:r>
              <a:rPr lang="en-US" dirty="0"/>
              <a:t>Conceptual Framework: </a:t>
            </a:r>
            <a:br>
              <a:rPr lang="en-US" dirty="0"/>
            </a:br>
            <a:r>
              <a:rPr lang="en-US" dirty="0"/>
              <a:t>Rent Capture and Fiscal Fundamentals</a:t>
            </a:r>
          </a:p>
        </p:txBody>
      </p:sp>
      <p:sp>
        <p:nvSpPr>
          <p:cNvPr id="4" name="Content Placeholder 3">
            <a:extLst>
              <a:ext uri="{FF2B5EF4-FFF2-40B4-BE49-F238E27FC236}">
                <a16:creationId xmlns:a16="http://schemas.microsoft.com/office/drawing/2014/main" id="{CC8428AF-27CD-0913-87E3-CF0337F800E1}"/>
              </a:ext>
            </a:extLst>
          </p:cNvPr>
          <p:cNvSpPr>
            <a:spLocks noGrp="1"/>
          </p:cNvSpPr>
          <p:nvPr>
            <p:ph idx="1"/>
          </p:nvPr>
        </p:nvSpPr>
        <p:spPr>
          <a:xfrm>
            <a:off x="518824" y="1083172"/>
            <a:ext cx="8015594" cy="4160159"/>
          </a:xfrm>
        </p:spPr>
        <p:txBody>
          <a:bodyPr>
            <a:normAutofit/>
          </a:bodyPr>
          <a:lstStyle/>
          <a:p>
            <a:pPr>
              <a:lnSpc>
                <a:spcPct val="120000"/>
              </a:lnSpc>
              <a:spcAft>
                <a:spcPts val="500"/>
              </a:spcAft>
            </a:pPr>
            <a:r>
              <a:rPr lang="en-US" sz="2000" dirty="0"/>
              <a:t>Rent extraction mechanism</a:t>
            </a:r>
          </a:p>
          <a:p>
            <a:pPr lvl="1">
              <a:lnSpc>
                <a:spcPct val="120000"/>
              </a:lnSpc>
              <a:spcAft>
                <a:spcPts val="500"/>
              </a:spcAft>
            </a:pPr>
            <a:r>
              <a:rPr lang="en-US" dirty="0"/>
              <a:t>Besley and Case (1995): political agency framework</a:t>
            </a:r>
          </a:p>
          <a:p>
            <a:pPr lvl="1">
              <a:lnSpc>
                <a:spcPct val="120000"/>
              </a:lnSpc>
              <a:spcAft>
                <a:spcPts val="500"/>
              </a:spcAft>
            </a:pPr>
            <a:r>
              <a:rPr lang="en-US" dirty="0"/>
              <a:t>Some incumbents may set taxes above service cost</a:t>
            </a:r>
          </a:p>
          <a:p>
            <a:pPr lvl="1">
              <a:lnSpc>
                <a:spcPct val="120000"/>
              </a:lnSpc>
              <a:spcAft>
                <a:spcPts val="500"/>
              </a:spcAft>
            </a:pPr>
            <a:r>
              <a:rPr lang="en-US" dirty="0"/>
              <a:t>Empirical implication: revenue growth without proportional service expansion</a:t>
            </a:r>
          </a:p>
          <a:p>
            <a:pPr lvl="1">
              <a:lnSpc>
                <a:spcPct val="120000"/>
              </a:lnSpc>
              <a:spcAft>
                <a:spcPts val="500"/>
              </a:spcAft>
            </a:pPr>
            <a:endParaRPr lang="en-US" dirty="0"/>
          </a:p>
          <a:p>
            <a:pPr>
              <a:lnSpc>
                <a:spcPct val="120000"/>
              </a:lnSpc>
              <a:spcAft>
                <a:spcPts val="500"/>
              </a:spcAft>
            </a:pPr>
            <a:r>
              <a:rPr lang="en-US" sz="2000" dirty="0"/>
              <a:t>Why central cities may have fiscal slack? </a:t>
            </a:r>
            <a:endParaRPr lang="en-US" sz="1600" dirty="0"/>
          </a:p>
          <a:p>
            <a:pPr lvl="1">
              <a:lnSpc>
                <a:spcPct val="120000"/>
              </a:lnSpc>
              <a:spcAft>
                <a:spcPts val="500"/>
              </a:spcAft>
            </a:pPr>
            <a:r>
              <a:rPr lang="en-US" dirty="0"/>
              <a:t>Legacy infrastructure and rigid expenditure commitments</a:t>
            </a:r>
          </a:p>
          <a:p>
            <a:pPr lvl="1">
              <a:lnSpc>
                <a:spcPct val="120000"/>
              </a:lnSpc>
              <a:spcAft>
                <a:spcPts val="500"/>
              </a:spcAft>
            </a:pPr>
            <a:r>
              <a:rPr lang="en-US" dirty="0"/>
              <a:t>Broader service mandates and relatively immobile tax bases</a:t>
            </a:r>
          </a:p>
          <a:p>
            <a:pPr lvl="1">
              <a:lnSpc>
                <a:spcPct val="120000"/>
              </a:lnSpc>
              <a:spcAft>
                <a:spcPts val="500"/>
              </a:spcAft>
            </a:pPr>
            <a:r>
              <a:rPr lang="en-US" dirty="0"/>
              <a:t>Potential for asymmetric fiscal response to suburban expansion</a:t>
            </a:r>
            <a:endParaRPr lang="en-US" sz="1800" dirty="0"/>
          </a:p>
        </p:txBody>
      </p:sp>
      <p:sp>
        <p:nvSpPr>
          <p:cNvPr id="6" name="Text Placeholder 5">
            <a:extLst>
              <a:ext uri="{FF2B5EF4-FFF2-40B4-BE49-F238E27FC236}">
                <a16:creationId xmlns:a16="http://schemas.microsoft.com/office/drawing/2014/main" id="{979A00BD-59BB-FBF9-0072-F229C34D898A}"/>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3" name="Right Arrow 2">
            <a:extLst>
              <a:ext uri="{FF2B5EF4-FFF2-40B4-BE49-F238E27FC236}">
                <a16:creationId xmlns:a16="http://schemas.microsoft.com/office/drawing/2014/main" id="{30B0155C-C149-277E-CBCA-7AAA97FCD6A2}"/>
              </a:ext>
            </a:extLst>
          </p:cNvPr>
          <p:cNvSpPr/>
          <p:nvPr/>
        </p:nvSpPr>
        <p:spPr>
          <a:xfrm>
            <a:off x="699245" y="4129778"/>
            <a:ext cx="600635" cy="2779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8133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2AE7A-CDDE-6816-0177-634DC6202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665B9-C627-22A7-BDEA-C69014C5A8C1}"/>
              </a:ext>
            </a:extLst>
          </p:cNvPr>
          <p:cNvSpPr>
            <a:spLocks noGrp="1"/>
          </p:cNvSpPr>
          <p:nvPr>
            <p:ph type="ctrTitle"/>
          </p:nvPr>
        </p:nvSpPr>
        <p:spPr>
          <a:xfrm>
            <a:off x="569804" y="174280"/>
            <a:ext cx="8004391" cy="699065"/>
          </a:xfrm>
        </p:spPr>
        <p:txBody>
          <a:bodyPr>
            <a:noAutofit/>
          </a:bodyPr>
          <a:lstStyle/>
          <a:p>
            <a:r>
              <a:rPr lang="en-US" sz="2400" dirty="0"/>
              <a:t>Competing Mechanism: </a:t>
            </a:r>
            <a:br>
              <a:rPr lang="en-US" sz="2400" dirty="0"/>
            </a:br>
            <a:r>
              <a:rPr lang="en-US" sz="2400" dirty="0"/>
              <a:t>Strategic interaction and common regional shocks</a:t>
            </a:r>
          </a:p>
        </p:txBody>
      </p:sp>
      <p:sp>
        <p:nvSpPr>
          <p:cNvPr id="4" name="Content Placeholder 3">
            <a:extLst>
              <a:ext uri="{FF2B5EF4-FFF2-40B4-BE49-F238E27FC236}">
                <a16:creationId xmlns:a16="http://schemas.microsoft.com/office/drawing/2014/main" id="{A5E4607F-AF74-4C52-FDB9-5543DCEAD628}"/>
              </a:ext>
            </a:extLst>
          </p:cNvPr>
          <p:cNvSpPr>
            <a:spLocks noGrp="1"/>
          </p:cNvSpPr>
          <p:nvPr>
            <p:ph idx="1"/>
          </p:nvPr>
        </p:nvSpPr>
        <p:spPr>
          <a:xfrm>
            <a:off x="558601" y="1219040"/>
            <a:ext cx="8015594" cy="3672048"/>
          </a:xfrm>
        </p:spPr>
        <p:txBody>
          <a:bodyPr>
            <a:normAutofit/>
          </a:bodyPr>
          <a:lstStyle/>
          <a:p>
            <a:pPr>
              <a:lnSpc>
                <a:spcPct val="120000"/>
              </a:lnSpc>
              <a:spcAft>
                <a:spcPts val="500"/>
              </a:spcAft>
            </a:pPr>
            <a:r>
              <a:rPr lang="en-US" sz="2000" dirty="0"/>
              <a:t>Brueckner (2001, 2003): Tax competition in spatial equilibrium</a:t>
            </a:r>
          </a:p>
          <a:p>
            <a:pPr lvl="1">
              <a:lnSpc>
                <a:spcPct val="120000"/>
              </a:lnSpc>
              <a:spcAft>
                <a:spcPts val="500"/>
              </a:spcAft>
            </a:pPr>
            <a:r>
              <a:rPr lang="en-US" dirty="0"/>
              <a:t>Strategic fiscal responses can generate city–suburb co-movement</a:t>
            </a:r>
          </a:p>
          <a:p>
            <a:pPr lvl="1">
              <a:lnSpc>
                <a:spcPct val="120000"/>
              </a:lnSpc>
              <a:spcAft>
                <a:spcPts val="500"/>
              </a:spcAft>
            </a:pPr>
            <a:r>
              <a:rPr lang="en-US" dirty="0"/>
              <a:t>Shared economic conditions can generate similar patterns</a:t>
            </a:r>
          </a:p>
          <a:p>
            <a:pPr lvl="1">
              <a:lnSpc>
                <a:spcPct val="120000"/>
              </a:lnSpc>
              <a:spcAft>
                <a:spcPts val="500"/>
              </a:spcAft>
            </a:pPr>
            <a:r>
              <a:rPr lang="en-US" dirty="0"/>
              <a:t>Common institutional constraints</a:t>
            </a:r>
          </a:p>
          <a:p>
            <a:pPr lvl="1">
              <a:lnSpc>
                <a:spcPct val="120000"/>
              </a:lnSpc>
              <a:spcAft>
                <a:spcPts val="500"/>
              </a:spcAft>
            </a:pPr>
            <a:endParaRPr lang="en-US" dirty="0"/>
          </a:p>
          <a:p>
            <a:pPr>
              <a:lnSpc>
                <a:spcPct val="120000"/>
              </a:lnSpc>
              <a:spcAft>
                <a:spcPts val="500"/>
              </a:spcAft>
            </a:pPr>
            <a:r>
              <a:rPr lang="en-US" sz="2000" dirty="0"/>
              <a:t>Empirical prediction:</a:t>
            </a:r>
          </a:p>
          <a:p>
            <a:pPr lvl="1">
              <a:lnSpc>
                <a:spcPct val="120000"/>
              </a:lnSpc>
              <a:spcAft>
                <a:spcPts val="500"/>
              </a:spcAft>
            </a:pPr>
            <a:r>
              <a:rPr lang="en-US" dirty="0"/>
              <a:t>Division-by-year effects absorb broad regional shocks</a:t>
            </a:r>
          </a:p>
          <a:p>
            <a:pPr lvl="1">
              <a:lnSpc>
                <a:spcPct val="120000"/>
              </a:lnSpc>
              <a:spcAft>
                <a:spcPts val="500"/>
              </a:spcAft>
            </a:pPr>
            <a:r>
              <a:rPr lang="en-US" dirty="0"/>
              <a:t>Concern: how to separate directional fiscal response from shared regional economic forces</a:t>
            </a:r>
          </a:p>
          <a:p>
            <a:pPr lvl="1">
              <a:lnSpc>
                <a:spcPct val="120000"/>
              </a:lnSpc>
              <a:spcAft>
                <a:spcPts val="500"/>
              </a:spcAft>
            </a:pPr>
            <a:endParaRPr lang="en-US" dirty="0"/>
          </a:p>
        </p:txBody>
      </p:sp>
      <p:sp>
        <p:nvSpPr>
          <p:cNvPr id="6" name="Text Placeholder 5">
            <a:extLst>
              <a:ext uri="{FF2B5EF4-FFF2-40B4-BE49-F238E27FC236}">
                <a16:creationId xmlns:a16="http://schemas.microsoft.com/office/drawing/2014/main" id="{91FBB987-44F0-9A05-D5B8-DFF3CB7B0D86}"/>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235885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Empirical Design </a:t>
            </a:r>
          </a:p>
        </p:txBody>
      </p:sp>
      <p:sp>
        <p:nvSpPr>
          <p:cNvPr id="3" name="Text Placeholder 2"/>
          <p:cNvSpPr>
            <a:spLocks noGrp="1"/>
          </p:cNvSpPr>
          <p:nvPr>
            <p:ph type="body" sz="quarter" idx="10"/>
          </p:nvPr>
        </p:nvSpPr>
        <p:spPr/>
        <p:txBody>
          <a:bodyPr/>
          <a:lstStyle/>
          <a:p>
            <a:r>
              <a:rPr lang="en-US" dirty="0"/>
              <a:t>SECTION 2</a:t>
            </a:r>
          </a:p>
        </p:txBody>
      </p:sp>
    </p:spTree>
    <p:extLst>
      <p:ext uri="{BB962C8B-B14F-4D97-AF65-F5344CB8AC3E}">
        <p14:creationId xmlns:p14="http://schemas.microsoft.com/office/powerpoint/2010/main" val="4153811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560AF-A1C2-333F-E308-3349F4E34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1CCD9-5937-0154-B931-FA2FB1893A4B}"/>
              </a:ext>
            </a:extLst>
          </p:cNvPr>
          <p:cNvSpPr>
            <a:spLocks noGrp="1"/>
          </p:cNvSpPr>
          <p:nvPr>
            <p:ph type="ctrTitle"/>
          </p:nvPr>
        </p:nvSpPr>
        <p:spPr>
          <a:xfrm>
            <a:off x="530027" y="353930"/>
            <a:ext cx="8004391" cy="699065"/>
          </a:xfrm>
        </p:spPr>
        <p:txBody>
          <a:bodyPr>
            <a:normAutofit/>
          </a:bodyPr>
          <a:lstStyle/>
          <a:p>
            <a:r>
              <a:rPr lang="en-US" dirty="0"/>
              <a:t>Data</a:t>
            </a:r>
          </a:p>
        </p:txBody>
      </p:sp>
      <p:sp>
        <p:nvSpPr>
          <p:cNvPr id="4" name="Content Placeholder 3">
            <a:extLst>
              <a:ext uri="{FF2B5EF4-FFF2-40B4-BE49-F238E27FC236}">
                <a16:creationId xmlns:a16="http://schemas.microsoft.com/office/drawing/2014/main" id="{1725819C-CC62-0DD0-3104-389E4A374F6A}"/>
              </a:ext>
            </a:extLst>
          </p:cNvPr>
          <p:cNvSpPr>
            <a:spLocks noGrp="1"/>
          </p:cNvSpPr>
          <p:nvPr>
            <p:ph idx="1"/>
          </p:nvPr>
        </p:nvSpPr>
        <p:spPr>
          <a:xfrm>
            <a:off x="518824" y="1052996"/>
            <a:ext cx="8015594" cy="3611602"/>
          </a:xfrm>
        </p:spPr>
        <p:txBody>
          <a:bodyPr>
            <a:normAutofit/>
          </a:bodyPr>
          <a:lstStyle/>
          <a:p>
            <a:pPr>
              <a:lnSpc>
                <a:spcPct val="120000"/>
              </a:lnSpc>
              <a:spcAft>
                <a:spcPts val="500"/>
              </a:spcAft>
            </a:pPr>
            <a:r>
              <a:rPr lang="en-US" sz="1400" dirty="0"/>
              <a:t>Fiscal Data: U.S. Census Bureau’s Annual Survey of State and Local Government Finances</a:t>
            </a:r>
          </a:p>
          <a:p>
            <a:pPr>
              <a:lnSpc>
                <a:spcPct val="120000"/>
              </a:lnSpc>
              <a:spcAft>
                <a:spcPts val="500"/>
              </a:spcAft>
            </a:pPr>
            <a:r>
              <a:rPr lang="en-US" sz="1400" dirty="0"/>
              <a:t>Population Data: U.S. Census Bureau’s Population and Housing Unit Estimates Dataset</a:t>
            </a:r>
          </a:p>
          <a:p>
            <a:pPr>
              <a:lnSpc>
                <a:spcPct val="120000"/>
              </a:lnSpc>
              <a:spcAft>
                <a:spcPts val="500"/>
              </a:spcAft>
            </a:pPr>
            <a:r>
              <a:rPr lang="en-US" sz="1400" dirty="0"/>
              <a:t>Employment Data: Census Bureau’s County Business Patterns </a:t>
            </a:r>
          </a:p>
          <a:p>
            <a:pPr>
              <a:lnSpc>
                <a:spcPct val="120000"/>
              </a:lnSpc>
              <a:spcAft>
                <a:spcPts val="500"/>
              </a:spcAft>
            </a:pPr>
            <a:r>
              <a:rPr lang="en-US" sz="1400" dirty="0"/>
              <a:t>Building Permits Survey (BPS): U.S. Census Bureau</a:t>
            </a:r>
          </a:p>
          <a:p>
            <a:pPr>
              <a:lnSpc>
                <a:spcPct val="120000"/>
              </a:lnSpc>
              <a:spcAft>
                <a:spcPts val="500"/>
              </a:spcAft>
            </a:pPr>
            <a:r>
              <a:rPr lang="en-US" sz="1400" dirty="0"/>
              <a:t>FHFA House Price Index: U.S. Federal Housing Finance Agency</a:t>
            </a:r>
          </a:p>
          <a:p>
            <a:pPr>
              <a:lnSpc>
                <a:spcPct val="120000"/>
              </a:lnSpc>
              <a:spcAft>
                <a:spcPts val="500"/>
              </a:spcAft>
            </a:pPr>
            <a:r>
              <a:rPr lang="en-US" sz="1400" dirty="0"/>
              <a:t>Migration Data: IRS SOI Migration data (ongoing)</a:t>
            </a:r>
          </a:p>
          <a:p>
            <a:pPr>
              <a:lnSpc>
                <a:spcPct val="120000"/>
              </a:lnSpc>
              <a:spcAft>
                <a:spcPts val="500"/>
              </a:spcAft>
            </a:pPr>
            <a:r>
              <a:rPr lang="en-US" sz="1400" dirty="0"/>
              <a:t>Quasi-experimental extension: New Jersey State digital library, Indiana Department of Local Government Finance (ongoing)</a:t>
            </a:r>
          </a:p>
          <a:p>
            <a:pPr>
              <a:lnSpc>
                <a:spcPct val="120000"/>
              </a:lnSpc>
              <a:spcAft>
                <a:spcPts val="500"/>
              </a:spcAft>
            </a:pPr>
            <a:endParaRPr lang="en-US" sz="1400" dirty="0"/>
          </a:p>
          <a:p>
            <a:pPr>
              <a:lnSpc>
                <a:spcPct val="120000"/>
              </a:lnSpc>
              <a:spcAft>
                <a:spcPts val="500"/>
              </a:spcAft>
              <a:buFont typeface="Arial" panose="020B0604020202020204" pitchFamily="34" charset="0"/>
              <a:buChar char="•"/>
            </a:pPr>
            <a:r>
              <a:rPr lang="en-US" sz="1400" dirty="0"/>
              <a:t>Baseline period: 1972-2017 (subsample: 1990-2017)</a:t>
            </a:r>
          </a:p>
          <a:p>
            <a:pPr>
              <a:lnSpc>
                <a:spcPct val="120000"/>
              </a:lnSpc>
              <a:spcAft>
                <a:spcPts val="500"/>
              </a:spcAft>
              <a:buFont typeface="Arial" panose="020B0604020202020204" pitchFamily="34" charset="0"/>
              <a:buChar char="•"/>
            </a:pPr>
            <a:r>
              <a:rPr lang="en-US" sz="1400" dirty="0"/>
              <a:t>Top Quartile US MSAs: 68 MSAs (preferred IV sample: 52 in the multiple-MSA-states)</a:t>
            </a:r>
          </a:p>
        </p:txBody>
      </p:sp>
      <p:sp>
        <p:nvSpPr>
          <p:cNvPr id="6" name="Text Placeholder 5">
            <a:extLst>
              <a:ext uri="{FF2B5EF4-FFF2-40B4-BE49-F238E27FC236}">
                <a16:creationId xmlns:a16="http://schemas.microsoft.com/office/drawing/2014/main" id="{68A9D9A2-7BC7-CCD5-57C0-5FEBF3436166}"/>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2462367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60EDE-834C-A06B-A567-F5CA0387B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3CAAF-831E-0F67-2E44-5BD9A8FFE592}"/>
              </a:ext>
            </a:extLst>
          </p:cNvPr>
          <p:cNvSpPr>
            <a:spLocks noGrp="1"/>
          </p:cNvSpPr>
          <p:nvPr>
            <p:ph type="ctrTitle"/>
          </p:nvPr>
        </p:nvSpPr>
        <p:spPr>
          <a:xfrm>
            <a:off x="530027" y="479288"/>
            <a:ext cx="8004391" cy="699065"/>
          </a:xfrm>
        </p:spPr>
        <p:txBody>
          <a:bodyPr>
            <a:normAutofit/>
          </a:bodyPr>
          <a:lstStyle/>
          <a:p>
            <a:r>
              <a:rPr lang="en-US" dirty="0"/>
              <a:t>Empirical Strategy</a:t>
            </a:r>
          </a:p>
        </p:txBody>
      </p:sp>
      <p:sp>
        <p:nvSpPr>
          <p:cNvPr id="4" name="Content Placeholder 3">
            <a:extLst>
              <a:ext uri="{FF2B5EF4-FFF2-40B4-BE49-F238E27FC236}">
                <a16:creationId xmlns:a16="http://schemas.microsoft.com/office/drawing/2014/main" id="{773C6698-5ABA-7937-47F8-70F6DB28195E}"/>
              </a:ext>
            </a:extLst>
          </p:cNvPr>
          <p:cNvSpPr>
            <a:spLocks noGrp="1"/>
          </p:cNvSpPr>
          <p:nvPr>
            <p:ph idx="1"/>
          </p:nvPr>
        </p:nvSpPr>
        <p:spPr>
          <a:xfrm>
            <a:off x="518824" y="1296366"/>
            <a:ext cx="8015594" cy="3367846"/>
          </a:xfrm>
        </p:spPr>
        <p:txBody>
          <a:bodyPr>
            <a:normAutofit/>
          </a:bodyPr>
          <a:lstStyle/>
          <a:p>
            <a:pPr>
              <a:lnSpc>
                <a:spcPct val="120000"/>
              </a:lnSpc>
              <a:spcAft>
                <a:spcPts val="500"/>
              </a:spcAft>
            </a:pPr>
            <a:r>
              <a:rPr lang="en-US" sz="1600" dirty="0"/>
              <a:t>Estimating central city fiscal response to suburban fiscal expansion</a:t>
            </a:r>
          </a:p>
          <a:p>
            <a:pPr lvl="1">
              <a:lnSpc>
                <a:spcPct val="120000"/>
              </a:lnSpc>
              <a:spcAft>
                <a:spcPts val="500"/>
              </a:spcAft>
            </a:pPr>
            <a:r>
              <a:rPr lang="en-US" sz="1400" dirty="0"/>
              <a:t>Endogeneity addressed using an IV strategy</a:t>
            </a:r>
          </a:p>
          <a:p>
            <a:pPr lvl="1">
              <a:lnSpc>
                <a:spcPct val="120000"/>
              </a:lnSpc>
              <a:spcAft>
                <a:spcPts val="500"/>
              </a:spcAft>
            </a:pPr>
            <a:r>
              <a:rPr lang="en-US" sz="1400" dirty="0"/>
              <a:t>Instruments: suburban fiscal growth in other MSAs (out-of-state; within-state)</a:t>
            </a:r>
          </a:p>
          <a:p>
            <a:pPr lvl="1">
              <a:lnSpc>
                <a:spcPct val="120000"/>
              </a:lnSpc>
              <a:spcAft>
                <a:spcPts val="500"/>
              </a:spcAft>
            </a:pPr>
            <a:endParaRPr lang="en-US" sz="1400" dirty="0"/>
          </a:p>
          <a:p>
            <a:pPr>
              <a:lnSpc>
                <a:spcPct val="120000"/>
              </a:lnSpc>
              <a:spcAft>
                <a:spcPts val="500"/>
              </a:spcAft>
            </a:pPr>
            <a:r>
              <a:rPr lang="en-US" sz="1600" dirty="0"/>
              <a:t>Testing mechanism via expenditure composition</a:t>
            </a:r>
          </a:p>
          <a:p>
            <a:pPr lvl="1">
              <a:lnSpc>
                <a:spcPct val="120000"/>
              </a:lnSpc>
              <a:spcAft>
                <a:spcPts val="500"/>
              </a:spcAft>
            </a:pPr>
            <a:r>
              <a:rPr lang="en-US" sz="1400" dirty="0"/>
              <a:t>Examine heterogeneous responses across spending categories:</a:t>
            </a:r>
          </a:p>
          <a:p>
            <a:pPr lvl="1">
              <a:lnSpc>
                <a:spcPct val="120000"/>
              </a:lnSpc>
              <a:spcAft>
                <a:spcPts val="500"/>
              </a:spcAft>
            </a:pPr>
            <a:r>
              <a:rPr lang="en-US" sz="1400" dirty="0"/>
              <a:t>Basic services: fire, police, libraries, parks, highways</a:t>
            </a:r>
          </a:p>
          <a:p>
            <a:pPr lvl="1">
              <a:lnSpc>
                <a:spcPct val="120000"/>
              </a:lnSpc>
              <a:spcAft>
                <a:spcPts val="500"/>
              </a:spcAft>
            </a:pPr>
            <a:r>
              <a:rPr lang="en-US" sz="1400" dirty="0"/>
              <a:t>Transfers: health, hospitals, welfare, housing</a:t>
            </a:r>
          </a:p>
          <a:p>
            <a:pPr lvl="1">
              <a:lnSpc>
                <a:spcPct val="120000"/>
              </a:lnSpc>
              <a:spcAft>
                <a:spcPts val="500"/>
              </a:spcAft>
            </a:pPr>
            <a:r>
              <a:rPr lang="en-US" sz="1400" dirty="0"/>
              <a:t>Other operations: corrections, judicial/legal, etc.</a:t>
            </a:r>
          </a:p>
        </p:txBody>
      </p:sp>
      <p:sp>
        <p:nvSpPr>
          <p:cNvPr id="6" name="Text Placeholder 5">
            <a:extLst>
              <a:ext uri="{FF2B5EF4-FFF2-40B4-BE49-F238E27FC236}">
                <a16:creationId xmlns:a16="http://schemas.microsoft.com/office/drawing/2014/main" id="{D2C43250-F7B6-BCC4-ECB3-EDDD54E50DF1}"/>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377103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6ED00-D0D3-009E-CE4B-B4AE9EA55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76440-D5A6-D710-FE3F-425DF5EFC5CD}"/>
              </a:ext>
            </a:extLst>
          </p:cNvPr>
          <p:cNvSpPr>
            <a:spLocks noGrp="1"/>
          </p:cNvSpPr>
          <p:nvPr>
            <p:ph type="ctrTitle"/>
          </p:nvPr>
        </p:nvSpPr>
        <p:spPr>
          <a:xfrm>
            <a:off x="381964" y="227558"/>
            <a:ext cx="8004391" cy="699065"/>
          </a:xfrm>
        </p:spPr>
        <p:txBody>
          <a:bodyPr>
            <a:noAutofit/>
          </a:bodyPr>
          <a:lstStyle/>
          <a:p>
            <a:r>
              <a:rPr lang="en-US" sz="2000" dirty="0"/>
              <a:t>Summary Statistics: </a:t>
            </a:r>
            <a:br>
              <a:rPr lang="en-US" sz="2000" dirty="0"/>
            </a:br>
            <a:r>
              <a:rPr lang="en-US" sz="2000" dirty="0"/>
              <a:t>Central cities and their suburbs, 1972–2017</a:t>
            </a:r>
          </a:p>
        </p:txBody>
      </p:sp>
      <p:sp>
        <p:nvSpPr>
          <p:cNvPr id="4" name="Text Placeholder 3">
            <a:extLst>
              <a:ext uri="{FF2B5EF4-FFF2-40B4-BE49-F238E27FC236}">
                <a16:creationId xmlns:a16="http://schemas.microsoft.com/office/drawing/2014/main" id="{3EC7C885-5D66-65C1-F57B-91D802C226F7}"/>
              </a:ext>
            </a:extLst>
          </p:cNvPr>
          <p:cNvSpPr>
            <a:spLocks noGrp="1"/>
          </p:cNvSpPr>
          <p:nvPr>
            <p:ph type="body" sz="quarter" idx="10"/>
          </p:nvPr>
        </p:nvSpPr>
        <p:spPr>
          <a:xfrm>
            <a:off x="5443538" y="4860952"/>
            <a:ext cx="3700462" cy="252412"/>
          </a:xfrm>
        </p:spPr>
        <p:txBody>
          <a:bodyPr/>
          <a:lstStyle/>
          <a:p>
            <a:r>
              <a:rPr lang="en-US" dirty="0"/>
              <a:t>Rent Capture or Regional Forces?</a:t>
            </a:r>
          </a:p>
          <a:p>
            <a:endParaRPr lang="en-US" dirty="0"/>
          </a:p>
        </p:txBody>
      </p:sp>
      <p:graphicFrame>
        <p:nvGraphicFramePr>
          <p:cNvPr id="9" name="Table 8">
            <a:extLst>
              <a:ext uri="{FF2B5EF4-FFF2-40B4-BE49-F238E27FC236}">
                <a16:creationId xmlns:a16="http://schemas.microsoft.com/office/drawing/2014/main" id="{25D7AC03-E261-8A5E-5AF4-79A414EEEF74}"/>
              </a:ext>
            </a:extLst>
          </p:cNvPr>
          <p:cNvGraphicFramePr>
            <a:graphicFrameLocks noGrp="1"/>
          </p:cNvGraphicFramePr>
          <p:nvPr>
            <p:extLst>
              <p:ext uri="{D42A27DB-BD31-4B8C-83A1-F6EECF244321}">
                <p14:modId xmlns:p14="http://schemas.microsoft.com/office/powerpoint/2010/main" val="124736706"/>
              </p:ext>
            </p:extLst>
          </p:nvPr>
        </p:nvGraphicFramePr>
        <p:xfrm>
          <a:off x="500932" y="1049986"/>
          <a:ext cx="8004388" cy="3263855"/>
        </p:xfrm>
        <a:graphic>
          <a:graphicData uri="http://schemas.openxmlformats.org/drawingml/2006/table">
            <a:tbl>
              <a:tblPr>
                <a:tableStyleId>{5940675A-B579-460E-94D1-54222C63F5DA}</a:tableStyleId>
              </a:tblPr>
              <a:tblGrid>
                <a:gridCol w="1143484">
                  <a:extLst>
                    <a:ext uri="{9D8B030D-6E8A-4147-A177-3AD203B41FA5}">
                      <a16:colId xmlns:a16="http://schemas.microsoft.com/office/drawing/2014/main" val="1414324429"/>
                    </a:ext>
                  </a:extLst>
                </a:gridCol>
                <a:gridCol w="1143484">
                  <a:extLst>
                    <a:ext uri="{9D8B030D-6E8A-4147-A177-3AD203B41FA5}">
                      <a16:colId xmlns:a16="http://schemas.microsoft.com/office/drawing/2014/main" val="2455415173"/>
                    </a:ext>
                  </a:extLst>
                </a:gridCol>
                <a:gridCol w="1143484">
                  <a:extLst>
                    <a:ext uri="{9D8B030D-6E8A-4147-A177-3AD203B41FA5}">
                      <a16:colId xmlns:a16="http://schemas.microsoft.com/office/drawing/2014/main" val="3583580514"/>
                    </a:ext>
                  </a:extLst>
                </a:gridCol>
                <a:gridCol w="1143484">
                  <a:extLst>
                    <a:ext uri="{9D8B030D-6E8A-4147-A177-3AD203B41FA5}">
                      <a16:colId xmlns:a16="http://schemas.microsoft.com/office/drawing/2014/main" val="2878449435"/>
                    </a:ext>
                  </a:extLst>
                </a:gridCol>
                <a:gridCol w="1143484">
                  <a:extLst>
                    <a:ext uri="{9D8B030D-6E8A-4147-A177-3AD203B41FA5}">
                      <a16:colId xmlns:a16="http://schemas.microsoft.com/office/drawing/2014/main" val="113759043"/>
                    </a:ext>
                  </a:extLst>
                </a:gridCol>
                <a:gridCol w="1143484">
                  <a:extLst>
                    <a:ext uri="{9D8B030D-6E8A-4147-A177-3AD203B41FA5}">
                      <a16:colId xmlns:a16="http://schemas.microsoft.com/office/drawing/2014/main" val="701554839"/>
                    </a:ext>
                  </a:extLst>
                </a:gridCol>
                <a:gridCol w="1143484">
                  <a:extLst>
                    <a:ext uri="{9D8B030D-6E8A-4147-A177-3AD203B41FA5}">
                      <a16:colId xmlns:a16="http://schemas.microsoft.com/office/drawing/2014/main" val="2713517841"/>
                    </a:ext>
                  </a:extLst>
                </a:gridCol>
              </a:tblGrid>
              <a:tr h="591207">
                <a:tc>
                  <a:txBody>
                    <a:bodyPr/>
                    <a:lstStyle/>
                    <a:p>
                      <a:pPr>
                        <a:buNone/>
                      </a:pPr>
                      <a:r>
                        <a:rPr lang="en-US" sz="1050"/>
                        <a:t>Variable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All MSAs: </a:t>
                      </a:r>
                    </a:p>
                    <a:p>
                      <a:pPr algn="r">
                        <a:buNone/>
                      </a:pPr>
                      <a:r>
                        <a:rPr lang="en-US" sz="1050" dirty="0"/>
                        <a:t>City</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All MSAs: Suburbs</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City exceeds suburbs (%)</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Multiple-MSA states: City</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Multiple-MSA states: Suburbs</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City exceeds suburbs (%)</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2073041"/>
                  </a:ext>
                </a:extLst>
              </a:tr>
              <a:tr h="369504">
                <a:tc>
                  <a:txBody>
                    <a:bodyPr/>
                    <a:lstStyle/>
                    <a:p>
                      <a:pPr>
                        <a:buNone/>
                      </a:pPr>
                      <a:r>
                        <a:rPr lang="en-US" sz="1050"/>
                        <a:t>Total revenue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2,094.9 (1,315.9)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1,076.8 (698.3)</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94.5</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2,147.9 (1,385.2)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1,114.4 (721.2)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92.7</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8544238"/>
                  </a:ext>
                </a:extLst>
              </a:tr>
              <a:tr h="258653">
                <a:tc>
                  <a:txBody>
                    <a:bodyPr/>
                    <a:lstStyle/>
                    <a:p>
                      <a:pPr>
                        <a:buNone/>
                      </a:pPr>
                      <a:r>
                        <a:rPr lang="en-US" sz="1050"/>
                        <a:t>Total taxes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688.4 (457.0)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384.8 (234.9)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78.9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708.4 (478.0)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397.1 (211.0)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78.4</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4120642"/>
                  </a:ext>
                </a:extLst>
              </a:tr>
              <a:tr h="369504">
                <a:tc>
                  <a:txBody>
                    <a:bodyPr/>
                    <a:lstStyle/>
                    <a:p>
                      <a:pPr>
                        <a:buNone/>
                      </a:pPr>
                      <a:r>
                        <a:rPr lang="en-US" sz="1050"/>
                        <a:t>Current operations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1,415.9 (971.7)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798.9 (574.4)</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77.2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1,477.4 (1,028.3)</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834.6 (604.7)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77.0</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3159466"/>
                  </a:ext>
                </a:extLst>
              </a:tr>
              <a:tr h="369504">
                <a:tc>
                  <a:txBody>
                    <a:bodyPr/>
                    <a:lstStyle/>
                    <a:p>
                      <a:pPr>
                        <a:buNone/>
                      </a:pPr>
                      <a:r>
                        <a:rPr lang="en-US" sz="1050"/>
                        <a:t>Basic expenditure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444.8 (153.7)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284.0 (121.0)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56.7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441.1 (154.1)</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282.8 (123.8)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55.9</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0753229"/>
                  </a:ext>
                </a:extLst>
              </a:tr>
              <a:tr h="480356">
                <a:tc>
                  <a:txBody>
                    <a:bodyPr/>
                    <a:lstStyle/>
                    <a:p>
                      <a:pPr>
                        <a:buNone/>
                      </a:pPr>
                      <a:r>
                        <a:rPr lang="en-US" sz="1050"/>
                        <a:t>Transfer expenditure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177.6 (339.6)</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41.5 (77.2)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327.9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186.5 (375.0)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45.5 (85.6)</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309.9</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6030420"/>
                  </a:ext>
                </a:extLst>
              </a:tr>
              <a:tr h="369504">
                <a:tc>
                  <a:txBody>
                    <a:bodyPr/>
                    <a:lstStyle/>
                    <a:p>
                      <a:pPr>
                        <a:buNone/>
                      </a:pPr>
                      <a:r>
                        <a:rPr lang="en-US" sz="1050"/>
                        <a:t>Other expenditure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539.9 (508.9)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285.3 (288.3)</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89.2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547.5 (517.9)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288.1 (279.0)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90.0</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972650"/>
                  </a:ext>
                </a:extLst>
              </a:tr>
              <a:tr h="258653">
                <a:tc>
                  <a:txBody>
                    <a:bodyPr/>
                    <a:lstStyle/>
                    <a:p>
                      <a:pPr>
                        <a:buNone/>
                      </a:pPr>
                      <a:r>
                        <a:rPr lang="en-US" sz="1050"/>
                        <a:t>Observations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3,128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3,128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2,392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2,392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3285118"/>
                  </a:ext>
                </a:extLst>
              </a:tr>
              <a:tr h="147802">
                <a:tc>
                  <a:txBody>
                    <a:bodyPr/>
                    <a:lstStyle/>
                    <a:p>
                      <a:pPr>
                        <a:buNone/>
                      </a:pPr>
                      <a:r>
                        <a:rPr lang="en-US" sz="1050"/>
                        <a:t>MSAs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68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68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9591083"/>
                  </a:ext>
                </a:extLst>
              </a:tr>
            </a:tbl>
          </a:graphicData>
        </a:graphic>
      </p:graphicFrame>
      <p:sp>
        <p:nvSpPr>
          <p:cNvPr id="10" name="Oval 9">
            <a:extLst>
              <a:ext uri="{FF2B5EF4-FFF2-40B4-BE49-F238E27FC236}">
                <a16:creationId xmlns:a16="http://schemas.microsoft.com/office/drawing/2014/main" id="{D8D846E4-8F80-7F30-D920-24234EEC543C}"/>
              </a:ext>
            </a:extLst>
          </p:cNvPr>
          <p:cNvSpPr/>
          <p:nvPr/>
        </p:nvSpPr>
        <p:spPr>
          <a:xfrm>
            <a:off x="516835" y="1995777"/>
            <a:ext cx="715617" cy="27034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36CD1B99-5011-DC6E-C729-F8058807EE8E}"/>
              </a:ext>
            </a:extLst>
          </p:cNvPr>
          <p:cNvSpPr/>
          <p:nvPr/>
        </p:nvSpPr>
        <p:spPr>
          <a:xfrm>
            <a:off x="500932" y="2647784"/>
            <a:ext cx="1129085" cy="349858"/>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40063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077A0-1ED9-3695-67BD-4208BA7BA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0DD24-2F3D-1B2A-5CF4-3A7F24DD23D5}"/>
              </a:ext>
            </a:extLst>
          </p:cNvPr>
          <p:cNvSpPr>
            <a:spLocks noGrp="1"/>
          </p:cNvSpPr>
          <p:nvPr>
            <p:ph type="ctrTitle"/>
          </p:nvPr>
        </p:nvSpPr>
        <p:spPr/>
        <p:txBody>
          <a:bodyPr>
            <a:normAutofit/>
          </a:bodyPr>
          <a:lstStyle/>
          <a:p>
            <a:r>
              <a:rPr lang="en-US" dirty="0"/>
              <a:t>Main Specification</a:t>
            </a:r>
          </a:p>
        </p:txBody>
      </p:sp>
      <p:sp>
        <p:nvSpPr>
          <p:cNvPr id="6" name="Text Placeholder 5">
            <a:extLst>
              <a:ext uri="{FF2B5EF4-FFF2-40B4-BE49-F238E27FC236}">
                <a16:creationId xmlns:a16="http://schemas.microsoft.com/office/drawing/2014/main" id="{F7A27BC0-8A37-7DC6-4681-3CA2FB42A951}"/>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D5599FF-1A3E-2D0B-9745-5CD375F5E71B}"/>
                  </a:ext>
                </a:extLst>
              </p:cNvPr>
              <p:cNvSpPr txBox="1"/>
              <p:nvPr/>
            </p:nvSpPr>
            <p:spPr>
              <a:xfrm>
                <a:off x="3267309" y="1630313"/>
                <a:ext cx="3133294" cy="346120"/>
              </a:xfrm>
              <a:prstGeom prst="rect">
                <a:avLst/>
              </a:prstGeom>
              <a:noFill/>
            </p:spPr>
            <p:txBody>
              <a:bodyPr wrap="none" lIns="0" tIns="0" rIns="0" bIns="0" rtlCol="0">
                <a:spAutoFit/>
              </a:bodyPr>
              <a:lstStyle/>
              <a:p>
                <a14:m>
                  <m:oMathPara xmlns:m="http://schemas.openxmlformats.org/officeDocument/2006/math">
                    <m:oMath>
                      <m:r>
                        <m:rPr>
                          <m:sty m:val="p"/>
                        </m:rPr>
                        <a:rPr lang="en-US" smtClean="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𝐶𝐶</m:t>
                          </m:r>
                        </m:sup>
                      </m:sSubSup>
                      <m:r>
                        <a:rPr lang="en-US" i="0">
                          <a:latin typeface="Cambria Math" panose="02040503050406030204" pitchFamily="18" charset="0"/>
                        </a:rPr>
                        <m:t>=</m:t>
                      </m:r>
                      <m:r>
                        <a:rPr lang="en-US" i="1">
                          <a:latin typeface="Cambria Math" panose="02040503050406030204" pitchFamily="18" charset="0"/>
                        </a:rPr>
                        <m:t>𝛽</m:t>
                      </m:r>
                      <m:acc>
                        <m:accPr>
                          <m:chr m:val="̂"/>
                          <m:ctrlPr>
                            <a:rPr lang="en-US" i="0">
                              <a:latin typeface="Cambria Math" panose="02040503050406030204" pitchFamily="18" charset="0"/>
                            </a:rPr>
                          </m:ctrlPr>
                        </m:accPr>
                        <m:e>
                          <m:r>
                            <m:rPr>
                              <m:sty m:val="p"/>
                            </m:rPr>
                            <a:rPr lang="en-US" i="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𝑆𝑢𝑏</m:t>
                              </m:r>
                            </m:sup>
                          </m:sSubSup>
                        </m:e>
                      </m:acc>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𝑖𝑡</m:t>
                          </m:r>
                        </m:sub>
                      </m:sSub>
                    </m:oMath>
                  </m:oMathPara>
                </a14:m>
                <a:endParaRPr lang="en-US" dirty="0"/>
              </a:p>
            </p:txBody>
          </p:sp>
        </mc:Choice>
        <mc:Fallback>
          <p:sp>
            <p:nvSpPr>
              <p:cNvPr id="11" name="TextBox 10">
                <a:extLst>
                  <a:ext uri="{FF2B5EF4-FFF2-40B4-BE49-F238E27FC236}">
                    <a16:creationId xmlns:a16="http://schemas.microsoft.com/office/drawing/2014/main" id="{AD5599FF-1A3E-2D0B-9745-5CD375F5E71B}"/>
                  </a:ext>
                </a:extLst>
              </p:cNvPr>
              <p:cNvSpPr txBox="1">
                <a:spLocks noRot="1" noChangeAspect="1" noMove="1" noResize="1" noEditPoints="1" noAdjustHandles="1" noChangeArrowheads="1" noChangeShapeType="1" noTextEdit="1"/>
              </p:cNvSpPr>
              <p:nvPr/>
            </p:nvSpPr>
            <p:spPr>
              <a:xfrm>
                <a:off x="3267309" y="1630313"/>
                <a:ext cx="3133294" cy="346120"/>
              </a:xfrm>
              <a:prstGeom prst="rect">
                <a:avLst/>
              </a:prstGeom>
              <a:blipFill>
                <a:blip r:embed="rId3"/>
                <a:stretch>
                  <a:fillRect l="-403" t="-14286" b="-285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69C9517-26A6-8D3C-7777-FA8D17242FD6}"/>
                  </a:ext>
                </a:extLst>
              </p:cNvPr>
              <p:cNvSpPr txBox="1"/>
              <p:nvPr/>
            </p:nvSpPr>
            <p:spPr>
              <a:xfrm>
                <a:off x="3267309" y="2044779"/>
                <a:ext cx="3452612" cy="356893"/>
              </a:xfrm>
              <a:prstGeom prst="rect">
                <a:avLst/>
              </a:prstGeom>
              <a:noFill/>
            </p:spPr>
            <p:txBody>
              <a:bodyPr wrap="none" lIns="0" tIns="0" rIns="0" bIns="0" rtlCol="0">
                <a:spAutoFit/>
              </a:bodyPr>
              <a:lstStyle/>
              <a:p>
                <a14:m>
                  <m:oMathPara xmlns:m="http://schemas.openxmlformats.org/officeDocument/2006/math">
                    <m:oMath>
                      <m:r>
                        <m:rPr>
                          <m:sty m:val="p"/>
                        </m:rPr>
                        <a:rPr lang="en-US" smtClean="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𝐶𝐶</m:t>
                          </m:r>
                        </m:sup>
                      </m:sSubSup>
                      <m:r>
                        <a:rPr lang="en-US" i="0">
                          <a:latin typeface="Cambria Math" panose="02040503050406030204" pitchFamily="18" charset="0"/>
                        </a:rPr>
                        <m:t>=</m:t>
                      </m:r>
                      <m:r>
                        <a:rPr lang="en-US" i="1">
                          <a:latin typeface="Cambria Math" panose="02040503050406030204" pitchFamily="18" charset="0"/>
                        </a:rPr>
                        <m:t>𝛽</m:t>
                      </m:r>
                      <m:acc>
                        <m:accPr>
                          <m:chr m:val="̂"/>
                          <m:ctrlPr>
                            <a:rPr lang="en-US" i="0">
                              <a:latin typeface="Cambria Math" panose="02040503050406030204" pitchFamily="18" charset="0"/>
                            </a:rPr>
                          </m:ctrlPr>
                        </m:accPr>
                        <m:e>
                          <m:r>
                            <m:rPr>
                              <m:sty m:val="p"/>
                            </m:rPr>
                            <a:rPr lang="en-US" i="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𝑆𝑢𝑏</m:t>
                              </m:r>
                            </m:sup>
                          </m:sSubSup>
                        </m:e>
                      </m:acc>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𝑖</m:t>
                              </m:r>
                            </m:e>
                          </m:d>
                          <m:r>
                            <a:rPr lang="en-US" i="0">
                              <a:latin typeface="Cambria Math" panose="02040503050406030204" pitchFamily="18" charset="0"/>
                            </a:rPr>
                            <m:t>,</m:t>
                          </m:r>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𝑖𝑡</m:t>
                          </m:r>
                        </m:sub>
                      </m:sSub>
                    </m:oMath>
                  </m:oMathPara>
                </a14:m>
                <a:endParaRPr lang="en-US" dirty="0"/>
              </a:p>
            </p:txBody>
          </p:sp>
        </mc:Choice>
        <mc:Fallback>
          <p:sp>
            <p:nvSpPr>
              <p:cNvPr id="12" name="TextBox 11">
                <a:extLst>
                  <a:ext uri="{FF2B5EF4-FFF2-40B4-BE49-F238E27FC236}">
                    <a16:creationId xmlns:a16="http://schemas.microsoft.com/office/drawing/2014/main" id="{D69C9517-26A6-8D3C-7777-FA8D17242FD6}"/>
                  </a:ext>
                </a:extLst>
              </p:cNvPr>
              <p:cNvSpPr txBox="1">
                <a:spLocks noRot="1" noChangeAspect="1" noMove="1" noResize="1" noEditPoints="1" noAdjustHandles="1" noChangeArrowheads="1" noChangeShapeType="1" noTextEdit="1"/>
              </p:cNvSpPr>
              <p:nvPr/>
            </p:nvSpPr>
            <p:spPr>
              <a:xfrm>
                <a:off x="3267309" y="2044779"/>
                <a:ext cx="3452612" cy="356893"/>
              </a:xfrm>
              <a:prstGeom prst="rect">
                <a:avLst/>
              </a:prstGeom>
              <a:blipFill>
                <a:blip r:embed="rId4"/>
                <a:stretch>
                  <a:fillRect l="-1103" t="-13333"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Content Placeholder 19">
                <a:extLst>
                  <a:ext uri="{FF2B5EF4-FFF2-40B4-BE49-F238E27FC236}">
                    <a16:creationId xmlns:a16="http://schemas.microsoft.com/office/drawing/2014/main" id="{550A6FEE-8DE5-FA7B-8046-675ED744F527}"/>
                  </a:ext>
                </a:extLst>
              </p:cNvPr>
              <p:cNvSpPr txBox="1">
                <a:spLocks/>
              </p:cNvSpPr>
              <p:nvPr/>
            </p:nvSpPr>
            <p:spPr>
              <a:xfrm>
                <a:off x="518824" y="2741829"/>
                <a:ext cx="8015594" cy="1698208"/>
              </a:xfrm>
              <a:prstGeom prst="rect">
                <a:avLst/>
              </a:prstGeom>
            </p:spPr>
            <p:txBody>
              <a:bodyPr vert="horz" lIns="91440" tIns="45720" rIns="91440" bIns="45720" rtlCol="0">
                <a:no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kern="1200">
                    <a:solidFill>
                      <a:srgbClr val="40404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𝜇</m:t>
                        </m:r>
                      </m:e>
                      <m:sub>
                        <m:r>
                          <m:rPr>
                            <m:sty m:val="p"/>
                          </m:rPr>
                          <a:rPr lang="en-US" sz="1400" i="1">
                            <a:latin typeface="Cambria Math" panose="02040503050406030204" pitchFamily="18" charset="0"/>
                            <a:ea typeface="Cambria Math" panose="02040503050406030204" pitchFamily="18" charset="0"/>
                          </a:rPr>
                          <m:t>i</m:t>
                        </m:r>
                      </m:sub>
                    </m:sSub>
                    <m:r>
                      <a:rPr lang="en-US" sz="1400" i="1">
                        <a:latin typeface="Cambria Math" panose="02040503050406030204" pitchFamily="18" charset="0"/>
                      </a:rPr>
                      <m:t>:</m:t>
                    </m:r>
                  </m:oMath>
                </a14:m>
                <a:r>
                  <a:rPr lang="en-US" sz="1400" dirty="0"/>
                  <a:t> MSA fixed effects</a:t>
                </a:r>
                <a:endParaRPr lang="en-US" sz="1400" dirty="0">
                  <a:latin typeface="+mj-lt"/>
                  <a:cs typeface="Arial" panose="020B0604020202020204" pitchFamily="34" charset="0"/>
                </a:endParaRPr>
              </a:p>
              <a:p>
                <a:pPr>
                  <a:buFont typeface="Arial" panose="020B0604020202020204" pitchFamily="34" charset="0"/>
                  <a:buChar char="•"/>
                </a:pPr>
                <a14:m>
                  <m:oMath xmlns:m="http://schemas.openxmlformats.org/officeDocument/2006/math">
                    <m:sSub>
                      <m:sSubPr>
                        <m:ctrlPr>
                          <a:rPr lang="en-US" sz="1400">
                            <a:latin typeface="Cambria Math" panose="02040503050406030204" pitchFamily="18" charset="0"/>
                            <a:ea typeface="Cambria Math" panose="02040503050406030204" pitchFamily="18" charset="0"/>
                          </a:rPr>
                        </m:ctrlPr>
                      </m:sSubPr>
                      <m:e>
                        <m:r>
                          <a:rPr lang="en-US" sz="1400">
                            <a:latin typeface="Cambria Math" panose="02040503050406030204" pitchFamily="18" charset="0"/>
                            <a:ea typeface="Cambria Math" panose="02040503050406030204" pitchFamily="18" charset="0"/>
                          </a:rPr>
                          <m:t>𝜏</m:t>
                        </m:r>
                      </m:e>
                      <m:sub>
                        <m:r>
                          <a:rPr lang="en-US" sz="1400">
                            <a:latin typeface="Cambria Math" panose="02040503050406030204" pitchFamily="18" charset="0"/>
                            <a:ea typeface="Cambria Math" panose="02040503050406030204" pitchFamily="18" charset="0"/>
                          </a:rPr>
                          <m:t>𝑡</m:t>
                        </m:r>
                      </m:sub>
                    </m:sSub>
                  </m:oMath>
                </a14:m>
                <a:r>
                  <a:rPr lang="en-US" sz="1400" dirty="0">
                    <a:latin typeface="+mj-lt"/>
                    <a:ea typeface="Cambria Math" panose="02040503050406030204" pitchFamily="18" charset="0"/>
                    <a:cs typeface="Arial" panose="020B0604020202020204" pitchFamily="34" charset="0"/>
                  </a:rPr>
                  <a:t>: common year effects</a:t>
                </a:r>
              </a:p>
              <a:p>
                <a:pPr>
                  <a:buFont typeface="Arial" panose="020B0604020202020204" pitchFamily="34" charset="0"/>
                  <a:buChar char="•"/>
                </a:pPr>
                <a14:m>
                  <m:oMath xmlns:m="http://schemas.openxmlformats.org/officeDocument/2006/math">
                    <m:sSub>
                      <m:sSubPr>
                        <m:ctrlPr>
                          <a:rPr lang="en-US" sz="1400">
                            <a:latin typeface="Cambria Math" panose="02040503050406030204" pitchFamily="18" charset="0"/>
                            <a:ea typeface="Cambria Math" panose="02040503050406030204" pitchFamily="18" charset="0"/>
                          </a:rPr>
                        </m:ctrlPr>
                      </m:sSubPr>
                      <m:e>
                        <m:r>
                          <a:rPr lang="en-US" sz="1400">
                            <a:latin typeface="Cambria Math" panose="02040503050406030204" pitchFamily="18" charset="0"/>
                            <a:ea typeface="Cambria Math" panose="02040503050406030204" pitchFamily="18" charset="0"/>
                          </a:rPr>
                          <m:t>𝜆</m:t>
                        </m:r>
                      </m:e>
                      <m:sub>
                        <m:r>
                          <a:rPr lang="en-US" sz="1400">
                            <a:latin typeface="Cambria Math" panose="02040503050406030204" pitchFamily="18" charset="0"/>
                            <a:ea typeface="Cambria Math" panose="02040503050406030204" pitchFamily="18" charset="0"/>
                          </a:rPr>
                          <m:t>𝑑</m:t>
                        </m:r>
                        <m:d>
                          <m:dPr>
                            <m:ctrlPr>
                              <a:rPr lang="en-US" sz="1400">
                                <a:latin typeface="Cambria Math" panose="02040503050406030204" pitchFamily="18" charset="0"/>
                                <a:ea typeface="Cambria Math" panose="02040503050406030204" pitchFamily="18" charset="0"/>
                              </a:rPr>
                            </m:ctrlPr>
                          </m:dPr>
                          <m:e>
                            <m:r>
                              <a:rPr lang="en-US" sz="1400">
                                <a:latin typeface="Cambria Math" panose="02040503050406030204" pitchFamily="18" charset="0"/>
                                <a:ea typeface="Cambria Math" panose="02040503050406030204" pitchFamily="18" charset="0"/>
                              </a:rPr>
                              <m:t>𝑖</m:t>
                            </m:r>
                          </m:e>
                        </m:d>
                        <m:r>
                          <a:rPr lang="en-US" sz="1400">
                            <a:latin typeface="Cambria Math" panose="02040503050406030204" pitchFamily="18" charset="0"/>
                            <a:ea typeface="Cambria Math" panose="02040503050406030204" pitchFamily="18" charset="0"/>
                          </a:rPr>
                          <m:t>,</m:t>
                        </m:r>
                        <m:r>
                          <a:rPr lang="en-US" sz="1400">
                            <a:latin typeface="Cambria Math" panose="02040503050406030204" pitchFamily="18" charset="0"/>
                            <a:ea typeface="Cambria Math" panose="02040503050406030204" pitchFamily="18" charset="0"/>
                          </a:rPr>
                          <m:t>𝑡</m:t>
                        </m:r>
                      </m:sub>
                    </m:sSub>
                  </m:oMath>
                </a14:m>
                <a:r>
                  <a:rPr lang="en-US" sz="1400" dirty="0">
                    <a:latin typeface="Cambria Math" panose="02040503050406030204" pitchFamily="18" charset="0"/>
                    <a:ea typeface="Cambria Math" panose="02040503050406030204" pitchFamily="18" charset="0"/>
                  </a:rPr>
                  <a:t>:</a:t>
                </a:r>
                <a:r>
                  <a:rPr lang="en-US" sz="1200" dirty="0">
                    <a:ea typeface="Cambria Math" panose="02040503050406030204" pitchFamily="18" charset="0"/>
                  </a:rPr>
                  <a:t> </a:t>
                </a:r>
                <a:r>
                  <a:rPr lang="en-US" sz="1400" dirty="0"/>
                  <a:t>Census division x year effects that absorb region –specific annual shocks</a:t>
                </a:r>
                <a:endParaRPr lang="en-US" sz="1400" dirty="0">
                  <a:latin typeface="Cambria Math" panose="02040503050406030204" pitchFamily="18" charset="0"/>
                  <a:ea typeface="Cambria Math" panose="02040503050406030204" pitchFamily="18" charset="0"/>
                </a:endParaRPr>
              </a:p>
              <a:p>
                <a:pPr>
                  <a:buFont typeface="Arial" panose="020B0604020202020204" pitchFamily="34" charset="0"/>
                  <a:buChar char="•"/>
                </a:pPr>
                <a14:m>
                  <m:oMath xmlns:m="http://schemas.openxmlformats.org/officeDocument/2006/math">
                    <m:r>
                      <a:rPr lang="en-US" sz="1400">
                        <a:latin typeface="Cambria Math" panose="02040503050406030204" pitchFamily="18" charset="0"/>
                        <a:ea typeface="Cambria Math" panose="02040503050406030204" pitchFamily="18" charset="0"/>
                      </a:rPr>
                      <m:t>𝛽</m:t>
                    </m:r>
                    <m:r>
                      <a:rPr lang="en-US" sz="1400">
                        <a:latin typeface="Cambria Math" panose="02040503050406030204" pitchFamily="18" charset="0"/>
                        <a:ea typeface="Cambria Math" panose="02040503050406030204" pitchFamily="18" charset="0"/>
                      </a:rPr>
                      <m:t>: </m:t>
                    </m:r>
                  </m:oMath>
                </a14:m>
                <a:r>
                  <a:rPr lang="en-US" sz="1400" dirty="0"/>
                  <a:t>elasticity of central city fiscal growth with respect to instrumented suburban fiscal growth</a:t>
                </a:r>
                <a:endParaRPr lang="en-US" sz="1400" dirty="0">
                  <a:latin typeface="Arial" panose="020B0604020202020204" pitchFamily="34" charset="0"/>
                  <a:ea typeface="Cambria Math" panose="02040503050406030204" pitchFamily="18" charset="0"/>
                  <a:cs typeface="Arial" panose="020B0604020202020204" pitchFamily="34" charset="0"/>
                </a:endParaRPr>
              </a:p>
              <a:p>
                <a:pPr>
                  <a:buFont typeface="Arial" panose="020B0604020202020204" pitchFamily="34" charset="0"/>
                  <a:buChar char="•"/>
                </a:pPr>
                <a:endParaRPr lang="en-US" sz="1400" dirty="0"/>
              </a:p>
            </p:txBody>
          </p:sp>
        </mc:Choice>
        <mc:Fallback>
          <p:sp>
            <p:nvSpPr>
              <p:cNvPr id="23" name="Content Placeholder 19">
                <a:extLst>
                  <a:ext uri="{FF2B5EF4-FFF2-40B4-BE49-F238E27FC236}">
                    <a16:creationId xmlns:a16="http://schemas.microsoft.com/office/drawing/2014/main" id="{550A6FEE-8DE5-FA7B-8046-675ED744F527}"/>
                  </a:ext>
                </a:extLst>
              </p:cNvPr>
              <p:cNvSpPr txBox="1">
                <a:spLocks noRot="1" noChangeAspect="1" noMove="1" noResize="1" noEditPoints="1" noAdjustHandles="1" noChangeArrowheads="1" noChangeShapeType="1" noTextEdit="1"/>
              </p:cNvSpPr>
              <p:nvPr/>
            </p:nvSpPr>
            <p:spPr>
              <a:xfrm>
                <a:off x="518824" y="2741829"/>
                <a:ext cx="8015594" cy="1698208"/>
              </a:xfrm>
              <a:prstGeom prst="rect">
                <a:avLst/>
              </a:prstGeom>
              <a:blipFill>
                <a:blip r:embed="rId5"/>
                <a:stretch>
                  <a:fillRect l="-158" t="-746" b="-746"/>
                </a:stretch>
              </a:blipFill>
            </p:spPr>
            <p:txBody>
              <a:bodyPr/>
              <a:lstStyle/>
              <a:p>
                <a:r>
                  <a:rPr lang="en-US">
                    <a:noFill/>
                  </a:rPr>
                  <a:t> </a:t>
                </a:r>
              </a:p>
            </p:txBody>
          </p:sp>
        </mc:Fallback>
      </mc:AlternateContent>
    </p:spTree>
    <p:extLst>
      <p:ext uri="{BB962C8B-B14F-4D97-AF65-F5344CB8AC3E}">
        <p14:creationId xmlns:p14="http://schemas.microsoft.com/office/powerpoint/2010/main" val="1963272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D98A0-DFE0-F983-2DA3-6999B633D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BAC84-B6BC-2D00-12C2-FA574D2D8EA7}"/>
              </a:ext>
            </a:extLst>
          </p:cNvPr>
          <p:cNvSpPr>
            <a:spLocks noGrp="1"/>
          </p:cNvSpPr>
          <p:nvPr>
            <p:ph type="ctrTitle"/>
          </p:nvPr>
        </p:nvSpPr>
        <p:spPr>
          <a:xfrm>
            <a:off x="518824" y="537359"/>
            <a:ext cx="8345232" cy="699065"/>
          </a:xfrm>
        </p:spPr>
        <p:txBody>
          <a:bodyPr>
            <a:normAutofit fontScale="90000"/>
          </a:bodyPr>
          <a:lstStyle/>
          <a:p>
            <a:r>
              <a:rPr lang="en-US" dirty="0"/>
              <a:t>The IVs use fiscal changes outside the focal MSA</a:t>
            </a:r>
          </a:p>
        </p:txBody>
      </p:sp>
      <p:sp>
        <p:nvSpPr>
          <p:cNvPr id="6" name="Text Placeholder 5">
            <a:extLst>
              <a:ext uri="{FF2B5EF4-FFF2-40B4-BE49-F238E27FC236}">
                <a16:creationId xmlns:a16="http://schemas.microsoft.com/office/drawing/2014/main" id="{1B6214D8-9B00-3514-9470-DA3DE2FA6F04}"/>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26E4EAC7-1A22-4460-8A35-DD3F87515EE7}"/>
              </a:ext>
            </a:extLst>
          </p:cNvPr>
          <p:cNvSpPr>
            <a:spLocks noGrp="1"/>
          </p:cNvSpPr>
          <p:nvPr>
            <p:ph idx="1"/>
          </p:nvPr>
        </p:nvSpPr>
        <p:spPr>
          <a:xfrm>
            <a:off x="518824" y="2451887"/>
            <a:ext cx="8015594" cy="2201033"/>
          </a:xfrm>
        </p:spPr>
        <p:txBody>
          <a:bodyPr>
            <a:normAutofit fontScale="92500" lnSpcReduction="10000"/>
          </a:bodyPr>
          <a:lstStyle/>
          <a:p>
            <a:pPr>
              <a:buFont typeface="Arial" panose="020B0604020202020204" pitchFamily="34" charset="0"/>
              <a:buChar char="•"/>
            </a:pPr>
            <a:r>
              <a:rPr lang="en-US" dirty="0"/>
              <a:t>In-state IV: suburban fiscal growth in other MSAs in the same state</a:t>
            </a:r>
          </a:p>
          <a:p>
            <a:pPr>
              <a:buFont typeface="Arial" panose="020B0604020202020204" pitchFamily="34" charset="0"/>
              <a:buChar char="•"/>
            </a:pPr>
            <a:r>
              <a:rPr lang="en-US" dirty="0"/>
              <a:t>Out-of-state IV: suburban fiscal growth in other MSAs outside the focal state, constructed leave-one-out</a:t>
            </a:r>
          </a:p>
          <a:p>
            <a:pPr>
              <a:buFont typeface="Arial" panose="020B0604020202020204" pitchFamily="34" charset="0"/>
              <a:buChar char="•"/>
            </a:pPr>
            <a:r>
              <a:rPr lang="en-US" dirty="0"/>
              <a:t>Relevance: external suburban growth predicts local suburban growth</a:t>
            </a:r>
          </a:p>
          <a:p>
            <a:pPr>
              <a:buFont typeface="Arial" panose="020B0604020202020204" pitchFamily="34" charset="0"/>
              <a:buChar char="•"/>
            </a:pPr>
            <a:r>
              <a:rPr lang="en-US" dirty="0"/>
              <a:t>Exclusion</a:t>
            </a:r>
            <a:r>
              <a:rPr lang="en-US" b="1" dirty="0"/>
              <a:t> </a:t>
            </a:r>
            <a:r>
              <a:rPr lang="en-US" dirty="0"/>
              <a:t>assumption</a:t>
            </a:r>
            <a:r>
              <a:rPr lang="en-US" b="1" dirty="0"/>
              <a:t>:</a:t>
            </a:r>
            <a:r>
              <a:rPr lang="en-US" dirty="0"/>
              <a:t> conditional on controls, the instrument affects central-city outcomes through local suburban fiscal growth</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C4E6225-7E08-7AE8-234F-6A3DB737F036}"/>
                  </a:ext>
                </a:extLst>
              </p:cNvPr>
              <p:cNvSpPr txBox="1"/>
              <p:nvPr/>
            </p:nvSpPr>
            <p:spPr>
              <a:xfrm>
                <a:off x="405179" y="1624770"/>
                <a:ext cx="8857553" cy="598049"/>
              </a:xfrm>
              <a:prstGeom prst="rect">
                <a:avLst/>
              </a:prstGeom>
              <a:noFill/>
            </p:spPr>
            <p:txBody>
              <a:bodyPr wrap="none" lIns="0" tIns="0" rIns="0" bIns="0" rtlCol="0">
                <a:spAutoFit/>
              </a:bodyPr>
              <a:lstStyle/>
              <a:p>
                <a14:m>
                  <m:oMathPara xmlns:m="http://schemas.openxmlformats.org/officeDocument/2006/math">
                    <m:oMath>
                      <m:r>
                        <m:rPr>
                          <m:sty m:val="p"/>
                        </m:rPr>
                        <a:rPr lang="en-US" smtClean="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𝑆𝑢𝑏</m:t>
                          </m:r>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m:rPr>
                              <m:sty m:val="p"/>
                            </m:rPr>
                            <a:rPr lang="en-US" i="0">
                              <a:latin typeface="Cambria Math" panose="02040503050406030204" pitchFamily="18" charset="0"/>
                            </a:rPr>
                            <m:t>in</m:t>
                          </m:r>
                        </m:sub>
                      </m:sSub>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in</m:t>
                          </m:r>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m:rPr>
                              <m:sty m:val="p"/>
                            </m:rPr>
                            <a:rPr lang="en-US" i="0">
                              <a:latin typeface="Cambria Math" panose="02040503050406030204" pitchFamily="18" charset="0"/>
                            </a:rPr>
                            <m:t>out</m:t>
                          </m:r>
                        </m:sub>
                      </m:sSub>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out</m:t>
                          </m:r>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𝑖</m:t>
                              </m:r>
                            </m:e>
                          </m:d>
                          <m:r>
                            <a:rPr lang="en-US" i="0">
                              <a:latin typeface="Cambria Math" panose="02040503050406030204" pitchFamily="18" charset="0"/>
                            </a:rPr>
                            <m:t>,</m:t>
                          </m:r>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𝑖𝑡</m:t>
                          </m:r>
                        </m:sub>
                      </m:sSub>
                    </m:oMath>
                  </m:oMathPara>
                </a14:m>
                <a:endParaRPr lang="en-US" dirty="0"/>
              </a:p>
              <a:p>
                <a:endParaRPr lang="en-US" dirty="0"/>
              </a:p>
            </p:txBody>
          </p:sp>
        </mc:Choice>
        <mc:Fallback>
          <p:sp>
            <p:nvSpPr>
              <p:cNvPr id="5" name="TextBox 4">
                <a:extLst>
                  <a:ext uri="{FF2B5EF4-FFF2-40B4-BE49-F238E27FC236}">
                    <a16:creationId xmlns:a16="http://schemas.microsoft.com/office/drawing/2014/main" id="{4C4E6225-7E08-7AE8-234F-6A3DB737F036}"/>
                  </a:ext>
                </a:extLst>
              </p:cNvPr>
              <p:cNvSpPr txBox="1">
                <a:spLocks noRot="1" noChangeAspect="1" noMove="1" noResize="1" noEditPoints="1" noAdjustHandles="1" noChangeArrowheads="1" noChangeShapeType="1" noTextEdit="1"/>
              </p:cNvSpPr>
              <p:nvPr/>
            </p:nvSpPr>
            <p:spPr>
              <a:xfrm>
                <a:off x="405179" y="1624770"/>
                <a:ext cx="8857553" cy="59804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4515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69B78-207A-82B3-C894-8E31B9817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449EF-4FA2-5B81-CD6B-19EC48D4DF4D}"/>
              </a:ext>
            </a:extLst>
          </p:cNvPr>
          <p:cNvSpPr>
            <a:spLocks noGrp="1"/>
          </p:cNvSpPr>
          <p:nvPr>
            <p:ph type="ctrTitle"/>
          </p:nvPr>
        </p:nvSpPr>
        <p:spPr>
          <a:xfrm>
            <a:off x="251531" y="197071"/>
            <a:ext cx="8004391" cy="699065"/>
          </a:xfrm>
        </p:spPr>
        <p:txBody>
          <a:bodyPr>
            <a:noAutofit/>
          </a:bodyPr>
          <a:lstStyle/>
          <a:p>
            <a:r>
              <a:rPr lang="en-US" sz="2000" dirty="0"/>
              <a:t>The IVs compare the focal MSA </a:t>
            </a:r>
            <a:br>
              <a:rPr lang="en-US" sz="2000" dirty="0"/>
            </a:br>
            <a:r>
              <a:rPr lang="en-US" sz="2000" dirty="0"/>
              <a:t>with external suburban fiscal changes</a:t>
            </a:r>
          </a:p>
        </p:txBody>
      </p:sp>
      <p:sp>
        <p:nvSpPr>
          <p:cNvPr id="6" name="Text Placeholder 5">
            <a:extLst>
              <a:ext uri="{FF2B5EF4-FFF2-40B4-BE49-F238E27FC236}">
                <a16:creationId xmlns:a16="http://schemas.microsoft.com/office/drawing/2014/main" id="{F087C902-33D6-02C7-2665-010808CEE7F2}"/>
              </a:ext>
            </a:extLst>
          </p:cNvPr>
          <p:cNvSpPr>
            <a:spLocks noGrp="1"/>
          </p:cNvSpPr>
          <p:nvPr>
            <p:ph type="body" sz="quarter" idx="10"/>
          </p:nvPr>
        </p:nvSpPr>
        <p:spPr>
          <a:xfrm>
            <a:off x="5482617" y="4899544"/>
            <a:ext cx="3700462" cy="252412"/>
          </a:xfrm>
        </p:spPr>
        <p:txBody>
          <a:bodyPr/>
          <a:lstStyle/>
          <a:p>
            <a:r>
              <a:rPr lang="en-US" dirty="0"/>
              <a:t>Rent Capture or Regional Forces?</a:t>
            </a:r>
          </a:p>
          <a:p>
            <a:endParaRPr lang="en-US" dirty="0"/>
          </a:p>
        </p:txBody>
      </p:sp>
      <p:sp>
        <p:nvSpPr>
          <p:cNvPr id="5" name="Content Placeholder 4">
            <a:extLst>
              <a:ext uri="{FF2B5EF4-FFF2-40B4-BE49-F238E27FC236}">
                <a16:creationId xmlns:a16="http://schemas.microsoft.com/office/drawing/2014/main" id="{1F55214B-B2F2-7CE4-1A08-A470F3B73AEA}"/>
              </a:ext>
            </a:extLst>
          </p:cNvPr>
          <p:cNvSpPr>
            <a:spLocks noGrp="1"/>
          </p:cNvSpPr>
          <p:nvPr>
            <p:ph idx="1"/>
          </p:nvPr>
        </p:nvSpPr>
        <p:spPr>
          <a:xfrm>
            <a:off x="264066" y="3991454"/>
            <a:ext cx="8841850" cy="1228902"/>
          </a:xfrm>
        </p:spPr>
        <p:txBody>
          <a:bodyPr>
            <a:normAutofit/>
          </a:bodyPr>
          <a:lstStyle/>
          <a:p>
            <a:pPr>
              <a:buFont typeface="Arial" panose="020B0604020202020204" pitchFamily="34" charset="0"/>
              <a:buChar char="•"/>
            </a:pPr>
            <a:r>
              <a:rPr lang="en-US" sz="1400" dirty="0"/>
              <a:t>Identification uses external fiscal co-movement after MSA and regional-year controls; strength and pre-outcome timing provide observable diagnostics</a:t>
            </a:r>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6ACBCD5B-1B0D-F41B-7D25-00A3448A2692}"/>
                  </a:ext>
                </a:extLst>
              </p14:cNvPr>
              <p14:cNvContentPartPr/>
              <p14:nvPr/>
            </p14:nvContentPartPr>
            <p14:xfrm>
              <a:off x="-1265537" y="1945427"/>
              <a:ext cx="360" cy="360"/>
            </p14:xfrm>
          </p:contentPart>
        </mc:Choice>
        <mc:Fallback>
          <p:pic>
            <p:nvPicPr>
              <p:cNvPr id="10" name="Ink 9">
                <a:extLst>
                  <a:ext uri="{FF2B5EF4-FFF2-40B4-BE49-F238E27FC236}">
                    <a16:creationId xmlns:a16="http://schemas.microsoft.com/office/drawing/2014/main" id="{6ACBCD5B-1B0D-F41B-7D25-00A3448A2692}"/>
                  </a:ext>
                </a:extLst>
              </p:cNvPr>
              <p:cNvPicPr/>
              <p:nvPr/>
            </p:nvPicPr>
            <p:blipFill>
              <a:blip r:embed="rId4"/>
              <a:stretch>
                <a:fillRect/>
              </a:stretch>
            </p:blipFill>
            <p:spPr>
              <a:xfrm>
                <a:off x="-1271657" y="1939307"/>
                <a:ext cx="12600" cy="12600"/>
              </a:xfrm>
              <a:prstGeom prst="rect">
                <a:avLst/>
              </a:prstGeom>
            </p:spPr>
          </p:pic>
        </mc:Fallback>
      </mc:AlternateContent>
      <p:pic>
        <p:nvPicPr>
          <p:cNvPr id="16" name="Picture 15">
            <a:extLst>
              <a:ext uri="{FF2B5EF4-FFF2-40B4-BE49-F238E27FC236}">
                <a16:creationId xmlns:a16="http://schemas.microsoft.com/office/drawing/2014/main" id="{3B285D4E-9EFB-0DDB-390D-89BCFCF10C85}"/>
              </a:ext>
            </a:extLst>
          </p:cNvPr>
          <p:cNvPicPr>
            <a:picLocks noChangeAspect="1"/>
          </p:cNvPicPr>
          <p:nvPr/>
        </p:nvPicPr>
        <p:blipFill>
          <a:blip r:embed="rId5"/>
          <a:srcRect l="4234" r="2177" b="11753"/>
          <a:stretch>
            <a:fillRect/>
          </a:stretch>
        </p:blipFill>
        <p:spPr>
          <a:xfrm>
            <a:off x="251531" y="984012"/>
            <a:ext cx="5217626" cy="2770330"/>
          </a:xfrm>
          <a:prstGeom prst="rect">
            <a:avLst/>
          </a:prstGeom>
          <a:ln>
            <a:solidFill>
              <a:schemeClr val="tx1"/>
            </a:solidFill>
          </a:ln>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62E7526-EEB7-446B-9321-BCE235FF23AC}"/>
                  </a:ext>
                </a:extLst>
              </p:cNvPr>
              <p:cNvSpPr txBox="1"/>
              <p:nvPr/>
            </p:nvSpPr>
            <p:spPr>
              <a:xfrm>
                <a:off x="5660260" y="2732065"/>
                <a:ext cx="3421966" cy="704745"/>
              </a:xfrm>
              <a:prstGeom prst="rect">
                <a:avLst/>
              </a:prstGeom>
              <a:solidFill>
                <a:schemeClr val="bg2"/>
              </a:solidFill>
            </p:spPr>
            <p:txBody>
              <a:bodyPr wrap="square" lIns="0" tIns="0" rIns="0" bIns="0" rtlCol="0">
                <a:spAutoFit/>
              </a:bodyPr>
              <a:lstStyle/>
              <a:p>
                <a14:m>
                  <m:oMathPara xmlns:m="http://schemas.openxmlformats.org/officeDocument/2006/math">
                    <m:o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out</m:t>
                          </m:r>
                        </m:sup>
                      </m:sSubSup>
                      <m:r>
                        <a:rPr lang="en-US" i="0">
                          <a:latin typeface="Cambria Math" panose="02040503050406030204" pitchFamily="18" charset="0"/>
                        </a:rPr>
                        <m:t>=</m:t>
                      </m:r>
                      <m:f>
                        <m:fPr>
                          <m:ctrlPr>
                            <a:rPr lang="en-US" i="0">
                              <a:latin typeface="Cambria Math" panose="02040503050406030204" pitchFamily="18" charset="0"/>
                            </a:rPr>
                          </m:ctrlPr>
                        </m:fPr>
                        <m:num>
                          <m:r>
                            <a:rPr lang="en-US" i="0">
                              <a:latin typeface="Cambria Math" panose="02040503050406030204" pitchFamily="18" charset="0"/>
                            </a:rPr>
                            <m:t>1</m:t>
                          </m:r>
                        </m:num>
                        <m:den>
                          <m:r>
                            <a:rPr lang="en-US" i="1">
                              <a:latin typeface="Cambria Math" panose="02040503050406030204" pitchFamily="18" charset="0"/>
                            </a:rPr>
                            <m:t>𝑁</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Sub>
                        </m:den>
                      </m:f>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𝑗</m:t>
                          </m:r>
                          <m:r>
                            <a:rPr lang="en-US" i="0">
                              <a:latin typeface="Cambria Math" panose="02040503050406030204" pitchFamily="18" charset="0"/>
                            </a:rPr>
                            <m:t>: </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𝑗</m:t>
                              </m:r>
                            </m:e>
                          </m:d>
                          <m:r>
                            <a:rPr lang="en-US" i="0">
                              <a:latin typeface="Cambria Math" panose="02040503050406030204" pitchFamily="18" charset="0"/>
                            </a:rPr>
                            <m:t>≠</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up/>
                        <m:e>
                          <m:r>
                            <m:rPr>
                              <m:sty m:val="p"/>
                            </m:rPr>
                            <a:rPr lang="en-US" i="0">
                              <a:latin typeface="Cambria Math" panose="02040503050406030204" pitchFamily="18" charset="0"/>
                            </a:rPr>
                            <m:t>Δ</m:t>
                          </m:r>
                        </m:e>
                      </m:nary>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𝑗𝑡</m:t>
                          </m:r>
                        </m:sub>
                        <m:sup>
                          <m:r>
                            <a:rPr lang="en-US" i="1">
                              <a:latin typeface="Cambria Math" panose="02040503050406030204" pitchFamily="18" charset="0"/>
                            </a:rPr>
                            <m:t>𝑆𝑢𝑏</m:t>
                          </m:r>
                        </m:sup>
                      </m:sSubSup>
                    </m:oMath>
                  </m:oMathPara>
                </a14:m>
                <a:endParaRPr lang="en-US" dirty="0"/>
              </a:p>
            </p:txBody>
          </p:sp>
        </mc:Choice>
        <mc:Fallback>
          <p:sp>
            <p:nvSpPr>
              <p:cNvPr id="4" name="TextBox 3">
                <a:extLst>
                  <a:ext uri="{FF2B5EF4-FFF2-40B4-BE49-F238E27FC236}">
                    <a16:creationId xmlns:a16="http://schemas.microsoft.com/office/drawing/2014/main" id="{C62E7526-EEB7-446B-9321-BCE235FF23AC}"/>
                  </a:ext>
                </a:extLst>
              </p:cNvPr>
              <p:cNvSpPr txBox="1">
                <a:spLocks noRot="1" noChangeAspect="1" noMove="1" noResize="1" noEditPoints="1" noAdjustHandles="1" noChangeArrowheads="1" noChangeShapeType="1" noTextEdit="1"/>
              </p:cNvSpPr>
              <p:nvPr/>
            </p:nvSpPr>
            <p:spPr>
              <a:xfrm>
                <a:off x="5660260" y="2732065"/>
                <a:ext cx="3421966" cy="704745"/>
              </a:xfrm>
              <a:prstGeom prst="rect">
                <a:avLst/>
              </a:prstGeom>
              <a:blipFill>
                <a:blip r:embed="rId6"/>
                <a:stretch>
                  <a:fillRect t="-141071" b="-187500"/>
                </a:stretch>
              </a:blipFill>
            </p:spPr>
            <p:txBody>
              <a:bodyPr/>
              <a:lstStyle/>
              <a:p>
                <a:r>
                  <a:rPr lang="en-US">
                    <a:noFill/>
                  </a:rPr>
                  <a:t> </a:t>
                </a:r>
              </a:p>
            </p:txBody>
          </p:sp>
        </mc:Fallback>
      </mc:AlternateContent>
      <p:sp>
        <p:nvSpPr>
          <p:cNvPr id="17" name="Line Callout 1 16">
            <a:extLst>
              <a:ext uri="{FF2B5EF4-FFF2-40B4-BE49-F238E27FC236}">
                <a16:creationId xmlns:a16="http://schemas.microsoft.com/office/drawing/2014/main" id="{AE5BDE2E-DEC3-5B43-B67D-599D06E88E5B}"/>
              </a:ext>
            </a:extLst>
          </p:cNvPr>
          <p:cNvSpPr/>
          <p:nvPr/>
        </p:nvSpPr>
        <p:spPr>
          <a:xfrm>
            <a:off x="5660260" y="2697133"/>
            <a:ext cx="3421966" cy="739677"/>
          </a:xfrm>
          <a:prstGeom prst="borderCallout1">
            <a:avLst>
              <a:gd name="adj1" fmla="val 61064"/>
              <a:gd name="adj2" fmla="val -1158"/>
              <a:gd name="adj3" fmla="val 9775"/>
              <a:gd name="adj4" fmla="val -18035"/>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FD50634-FCCB-13D8-AA85-1B1986A56B47}"/>
                  </a:ext>
                </a:extLst>
              </p:cNvPr>
              <p:cNvSpPr txBox="1"/>
              <p:nvPr/>
            </p:nvSpPr>
            <p:spPr>
              <a:xfrm>
                <a:off x="5660260" y="926334"/>
                <a:ext cx="3345177" cy="704745"/>
              </a:xfrm>
              <a:prstGeom prst="rect">
                <a:avLst/>
              </a:prstGeom>
              <a:solidFill>
                <a:schemeClr val="bg2"/>
              </a:solidFill>
            </p:spPr>
            <p:txBody>
              <a:bodyPr wrap="square" lIns="0" tIns="0" rIns="0" bIns="0" rtlCol="0">
                <a:spAutoFit/>
              </a:bodyPr>
              <a:lstStyle/>
              <a:p>
                <a14:m>
                  <m:oMathPara xmlns:m="http://schemas.openxmlformats.org/officeDocument/2006/math">
                    <m:o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in</m:t>
                          </m:r>
                        </m:sup>
                      </m:sSubSup>
                      <m:r>
                        <a:rPr lang="en-US" i="0">
                          <a:latin typeface="Cambria Math" panose="02040503050406030204" pitchFamily="18" charset="0"/>
                        </a:rPr>
                        <m:t>=</m:t>
                      </m:r>
                      <m:f>
                        <m:fPr>
                          <m:ctrlPr>
                            <a:rPr lang="en-US" i="0">
                              <a:latin typeface="Cambria Math" panose="02040503050406030204" pitchFamily="18" charset="0"/>
                            </a:rPr>
                          </m:ctrlPr>
                        </m:fPr>
                        <m:num>
                          <m:r>
                            <a:rPr lang="en-US" i="0">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Sub>
                          <m:r>
                            <a:rPr lang="en-US" i="0">
                              <a:latin typeface="Cambria Math" panose="02040503050406030204" pitchFamily="18" charset="0"/>
                            </a:rPr>
                            <m:t>−1</m:t>
                          </m:r>
                        </m:den>
                      </m:f>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𝑗</m:t>
                          </m:r>
                          <m:r>
                            <a:rPr lang="en-US" i="0">
                              <a:latin typeface="Cambria Math" panose="02040503050406030204" pitchFamily="18" charset="0"/>
                            </a:rPr>
                            <m:t>≠</m:t>
                          </m:r>
                          <m:r>
                            <a:rPr lang="en-US" i="1">
                              <a:latin typeface="Cambria Math" panose="02040503050406030204" pitchFamily="18" charset="0"/>
                            </a:rPr>
                            <m:t>𝑖</m:t>
                          </m:r>
                          <m:r>
                            <a:rPr lang="en-US" i="0">
                              <a:latin typeface="Cambria Math" panose="02040503050406030204" pitchFamily="18" charset="0"/>
                            </a:rPr>
                            <m:t>, </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𝑗</m:t>
                              </m:r>
                            </m:e>
                          </m:d>
                          <m:r>
                            <a:rPr lang="en-US" i="0">
                              <a:latin typeface="Cambria Math" panose="02040503050406030204" pitchFamily="18" charset="0"/>
                            </a:rPr>
                            <m:t>=</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up/>
                        <m:e>
                          <m:r>
                            <m:rPr>
                              <m:sty m:val="p"/>
                            </m:rPr>
                            <a:rPr lang="en-US" i="0">
                              <a:latin typeface="Cambria Math" panose="02040503050406030204" pitchFamily="18" charset="0"/>
                            </a:rPr>
                            <m:t>Δ</m:t>
                          </m:r>
                        </m:e>
                      </m:nary>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𝑗𝑡</m:t>
                          </m:r>
                        </m:sub>
                        <m:sup>
                          <m:r>
                            <a:rPr lang="en-US" i="1">
                              <a:latin typeface="Cambria Math" panose="02040503050406030204" pitchFamily="18" charset="0"/>
                            </a:rPr>
                            <m:t>𝑆𝑢𝑏</m:t>
                          </m:r>
                        </m:sup>
                      </m:sSubSup>
                    </m:oMath>
                  </m:oMathPara>
                </a14:m>
                <a:endParaRPr lang="en-US" dirty="0"/>
              </a:p>
            </p:txBody>
          </p:sp>
        </mc:Choice>
        <mc:Fallback>
          <p:sp>
            <p:nvSpPr>
              <p:cNvPr id="3" name="TextBox 2">
                <a:extLst>
                  <a:ext uri="{FF2B5EF4-FFF2-40B4-BE49-F238E27FC236}">
                    <a16:creationId xmlns:a16="http://schemas.microsoft.com/office/drawing/2014/main" id="{7FD50634-FCCB-13D8-AA85-1B1986A56B47}"/>
                  </a:ext>
                </a:extLst>
              </p:cNvPr>
              <p:cNvSpPr txBox="1">
                <a:spLocks noRot="1" noChangeAspect="1" noMove="1" noResize="1" noEditPoints="1" noAdjustHandles="1" noChangeArrowheads="1" noChangeShapeType="1" noTextEdit="1"/>
              </p:cNvSpPr>
              <p:nvPr/>
            </p:nvSpPr>
            <p:spPr>
              <a:xfrm>
                <a:off x="5660260" y="926334"/>
                <a:ext cx="3345177" cy="704745"/>
              </a:xfrm>
              <a:prstGeom prst="rect">
                <a:avLst/>
              </a:prstGeom>
              <a:blipFill>
                <a:blip r:embed="rId7"/>
                <a:stretch>
                  <a:fillRect l="-758" t="-136842" r="-379" b="-184211"/>
                </a:stretch>
              </a:blipFill>
            </p:spPr>
            <p:txBody>
              <a:bodyPr/>
              <a:lstStyle/>
              <a:p>
                <a:r>
                  <a:rPr lang="en-US">
                    <a:noFill/>
                  </a:rPr>
                  <a:t> </a:t>
                </a:r>
              </a:p>
            </p:txBody>
          </p:sp>
        </mc:Fallback>
      </mc:AlternateContent>
      <p:sp>
        <p:nvSpPr>
          <p:cNvPr id="18" name="Line Callout 1 17">
            <a:extLst>
              <a:ext uri="{FF2B5EF4-FFF2-40B4-BE49-F238E27FC236}">
                <a16:creationId xmlns:a16="http://schemas.microsoft.com/office/drawing/2014/main" id="{ED79EC5E-458D-D53A-0E86-15014D6086D7}"/>
              </a:ext>
            </a:extLst>
          </p:cNvPr>
          <p:cNvSpPr/>
          <p:nvPr/>
        </p:nvSpPr>
        <p:spPr>
          <a:xfrm>
            <a:off x="5621866" y="896135"/>
            <a:ext cx="3421966" cy="760345"/>
          </a:xfrm>
          <a:prstGeom prst="borderCallout1">
            <a:avLst>
              <a:gd name="adj1" fmla="val 61064"/>
              <a:gd name="adj2" fmla="val -1158"/>
              <a:gd name="adj3" fmla="val 106974"/>
              <a:gd name="adj4" fmla="val -90282"/>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0677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BF0B9-06AC-A538-8512-5E35B00C7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2DF70-7A11-0592-599A-5A9B5E272B9A}"/>
              </a:ext>
            </a:extLst>
          </p:cNvPr>
          <p:cNvSpPr>
            <a:spLocks noGrp="1"/>
          </p:cNvSpPr>
          <p:nvPr>
            <p:ph type="ctrTitle"/>
          </p:nvPr>
        </p:nvSpPr>
        <p:spPr>
          <a:xfrm>
            <a:off x="529827" y="759070"/>
            <a:ext cx="8345232" cy="699065"/>
          </a:xfrm>
        </p:spPr>
        <p:txBody>
          <a:bodyPr>
            <a:noAutofit/>
          </a:bodyPr>
          <a:lstStyle/>
          <a:p>
            <a:r>
              <a:rPr lang="en-US" sz="2400" dirty="0"/>
              <a:t>Out-of-state variation carries the informative first stage</a:t>
            </a:r>
          </a:p>
        </p:txBody>
      </p:sp>
      <p:sp>
        <p:nvSpPr>
          <p:cNvPr id="6" name="Text Placeholder 5">
            <a:extLst>
              <a:ext uri="{FF2B5EF4-FFF2-40B4-BE49-F238E27FC236}">
                <a16:creationId xmlns:a16="http://schemas.microsoft.com/office/drawing/2014/main" id="{5B9685D5-B052-52DC-BE84-CF97B806EEF4}"/>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4EEB6FCF-2AE6-AA1C-CCA2-7AF4BAAF313C}"/>
              </a:ext>
            </a:extLst>
          </p:cNvPr>
          <p:cNvSpPr>
            <a:spLocks noGrp="1"/>
          </p:cNvSpPr>
          <p:nvPr>
            <p:ph idx="1"/>
          </p:nvPr>
        </p:nvSpPr>
        <p:spPr>
          <a:xfrm>
            <a:off x="694646" y="3278249"/>
            <a:ext cx="8015594" cy="1353388"/>
          </a:xfrm>
        </p:spPr>
        <p:txBody>
          <a:bodyPr>
            <a:normAutofit/>
          </a:bodyPr>
          <a:lstStyle/>
          <a:p>
            <a:pPr>
              <a:buFont typeface="Arial" panose="020B0604020202020204" pitchFamily="34" charset="0"/>
              <a:buChar char="•"/>
            </a:pPr>
            <a:r>
              <a:rPr lang="en-US" sz="1600" dirty="0"/>
              <a:t>The preferred diagnostic specification uses the strong out-of-state instrument alone.</a:t>
            </a:r>
          </a:p>
        </p:txBody>
      </p:sp>
      <p:graphicFrame>
        <p:nvGraphicFramePr>
          <p:cNvPr id="3" name="Table 2">
            <a:extLst>
              <a:ext uri="{FF2B5EF4-FFF2-40B4-BE49-F238E27FC236}">
                <a16:creationId xmlns:a16="http://schemas.microsoft.com/office/drawing/2014/main" id="{1D5BFA6A-E4B7-97A9-5F3B-C455E9763DEA}"/>
              </a:ext>
            </a:extLst>
          </p:cNvPr>
          <p:cNvGraphicFramePr>
            <a:graphicFrameLocks noGrp="1"/>
          </p:cNvGraphicFramePr>
          <p:nvPr>
            <p:extLst>
              <p:ext uri="{D42A27DB-BD31-4B8C-83A1-F6EECF244321}">
                <p14:modId xmlns:p14="http://schemas.microsoft.com/office/powerpoint/2010/main" val="2415146563"/>
              </p:ext>
            </p:extLst>
          </p:nvPr>
        </p:nvGraphicFramePr>
        <p:xfrm>
          <a:off x="739837" y="1557867"/>
          <a:ext cx="7664326" cy="1638660"/>
        </p:xfrm>
        <a:graphic>
          <a:graphicData uri="http://schemas.openxmlformats.org/drawingml/2006/table">
            <a:tbl>
              <a:tblPr firstRow="1" bandRow="1">
                <a:tableStyleId>{5940675A-B579-460E-94D1-54222C63F5DA}</a:tableStyleId>
              </a:tblPr>
              <a:tblGrid>
                <a:gridCol w="1604160">
                  <a:extLst>
                    <a:ext uri="{9D8B030D-6E8A-4147-A177-3AD203B41FA5}">
                      <a16:colId xmlns:a16="http://schemas.microsoft.com/office/drawing/2014/main" val="3213463110"/>
                    </a:ext>
                  </a:extLst>
                </a:gridCol>
                <a:gridCol w="1526254">
                  <a:extLst>
                    <a:ext uri="{9D8B030D-6E8A-4147-A177-3AD203B41FA5}">
                      <a16:colId xmlns:a16="http://schemas.microsoft.com/office/drawing/2014/main" val="1163248667"/>
                    </a:ext>
                  </a:extLst>
                </a:gridCol>
                <a:gridCol w="1559040">
                  <a:extLst>
                    <a:ext uri="{9D8B030D-6E8A-4147-A177-3AD203B41FA5}">
                      <a16:colId xmlns:a16="http://schemas.microsoft.com/office/drawing/2014/main" val="3800581172"/>
                    </a:ext>
                  </a:extLst>
                </a:gridCol>
                <a:gridCol w="2974872">
                  <a:extLst>
                    <a:ext uri="{9D8B030D-6E8A-4147-A177-3AD203B41FA5}">
                      <a16:colId xmlns:a16="http://schemas.microsoft.com/office/drawing/2014/main" val="3223999536"/>
                    </a:ext>
                  </a:extLst>
                </a:gridCol>
              </a:tblGrid>
              <a:tr h="394829">
                <a:tc>
                  <a:txBody>
                    <a:bodyPr/>
                    <a:lstStyle/>
                    <a:p>
                      <a:r>
                        <a:rPr lang="en-US" sz="1400" dirty="0"/>
                        <a:t>Included IVs</a:t>
                      </a:r>
                    </a:p>
                  </a:txBody>
                  <a:tcPr/>
                </a:tc>
                <a:tc>
                  <a:txBody>
                    <a:bodyPr/>
                    <a:lstStyle/>
                    <a:p>
                      <a:r>
                        <a:rPr lang="en-US" sz="1400" dirty="0"/>
                        <a:t>Regional controls</a:t>
                      </a:r>
                    </a:p>
                  </a:txBody>
                  <a:tcPr/>
                </a:tc>
                <a:tc>
                  <a:txBody>
                    <a:bodyPr/>
                    <a:lstStyle/>
                    <a:p>
                      <a:r>
                        <a:rPr lang="en-US" sz="1400" dirty="0"/>
                        <a:t>KP F</a:t>
                      </a:r>
                    </a:p>
                  </a:txBody>
                  <a:tcPr/>
                </a:tc>
                <a:tc>
                  <a:txBody>
                    <a:bodyPr/>
                    <a:lstStyle/>
                    <a:p>
                      <a:r>
                        <a:rPr lang="en-US" sz="1400" dirty="0"/>
                        <a:t>Interpretation</a:t>
                      </a:r>
                    </a:p>
                  </a:txBody>
                  <a:tcPr/>
                </a:tc>
                <a:extLst>
                  <a:ext uri="{0D108BD9-81ED-4DB2-BD59-A6C34878D82A}">
                    <a16:rowId xmlns:a16="http://schemas.microsoft.com/office/drawing/2014/main" val="2663592228"/>
                  </a:ext>
                </a:extLst>
              </a:tr>
              <a:tr h="373500">
                <a:tc>
                  <a:txBody>
                    <a:bodyPr/>
                    <a:lstStyle/>
                    <a:p>
                      <a:r>
                        <a:rPr lang="en-US" sz="1400" dirty="0"/>
                        <a:t>Both IVs</a:t>
                      </a:r>
                    </a:p>
                  </a:txBody>
                  <a:tcPr/>
                </a:tc>
                <a:tc>
                  <a:txBody>
                    <a:bodyPr/>
                    <a:lstStyle/>
                    <a:p>
                      <a:r>
                        <a:rPr lang="en-US" sz="1400" dirty="0"/>
                        <a:t>Division x Year</a:t>
                      </a:r>
                    </a:p>
                  </a:txBody>
                  <a:tcPr/>
                </a:tc>
                <a:tc>
                  <a:txBody>
                    <a:bodyPr/>
                    <a:lstStyle/>
                    <a:p>
                      <a:r>
                        <a:rPr lang="en-US" sz="1400" dirty="0"/>
                        <a:t>21.22 – 42.37</a:t>
                      </a:r>
                    </a:p>
                  </a:txBody>
                  <a:tcPr/>
                </a:tc>
                <a:tc>
                  <a:txBody>
                    <a:bodyPr/>
                    <a:lstStyle/>
                    <a:p>
                      <a:r>
                        <a:rPr lang="en-US" sz="1400" dirty="0"/>
                        <a:t>Adequate combined first stage</a:t>
                      </a:r>
                    </a:p>
                  </a:txBody>
                  <a:tcPr/>
                </a:tc>
                <a:extLst>
                  <a:ext uri="{0D108BD9-81ED-4DB2-BD59-A6C34878D82A}">
                    <a16:rowId xmlns:a16="http://schemas.microsoft.com/office/drawing/2014/main" val="3953061454"/>
                  </a:ext>
                </a:extLst>
              </a:tr>
              <a:tr h="373500">
                <a:tc>
                  <a:txBody>
                    <a:bodyPr/>
                    <a:lstStyle/>
                    <a:p>
                      <a:r>
                        <a:rPr lang="en-US" sz="1400" dirty="0"/>
                        <a:t>Out-state only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Division x Year</a:t>
                      </a:r>
                    </a:p>
                  </a:txBody>
                  <a:tcPr/>
                </a:tc>
                <a:tc>
                  <a:txBody>
                    <a:bodyPr/>
                    <a:lstStyle/>
                    <a:p>
                      <a:r>
                        <a:rPr lang="en-US" sz="1400" dirty="0"/>
                        <a:t>32.12 - 46.05</a:t>
                      </a:r>
                    </a:p>
                  </a:txBody>
                  <a:tcPr/>
                </a:tc>
                <a:tc>
                  <a:txBody>
                    <a:bodyPr/>
                    <a:lstStyle/>
                    <a:p>
                      <a:r>
                        <a:rPr lang="en-US" sz="1400" dirty="0"/>
                        <a:t>Strong</a:t>
                      </a:r>
                    </a:p>
                  </a:txBody>
                  <a:tcPr/>
                </a:tc>
                <a:extLst>
                  <a:ext uri="{0D108BD9-81ED-4DB2-BD59-A6C34878D82A}">
                    <a16:rowId xmlns:a16="http://schemas.microsoft.com/office/drawing/2014/main" val="3750849406"/>
                  </a:ext>
                </a:extLst>
              </a:tr>
              <a:tr h="373500">
                <a:tc>
                  <a:txBody>
                    <a:bodyPr/>
                    <a:lstStyle/>
                    <a:p>
                      <a:r>
                        <a:rPr lang="en-US" sz="1400" dirty="0"/>
                        <a:t>In-state only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Division x Year</a:t>
                      </a:r>
                    </a:p>
                  </a:txBody>
                  <a:tcPr/>
                </a:tc>
                <a:tc>
                  <a:txBody>
                    <a:bodyPr/>
                    <a:lstStyle/>
                    <a:p>
                      <a:r>
                        <a:rPr lang="en-US" sz="1400" dirty="0"/>
                        <a:t>0.01 - 11.46</a:t>
                      </a:r>
                    </a:p>
                  </a:txBody>
                  <a:tcPr/>
                </a:tc>
                <a:tc>
                  <a:txBody>
                    <a:bodyPr/>
                    <a:lstStyle/>
                    <a:p>
                      <a:r>
                        <a:rPr lang="en-US" sz="1400" dirty="0"/>
                        <a:t>Unstable</a:t>
                      </a:r>
                    </a:p>
                  </a:txBody>
                  <a:tcPr/>
                </a:tc>
                <a:extLst>
                  <a:ext uri="{0D108BD9-81ED-4DB2-BD59-A6C34878D82A}">
                    <a16:rowId xmlns:a16="http://schemas.microsoft.com/office/drawing/2014/main" val="45137163"/>
                  </a:ext>
                </a:extLst>
              </a:tr>
            </a:tbl>
          </a:graphicData>
        </a:graphic>
      </p:graphicFrame>
    </p:spTree>
    <p:extLst>
      <p:ext uri="{BB962C8B-B14F-4D97-AF65-F5344CB8AC3E}">
        <p14:creationId xmlns:p14="http://schemas.microsoft.com/office/powerpoint/2010/main" val="3682709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4E63-B97B-3ED1-39FD-3ED2DA2E4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68F7D-6952-1065-8712-E30F21167944}"/>
              </a:ext>
            </a:extLst>
          </p:cNvPr>
          <p:cNvSpPr>
            <a:spLocks noGrp="1"/>
          </p:cNvSpPr>
          <p:nvPr>
            <p:ph type="title"/>
          </p:nvPr>
        </p:nvSpPr>
        <p:spPr/>
        <p:txBody>
          <a:bodyPr/>
          <a:lstStyle/>
          <a:p>
            <a:r>
              <a:rPr lang="en-US" dirty="0"/>
              <a:t>Results </a:t>
            </a:r>
          </a:p>
        </p:txBody>
      </p:sp>
      <p:sp>
        <p:nvSpPr>
          <p:cNvPr id="3" name="Text Placeholder 2">
            <a:extLst>
              <a:ext uri="{FF2B5EF4-FFF2-40B4-BE49-F238E27FC236}">
                <a16:creationId xmlns:a16="http://schemas.microsoft.com/office/drawing/2014/main" id="{2D971AE9-50A0-9D5C-6A88-E3F16068A3EE}"/>
              </a:ext>
            </a:extLst>
          </p:cNvPr>
          <p:cNvSpPr>
            <a:spLocks noGrp="1"/>
          </p:cNvSpPr>
          <p:nvPr>
            <p:ph type="body" sz="quarter" idx="10"/>
          </p:nvPr>
        </p:nvSpPr>
        <p:spPr/>
        <p:txBody>
          <a:bodyPr/>
          <a:lstStyle/>
          <a:p>
            <a:r>
              <a:rPr lang="en-US" dirty="0"/>
              <a:t>SECTION 3</a:t>
            </a:r>
          </a:p>
        </p:txBody>
      </p:sp>
    </p:spTree>
    <p:extLst>
      <p:ext uri="{BB962C8B-B14F-4D97-AF65-F5344CB8AC3E}">
        <p14:creationId xmlns:p14="http://schemas.microsoft.com/office/powerpoint/2010/main" val="1983210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E29D1-2BCF-D779-1F88-194F946BF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3299C-BB22-F16B-F8BA-4F3A70E9455A}"/>
              </a:ext>
            </a:extLst>
          </p:cNvPr>
          <p:cNvSpPr>
            <a:spLocks noGrp="1"/>
          </p:cNvSpPr>
          <p:nvPr>
            <p:ph type="ctrTitle"/>
          </p:nvPr>
        </p:nvSpPr>
        <p:spPr>
          <a:xfrm>
            <a:off x="504427" y="10810"/>
            <a:ext cx="8345232" cy="699065"/>
          </a:xfrm>
        </p:spPr>
        <p:txBody>
          <a:bodyPr>
            <a:noAutofit/>
          </a:bodyPr>
          <a:lstStyle/>
          <a:p>
            <a:r>
              <a:rPr lang="en-US" sz="2000" dirty="0"/>
              <a:t>Division-by-year effects attenuate the benchmark response</a:t>
            </a:r>
          </a:p>
        </p:txBody>
      </p:sp>
      <p:sp>
        <p:nvSpPr>
          <p:cNvPr id="4" name="Content Placeholder 3">
            <a:extLst>
              <a:ext uri="{FF2B5EF4-FFF2-40B4-BE49-F238E27FC236}">
                <a16:creationId xmlns:a16="http://schemas.microsoft.com/office/drawing/2014/main" id="{1E0BFB2A-CC61-1AA4-FA25-E471C7A0EB19}"/>
              </a:ext>
            </a:extLst>
          </p:cNvPr>
          <p:cNvSpPr>
            <a:spLocks noGrp="1"/>
          </p:cNvSpPr>
          <p:nvPr>
            <p:ph idx="1"/>
          </p:nvPr>
        </p:nvSpPr>
        <p:spPr>
          <a:xfrm>
            <a:off x="6028266" y="1319515"/>
            <a:ext cx="2953688" cy="3194612"/>
          </a:xfrm>
        </p:spPr>
        <p:txBody>
          <a:bodyPr>
            <a:normAutofit/>
          </a:bodyPr>
          <a:lstStyle/>
          <a:p>
            <a:pPr>
              <a:buFont typeface="Arial" panose="020B0604020202020204" pitchFamily="34" charset="0"/>
              <a:buChar char="•"/>
            </a:pPr>
            <a:r>
              <a:rPr lang="en-US" sz="1600" dirty="0"/>
              <a:t>Tax responses exceed basic-expenditure responses in point estimates.</a:t>
            </a:r>
          </a:p>
          <a:p>
            <a:pPr>
              <a:buFont typeface="Arial" panose="020B0604020202020204" pitchFamily="34" charset="0"/>
              <a:buChar char="•"/>
            </a:pPr>
            <a:r>
              <a:rPr lang="en-US" sz="1600" dirty="0"/>
              <a:t>Moving from Year FE to Division-by-year FE attenuates the estimates, but the tax response remains economically meaningful.</a:t>
            </a:r>
          </a:p>
        </p:txBody>
      </p:sp>
      <p:sp>
        <p:nvSpPr>
          <p:cNvPr id="7" name="Text Placeholder 6">
            <a:extLst>
              <a:ext uri="{FF2B5EF4-FFF2-40B4-BE49-F238E27FC236}">
                <a16:creationId xmlns:a16="http://schemas.microsoft.com/office/drawing/2014/main" id="{E7AF476D-6B60-5236-072A-4523DD4A70A6}"/>
              </a:ext>
            </a:extLst>
          </p:cNvPr>
          <p:cNvSpPr>
            <a:spLocks noGrp="1"/>
          </p:cNvSpPr>
          <p:nvPr>
            <p:ph type="body" sz="quarter" idx="10"/>
          </p:nvPr>
        </p:nvSpPr>
        <p:spPr>
          <a:xfrm>
            <a:off x="5443538" y="4900921"/>
            <a:ext cx="3700462" cy="252412"/>
          </a:xfrm>
        </p:spPr>
        <p:txBody>
          <a:bodyPr/>
          <a:lstStyle/>
          <a:p>
            <a:r>
              <a:rPr lang="en-US" dirty="0"/>
              <a:t>Rent Capture or Regional Forces?</a:t>
            </a:r>
          </a:p>
          <a:p>
            <a:endParaRPr lang="en-US" dirty="0"/>
          </a:p>
        </p:txBody>
      </p:sp>
      <p:pic>
        <p:nvPicPr>
          <p:cNvPr id="9" name="Picture 8">
            <a:extLst>
              <a:ext uri="{FF2B5EF4-FFF2-40B4-BE49-F238E27FC236}">
                <a16:creationId xmlns:a16="http://schemas.microsoft.com/office/drawing/2014/main" id="{34EB32F8-21CB-0349-DBF2-3FC6E59FEFFC}"/>
              </a:ext>
            </a:extLst>
          </p:cNvPr>
          <p:cNvPicPr>
            <a:picLocks noChangeAspect="1"/>
          </p:cNvPicPr>
          <p:nvPr/>
        </p:nvPicPr>
        <p:blipFill>
          <a:blip r:embed="rId3"/>
          <a:stretch>
            <a:fillRect/>
          </a:stretch>
        </p:blipFill>
        <p:spPr>
          <a:xfrm>
            <a:off x="319741" y="709875"/>
            <a:ext cx="5536227" cy="4022992"/>
          </a:xfrm>
          <a:prstGeom prst="rect">
            <a:avLst/>
          </a:prstGeom>
        </p:spPr>
      </p:pic>
    </p:spTree>
    <p:extLst>
      <p:ext uri="{BB962C8B-B14F-4D97-AF65-F5344CB8AC3E}">
        <p14:creationId xmlns:p14="http://schemas.microsoft.com/office/powerpoint/2010/main" val="4120358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5441-95DE-D867-CC23-ED76EE082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C3010-D674-9ECA-23AC-5F999EB3055C}"/>
              </a:ext>
            </a:extLst>
          </p:cNvPr>
          <p:cNvSpPr>
            <a:spLocks noGrp="1"/>
          </p:cNvSpPr>
          <p:nvPr>
            <p:ph type="ctrTitle"/>
          </p:nvPr>
        </p:nvSpPr>
        <p:spPr>
          <a:xfrm>
            <a:off x="427057" y="-106312"/>
            <a:ext cx="8345232" cy="699065"/>
          </a:xfrm>
        </p:spPr>
        <p:txBody>
          <a:bodyPr>
            <a:noAutofit/>
          </a:bodyPr>
          <a:lstStyle/>
          <a:p>
            <a:r>
              <a:rPr lang="en-US" sz="2000" dirty="0"/>
              <a:t>Opening the “regional forces” black box</a:t>
            </a:r>
          </a:p>
        </p:txBody>
      </p:sp>
      <p:sp>
        <p:nvSpPr>
          <p:cNvPr id="6" name="Text Placeholder 5">
            <a:extLst>
              <a:ext uri="{FF2B5EF4-FFF2-40B4-BE49-F238E27FC236}">
                <a16:creationId xmlns:a16="http://schemas.microsoft.com/office/drawing/2014/main" id="{4CF8A5FB-3F60-74B3-E7BD-48BBFF498747}"/>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C33F6F8D-AC6F-78EC-6364-270A5F7402C7}"/>
              </a:ext>
            </a:extLst>
          </p:cNvPr>
          <p:cNvSpPr>
            <a:spLocks noGrp="1"/>
          </p:cNvSpPr>
          <p:nvPr>
            <p:ph idx="1"/>
          </p:nvPr>
        </p:nvSpPr>
        <p:spPr>
          <a:xfrm>
            <a:off x="6473597" y="697134"/>
            <a:ext cx="2376061" cy="3933238"/>
          </a:xfrm>
        </p:spPr>
        <p:txBody>
          <a:bodyPr>
            <a:normAutofit/>
          </a:bodyPr>
          <a:lstStyle/>
          <a:p>
            <a:pPr lvl="0">
              <a:buFont typeface="Arial" panose="020B0604020202020204" pitchFamily="34" charset="0"/>
              <a:buChar char="•"/>
            </a:pPr>
            <a:r>
              <a:rPr lang="en-US" sz="1600" dirty="0"/>
              <a:t>Labor and housing controls produce little change within matched samples.</a:t>
            </a:r>
          </a:p>
          <a:p>
            <a:pPr>
              <a:buFont typeface="Arial" panose="020B0604020202020204" pitchFamily="34" charset="0"/>
              <a:buChar char="•"/>
            </a:pPr>
            <a:r>
              <a:rPr lang="en-US" sz="1600" dirty="0"/>
              <a:t>Division-by-year effects have a larger impact on the Tax–BE comparison.</a:t>
            </a:r>
          </a:p>
        </p:txBody>
      </p:sp>
      <p:graphicFrame>
        <p:nvGraphicFramePr>
          <p:cNvPr id="7" name="Table 6">
            <a:extLst>
              <a:ext uri="{FF2B5EF4-FFF2-40B4-BE49-F238E27FC236}">
                <a16:creationId xmlns:a16="http://schemas.microsoft.com/office/drawing/2014/main" id="{4D2315D9-0655-0F59-F942-F9D635D89E07}"/>
              </a:ext>
            </a:extLst>
          </p:cNvPr>
          <p:cNvGraphicFramePr>
            <a:graphicFrameLocks noGrp="1"/>
          </p:cNvGraphicFramePr>
          <p:nvPr>
            <p:extLst>
              <p:ext uri="{D42A27DB-BD31-4B8C-83A1-F6EECF244321}">
                <p14:modId xmlns:p14="http://schemas.microsoft.com/office/powerpoint/2010/main" val="1327057021"/>
              </p:ext>
            </p:extLst>
          </p:nvPr>
        </p:nvGraphicFramePr>
        <p:xfrm>
          <a:off x="427057" y="509790"/>
          <a:ext cx="5631180" cy="4123919"/>
        </p:xfrm>
        <a:graphic>
          <a:graphicData uri="http://schemas.openxmlformats.org/drawingml/2006/table">
            <a:tbl>
              <a:tblPr/>
              <a:tblGrid>
                <a:gridCol w="2034540">
                  <a:extLst>
                    <a:ext uri="{9D8B030D-6E8A-4147-A177-3AD203B41FA5}">
                      <a16:colId xmlns:a16="http://schemas.microsoft.com/office/drawing/2014/main" val="799160434"/>
                    </a:ext>
                  </a:extLst>
                </a:gridCol>
                <a:gridCol w="1737360">
                  <a:extLst>
                    <a:ext uri="{9D8B030D-6E8A-4147-A177-3AD203B41FA5}">
                      <a16:colId xmlns:a16="http://schemas.microsoft.com/office/drawing/2014/main" val="831658631"/>
                    </a:ext>
                  </a:extLst>
                </a:gridCol>
                <a:gridCol w="1242060">
                  <a:extLst>
                    <a:ext uri="{9D8B030D-6E8A-4147-A177-3AD203B41FA5}">
                      <a16:colId xmlns:a16="http://schemas.microsoft.com/office/drawing/2014/main" val="2120087299"/>
                    </a:ext>
                  </a:extLst>
                </a:gridCol>
                <a:gridCol w="617220">
                  <a:extLst>
                    <a:ext uri="{9D8B030D-6E8A-4147-A177-3AD203B41FA5}">
                      <a16:colId xmlns:a16="http://schemas.microsoft.com/office/drawing/2014/main" val="248561263"/>
                    </a:ext>
                  </a:extLst>
                </a:gridCol>
              </a:tblGrid>
              <a:tr h="257175">
                <a:tc>
                  <a:txBody>
                    <a:bodyPr/>
                    <a:lstStyle/>
                    <a:p>
                      <a:pPr>
                        <a:buNone/>
                      </a:pPr>
                      <a:r>
                        <a:rPr lang="en-US" sz="1000" dirty="0"/>
                        <a:t>Sample and specification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Tax </a:t>
                      </a:r>
                      <a:r>
                        <a:rPr lang="en-US" sz="1000" dirty="0" err="1"/>
                        <a:t>response（SE</a:t>
                      </a:r>
                      <a:r>
                        <a:rPr lang="en-US" sz="1000" dirty="0"/>
                        <a:t>）</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BE </a:t>
                      </a:r>
                      <a:r>
                        <a:rPr lang="en-US" sz="1000" dirty="0" err="1"/>
                        <a:t>response（SE</a:t>
                      </a:r>
                      <a:r>
                        <a:rPr lang="en-US" sz="1000" dirty="0"/>
                        <a:t>）</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a:t>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291942"/>
                  </a:ext>
                </a:extLst>
              </a:tr>
              <a:tr h="257175">
                <a:tc>
                  <a:txBody>
                    <a:bodyPr/>
                    <a:lstStyle/>
                    <a:p>
                      <a:pPr>
                        <a:buNone/>
                      </a:pPr>
                      <a:r>
                        <a:rPr lang="en-US" sz="1050" b="1" dirty="0">
                          <a:highlight>
                            <a:srgbClr val="FFFF00"/>
                          </a:highlight>
                        </a:rPr>
                        <a:t>MSA FE + Year FE：</a:t>
                      </a:r>
                    </a:p>
                    <a:p>
                      <a:pPr>
                        <a:buNone/>
                      </a:pPr>
                      <a:r>
                        <a:rPr lang="en-US" sz="1050" b="1" dirty="0">
                          <a:highlight>
                            <a:srgbClr val="FFFF00"/>
                          </a:highlight>
                        </a:rPr>
                        <a:t>baseline specification</a:t>
                      </a:r>
                      <a:endParaRPr lang="en-US" sz="1050" dirty="0">
                        <a:highlight>
                          <a:srgbClr val="FFFF00"/>
                        </a:highlight>
                      </a:endParaRP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0.452***</a:t>
                      </a:r>
                    </a:p>
                    <a:p>
                      <a:pPr algn="r">
                        <a:buNone/>
                      </a:pPr>
                      <a:r>
                        <a:rPr lang="en-US" sz="1050" b="1" dirty="0"/>
                        <a:t>（0.098）</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0.193***</a:t>
                      </a:r>
                    </a:p>
                    <a:p>
                      <a:pPr algn="r">
                        <a:buNone/>
                      </a:pPr>
                      <a:r>
                        <a:rPr lang="en-US" sz="1050" b="1" dirty="0"/>
                        <a:t>（0.062）</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2,340</a:t>
                      </a:r>
                      <a:endParaRPr lang="en-US" sz="105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5951749"/>
                  </a:ext>
                </a:extLst>
              </a:tr>
              <a:tr h="257175">
                <a:tc>
                  <a:txBody>
                    <a:bodyPr/>
                    <a:lstStyle/>
                    <a:p>
                      <a:pPr>
                        <a:buNone/>
                      </a:pPr>
                      <a:r>
                        <a:rPr lang="en-US" sz="1050" dirty="0"/>
                        <a:t>MSA FE + Division × Year FE</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0.33</a:t>
                      </a:r>
                      <a:r>
                        <a:rPr lang="en-US" sz="1050" b="1" dirty="0"/>
                        <a:t>**</a:t>
                      </a:r>
                    </a:p>
                    <a:p>
                      <a:pPr algn="r">
                        <a:buNone/>
                      </a:pPr>
                      <a:r>
                        <a:rPr lang="en-US" sz="1050" dirty="0"/>
                        <a:t>（0.10）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0.25</a:t>
                      </a:r>
                      <a:r>
                        <a:rPr lang="en-US" sz="1050" b="1" dirty="0"/>
                        <a:t>***</a:t>
                      </a:r>
                    </a:p>
                    <a:p>
                      <a:pPr algn="r">
                        <a:buNone/>
                      </a:pPr>
                      <a:r>
                        <a:rPr lang="en-US" sz="1050" dirty="0"/>
                        <a:t>（0.08）</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387952"/>
                  </a:ext>
                </a:extLst>
              </a:tr>
              <a:tr h="257175">
                <a:tc>
                  <a:txBody>
                    <a:bodyPr/>
                    <a:lstStyle/>
                    <a:p>
                      <a:pPr>
                        <a:buNone/>
                      </a:pPr>
                      <a:r>
                        <a:rPr lang="en-US" sz="1050"/>
                        <a:t>MSA FE + Year FE + MSA-specific trends</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0.465</a:t>
                      </a:r>
                      <a:r>
                        <a:rPr lang="en-US" sz="1050" b="1" dirty="0"/>
                        <a:t>***</a:t>
                      </a:r>
                    </a:p>
                    <a:p>
                      <a:pPr algn="r">
                        <a:buNone/>
                      </a:pPr>
                      <a:r>
                        <a:rPr lang="en-US" sz="1050" dirty="0"/>
                        <a:t>（0.100）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0.184</a:t>
                      </a:r>
                      <a:r>
                        <a:rPr lang="en-US" sz="1050" b="1" dirty="0"/>
                        <a:t>***</a:t>
                      </a:r>
                    </a:p>
                    <a:p>
                      <a:pPr algn="r">
                        <a:buNone/>
                      </a:pPr>
                      <a:r>
                        <a:rPr lang="en-US" sz="1050" dirty="0"/>
                        <a:t>（0.061）</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604024"/>
                  </a:ext>
                </a:extLst>
              </a:tr>
              <a:tr h="257175">
                <a:tc>
                  <a:txBody>
                    <a:bodyPr/>
                    <a:lstStyle/>
                    <a:p>
                      <a:pPr>
                        <a:buNone/>
                      </a:pPr>
                      <a:r>
                        <a:rPr lang="en-US" sz="1000" b="1" dirty="0">
                          <a:highlight>
                            <a:srgbClr val="FFFF00"/>
                          </a:highlight>
                        </a:rPr>
                        <a:t>Labor sample： </a:t>
                      </a:r>
                    </a:p>
                    <a:p>
                      <a:pPr>
                        <a:buNone/>
                      </a:pPr>
                      <a:r>
                        <a:rPr lang="en-US" sz="1000" b="1" dirty="0">
                          <a:highlight>
                            <a:srgbClr val="FFFF00"/>
                          </a:highlight>
                        </a:rPr>
                        <a:t>baseline specification</a:t>
                      </a:r>
                      <a:endParaRPr lang="en-US" sz="100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0.455***</a:t>
                      </a:r>
                    </a:p>
                    <a:p>
                      <a:pPr algn="r">
                        <a:buNone/>
                      </a:pPr>
                      <a:r>
                        <a:rPr lang="en-US" sz="1000" b="1" dirty="0"/>
                        <a:t>（0.118）</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0.173**</a:t>
                      </a:r>
                    </a:p>
                    <a:p>
                      <a:pPr algn="r">
                        <a:buNone/>
                      </a:pPr>
                      <a:r>
                        <a:rPr lang="en-US" sz="1000" b="1" dirty="0"/>
                        <a:t>（0.075）</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1,300</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5275754"/>
                  </a:ext>
                </a:extLst>
              </a:tr>
              <a:tr h="334328">
                <a:tc>
                  <a:txBody>
                    <a:bodyPr/>
                    <a:lstStyle/>
                    <a:p>
                      <a:pPr>
                        <a:buNone/>
                      </a:pPr>
                      <a:r>
                        <a:rPr lang="en-US" sz="1000" dirty="0"/>
                        <a:t>＋ labor-demand shock</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0.455</a:t>
                      </a:r>
                      <a:r>
                        <a:rPr lang="en-US" sz="1000" b="1" dirty="0"/>
                        <a:t>***</a:t>
                      </a:r>
                    </a:p>
                    <a:p>
                      <a:pPr algn="r">
                        <a:buNone/>
                      </a:pPr>
                      <a:r>
                        <a:rPr lang="en-US" sz="1000" dirty="0"/>
                        <a:t>（0.119）</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0.173</a:t>
                      </a:r>
                      <a:r>
                        <a:rPr lang="en-US" sz="1000" b="1" dirty="0"/>
                        <a:t>**</a:t>
                      </a:r>
                    </a:p>
                    <a:p>
                      <a:pPr algn="r">
                        <a:buNone/>
                      </a:pPr>
                      <a:r>
                        <a:rPr lang="en-US" sz="1000" dirty="0"/>
                        <a:t>（0.073）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9184665"/>
                  </a:ext>
                </a:extLst>
              </a:tr>
              <a:tr h="334328">
                <a:tc>
                  <a:txBody>
                    <a:bodyPr/>
                    <a:lstStyle/>
                    <a:p>
                      <a:pPr>
                        <a:buNone/>
                      </a:pPr>
                      <a:r>
                        <a:rPr lang="en-US" sz="100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0.301</a:t>
                      </a:r>
                      <a:r>
                        <a:rPr lang="en-US" sz="1000" b="1" dirty="0"/>
                        <a:t>***</a:t>
                      </a:r>
                    </a:p>
                    <a:p>
                      <a:pPr algn="r">
                        <a:buNone/>
                      </a:pPr>
                      <a:r>
                        <a:rPr lang="en-US" sz="1000" dirty="0"/>
                        <a:t>（0.110）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0.271</a:t>
                      </a:r>
                      <a:r>
                        <a:rPr lang="en-US" sz="1000" b="1" dirty="0"/>
                        <a:t>**</a:t>
                      </a:r>
                    </a:p>
                    <a:p>
                      <a:pPr algn="r">
                        <a:buNone/>
                      </a:pPr>
                      <a:r>
                        <a:rPr lang="en-US" sz="1000" dirty="0"/>
                        <a:t>（0.107）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927691"/>
                  </a:ext>
                </a:extLst>
              </a:tr>
              <a:tr h="334328">
                <a:tc>
                  <a:txBody>
                    <a:bodyPr/>
                    <a:lstStyle/>
                    <a:p>
                      <a:pPr>
                        <a:buNone/>
                      </a:pPr>
                      <a:r>
                        <a:rPr lang="en-US" sz="1000" b="1" dirty="0">
                          <a:highlight>
                            <a:srgbClr val="FFFF00"/>
                          </a:highlight>
                        </a:rPr>
                        <a:t>BPS／HPI sample： </a:t>
                      </a:r>
                    </a:p>
                    <a:p>
                      <a:pPr>
                        <a:buNone/>
                      </a:pPr>
                      <a:r>
                        <a:rPr lang="en-US" sz="1000" b="1" dirty="0">
                          <a:highlight>
                            <a:srgbClr val="FFFF00"/>
                          </a:highlight>
                        </a:rPr>
                        <a:t>baseline specification</a:t>
                      </a:r>
                      <a:endParaRPr lang="en-US" sz="100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0.423***</a:t>
                      </a:r>
                    </a:p>
                    <a:p>
                      <a:pPr algn="r">
                        <a:buNone/>
                      </a:pPr>
                      <a:r>
                        <a:rPr lang="en-US" sz="1000" b="1" dirty="0"/>
                        <a:t>（0.142）</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0.161*</a:t>
                      </a:r>
                    </a:p>
                    <a:p>
                      <a:pPr algn="r">
                        <a:buNone/>
                      </a:pPr>
                      <a:r>
                        <a:rPr lang="en-US" sz="1000" b="1" dirty="0"/>
                        <a:t>（0.0854）</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943</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8249101"/>
                  </a:ext>
                </a:extLst>
              </a:tr>
              <a:tr h="257175">
                <a:tc>
                  <a:txBody>
                    <a:bodyPr/>
                    <a:lstStyle/>
                    <a:p>
                      <a:pPr>
                        <a:buNone/>
                      </a:pPr>
                      <a:r>
                        <a:rPr lang="en-US" sz="1000"/>
                        <a:t>＋building permits</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0.418</a:t>
                      </a:r>
                      <a:r>
                        <a:rPr lang="en-US" sz="1000" b="1" dirty="0"/>
                        <a:t>***</a:t>
                      </a:r>
                    </a:p>
                    <a:p>
                      <a:pPr algn="r">
                        <a:buNone/>
                      </a:pPr>
                      <a:r>
                        <a:rPr lang="en-US" sz="1000" dirty="0"/>
                        <a:t>（0.144）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0.160</a:t>
                      </a:r>
                      <a:r>
                        <a:rPr lang="en-US" sz="1000" b="1" dirty="0"/>
                        <a:t>*</a:t>
                      </a:r>
                    </a:p>
                    <a:p>
                      <a:pPr algn="r">
                        <a:buNone/>
                      </a:pPr>
                      <a:r>
                        <a:rPr lang="en-US" sz="1000" dirty="0"/>
                        <a:t>（0.0852）</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9931506"/>
                  </a:ext>
                </a:extLst>
              </a:tr>
              <a:tr h="180023">
                <a:tc>
                  <a:txBody>
                    <a:bodyPr/>
                    <a:lstStyle/>
                    <a:p>
                      <a:pPr>
                        <a:buNone/>
                      </a:pPr>
                      <a:r>
                        <a:rPr lang="en-US" sz="1000"/>
                        <a:t>＋HPI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0.425</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0.149</a:t>
                      </a:r>
                      <a:r>
                        <a:rPr lang="en-US" sz="1000" b="1" dirty="0"/>
                        <a:t>*</a:t>
                      </a:r>
                    </a:p>
                    <a:p>
                      <a:pPr algn="r">
                        <a:buNone/>
                      </a:pPr>
                      <a:r>
                        <a:rPr lang="en-US" sz="1000" dirty="0"/>
                        <a:t>（0.0800）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37103"/>
                  </a:ext>
                </a:extLst>
              </a:tr>
              <a:tr h="411480">
                <a:tc>
                  <a:txBody>
                    <a:bodyPr/>
                    <a:lstStyle/>
                    <a:p>
                      <a:pPr>
                        <a:buNone/>
                      </a:pPr>
                      <a:r>
                        <a:rPr lang="en-US" sz="1000" dirty="0"/>
                        <a:t>＋building permits ＋HPI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0.424</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0.161</a:t>
                      </a:r>
                      <a:r>
                        <a:rPr lang="en-US" sz="1000" b="1" dirty="0"/>
                        <a:t>**</a:t>
                      </a:r>
                    </a:p>
                    <a:p>
                      <a:pPr algn="r">
                        <a:buNone/>
                      </a:pPr>
                      <a:r>
                        <a:rPr lang="en-US" sz="1000" dirty="0"/>
                        <a:t>（0.0785）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211912"/>
                  </a:ext>
                </a:extLst>
              </a:tr>
              <a:tr h="334328">
                <a:tc>
                  <a:txBody>
                    <a:bodyPr/>
                    <a:lstStyle/>
                    <a:p>
                      <a:pPr>
                        <a:buNone/>
                      </a:pPr>
                      <a:r>
                        <a:rPr lang="en-US" sz="100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0.244</a:t>
                      </a:r>
                      <a:r>
                        <a:rPr lang="en-US" sz="1000" b="1" dirty="0"/>
                        <a:t>**</a:t>
                      </a:r>
                      <a:r>
                        <a:rPr lang="en-US" sz="1000" dirty="0"/>
                        <a:t> </a:t>
                      </a:r>
                    </a:p>
                    <a:p>
                      <a:pPr algn="r">
                        <a:buNone/>
                      </a:pPr>
                      <a:r>
                        <a:rPr lang="en-US" sz="1000" dirty="0"/>
                        <a:t>（0.120）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0.343</a:t>
                      </a:r>
                      <a:r>
                        <a:rPr lang="en-US" sz="1000" b="1" dirty="0"/>
                        <a:t>***</a:t>
                      </a:r>
                      <a:r>
                        <a:rPr lang="en-US" sz="1000" dirty="0"/>
                        <a:t> </a:t>
                      </a:r>
                    </a:p>
                    <a:p>
                      <a:pPr algn="r">
                        <a:buNone/>
                      </a:pPr>
                      <a:r>
                        <a:rPr lang="en-US" sz="1000" dirty="0"/>
                        <a:t> （0.110）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129950"/>
                  </a:ext>
                </a:extLst>
              </a:tr>
            </a:tbl>
          </a:graphicData>
        </a:graphic>
      </p:graphicFrame>
    </p:spTree>
    <p:extLst>
      <p:ext uri="{BB962C8B-B14F-4D97-AF65-F5344CB8AC3E}">
        <p14:creationId xmlns:p14="http://schemas.microsoft.com/office/powerpoint/2010/main" val="1456998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0A7CE-8B2D-33F0-38C4-11EB615D7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E0A9B-53AE-3E92-FFE3-A3598BF17B71}"/>
              </a:ext>
            </a:extLst>
          </p:cNvPr>
          <p:cNvSpPr>
            <a:spLocks noGrp="1"/>
          </p:cNvSpPr>
          <p:nvPr>
            <p:ph type="ctrTitle"/>
          </p:nvPr>
        </p:nvSpPr>
        <p:spPr>
          <a:xfrm>
            <a:off x="529827" y="141534"/>
            <a:ext cx="8345232" cy="699065"/>
          </a:xfrm>
        </p:spPr>
        <p:txBody>
          <a:bodyPr>
            <a:noAutofit/>
          </a:bodyPr>
          <a:lstStyle/>
          <a:p>
            <a:r>
              <a:rPr lang="en-US" sz="2000" dirty="0"/>
              <a:t>The tax response is concentrated in property and sales taxes</a:t>
            </a:r>
          </a:p>
        </p:txBody>
      </p:sp>
      <p:sp>
        <p:nvSpPr>
          <p:cNvPr id="6" name="Text Placeholder 5">
            <a:extLst>
              <a:ext uri="{FF2B5EF4-FFF2-40B4-BE49-F238E27FC236}">
                <a16:creationId xmlns:a16="http://schemas.microsoft.com/office/drawing/2014/main" id="{1E79B007-F32E-5305-A12E-7930CAA84075}"/>
              </a:ext>
            </a:extLst>
          </p:cNvPr>
          <p:cNvSpPr>
            <a:spLocks noGrp="1"/>
          </p:cNvSpPr>
          <p:nvPr>
            <p:ph type="body" sz="quarter" idx="10"/>
          </p:nvPr>
        </p:nvSpPr>
        <p:spPr>
          <a:xfrm>
            <a:off x="5443538" y="4851759"/>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4D72AC2C-1306-577F-1452-B373298BB1A7}"/>
              </a:ext>
            </a:extLst>
          </p:cNvPr>
          <p:cNvSpPr>
            <a:spLocks noGrp="1"/>
          </p:cNvSpPr>
          <p:nvPr>
            <p:ph idx="1"/>
          </p:nvPr>
        </p:nvSpPr>
        <p:spPr>
          <a:xfrm>
            <a:off x="6485859" y="1600200"/>
            <a:ext cx="2658141" cy="2854842"/>
          </a:xfrm>
        </p:spPr>
        <p:txBody>
          <a:bodyPr>
            <a:normAutofit/>
          </a:bodyPr>
          <a:lstStyle/>
          <a:p>
            <a:pPr>
              <a:buFont typeface="Arial" panose="020B0604020202020204" pitchFamily="34" charset="0"/>
              <a:buChar char="•"/>
            </a:pPr>
            <a:r>
              <a:rPr lang="en-US" sz="1600" dirty="0"/>
              <a:t>Positive responses in property and sales taxes.</a:t>
            </a:r>
          </a:p>
          <a:p>
            <a:pPr>
              <a:buFont typeface="Arial" panose="020B0604020202020204" pitchFamily="34" charset="0"/>
              <a:buChar char="•"/>
            </a:pPr>
            <a:r>
              <a:rPr lang="en-US" sz="1600" dirty="0"/>
              <a:t>Little evidence of an income-tax response.</a:t>
            </a:r>
          </a:p>
        </p:txBody>
      </p:sp>
      <p:pic>
        <p:nvPicPr>
          <p:cNvPr id="5" name="Picture 4">
            <a:extLst>
              <a:ext uri="{FF2B5EF4-FFF2-40B4-BE49-F238E27FC236}">
                <a16:creationId xmlns:a16="http://schemas.microsoft.com/office/drawing/2014/main" id="{D10F1ACA-0C16-6C1F-BDC0-914A74BBE64A}"/>
              </a:ext>
            </a:extLst>
          </p:cNvPr>
          <p:cNvPicPr>
            <a:picLocks noChangeAspect="1"/>
          </p:cNvPicPr>
          <p:nvPr/>
        </p:nvPicPr>
        <p:blipFill>
          <a:blip r:embed="rId3"/>
          <a:stretch>
            <a:fillRect/>
          </a:stretch>
        </p:blipFill>
        <p:spPr>
          <a:xfrm>
            <a:off x="268941" y="840599"/>
            <a:ext cx="5921423" cy="4302901"/>
          </a:xfrm>
          <a:prstGeom prst="rect">
            <a:avLst/>
          </a:prstGeom>
        </p:spPr>
      </p:pic>
    </p:spTree>
    <p:extLst>
      <p:ext uri="{BB962C8B-B14F-4D97-AF65-F5344CB8AC3E}">
        <p14:creationId xmlns:p14="http://schemas.microsoft.com/office/powerpoint/2010/main" val="2888955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7B25A-BD15-1A78-175D-2C9E1147A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30C34-B881-5EF4-9F4A-C384996A0599}"/>
              </a:ext>
            </a:extLst>
          </p:cNvPr>
          <p:cNvSpPr>
            <a:spLocks noGrp="1"/>
          </p:cNvSpPr>
          <p:nvPr>
            <p:ph type="ctrTitle"/>
          </p:nvPr>
        </p:nvSpPr>
        <p:spPr>
          <a:xfrm>
            <a:off x="529827" y="141534"/>
            <a:ext cx="8345232" cy="699065"/>
          </a:xfrm>
        </p:spPr>
        <p:txBody>
          <a:bodyPr>
            <a:noAutofit/>
          </a:bodyPr>
          <a:lstStyle/>
          <a:p>
            <a:r>
              <a:rPr lang="en-US" sz="2000" dirty="0"/>
              <a:t>Division-by-year effects narrow the cumulative Tax–BE gap</a:t>
            </a:r>
          </a:p>
        </p:txBody>
      </p:sp>
      <p:sp>
        <p:nvSpPr>
          <p:cNvPr id="6" name="Text Placeholder 5">
            <a:extLst>
              <a:ext uri="{FF2B5EF4-FFF2-40B4-BE49-F238E27FC236}">
                <a16:creationId xmlns:a16="http://schemas.microsoft.com/office/drawing/2014/main" id="{E3CB3AC4-BA7C-5A24-2AD0-6ACDDA9AFFED}"/>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F2040442-E799-990B-EACD-D54741A08F84}"/>
              </a:ext>
            </a:extLst>
          </p:cNvPr>
          <p:cNvSpPr>
            <a:spLocks noGrp="1"/>
          </p:cNvSpPr>
          <p:nvPr>
            <p:ph idx="1"/>
          </p:nvPr>
        </p:nvSpPr>
        <p:spPr>
          <a:xfrm>
            <a:off x="6273799" y="1100667"/>
            <a:ext cx="2683388" cy="3520494"/>
          </a:xfrm>
        </p:spPr>
        <p:txBody>
          <a:bodyPr>
            <a:normAutofit/>
          </a:bodyPr>
          <a:lstStyle/>
          <a:p>
            <a:pPr>
              <a:buFont typeface="Arial" panose="020B0604020202020204" pitchFamily="34" charset="0"/>
              <a:buChar char="•"/>
            </a:pPr>
            <a:r>
              <a:rPr lang="en-US" sz="1600" dirty="0"/>
              <a:t>The tax response extends beyond the contemporaneous period.</a:t>
            </a:r>
          </a:p>
          <a:p>
            <a:pPr>
              <a:buFont typeface="Arial" panose="020B0604020202020204" pitchFamily="34" charset="0"/>
              <a:buChar char="•"/>
            </a:pPr>
            <a:r>
              <a:rPr lang="en-US" sz="1600" dirty="0"/>
              <a:t>The Tax–BE gap narrows at cumulative horizons under division-by-year effects.</a:t>
            </a:r>
          </a:p>
          <a:p>
            <a:pPr>
              <a:buFont typeface="Arial" panose="020B0604020202020204" pitchFamily="34" charset="0"/>
              <a:buChar char="•"/>
            </a:pPr>
            <a:endParaRPr lang="en-US" sz="1600" dirty="0"/>
          </a:p>
        </p:txBody>
      </p:sp>
      <p:pic>
        <p:nvPicPr>
          <p:cNvPr id="7" name="Picture 6">
            <a:extLst>
              <a:ext uri="{FF2B5EF4-FFF2-40B4-BE49-F238E27FC236}">
                <a16:creationId xmlns:a16="http://schemas.microsoft.com/office/drawing/2014/main" id="{06829228-BCA6-06FF-06AE-CEA5B30C10D4}"/>
              </a:ext>
            </a:extLst>
          </p:cNvPr>
          <p:cNvPicPr>
            <a:picLocks noChangeAspect="1"/>
          </p:cNvPicPr>
          <p:nvPr/>
        </p:nvPicPr>
        <p:blipFill>
          <a:blip r:embed="rId3"/>
          <a:stretch>
            <a:fillRect/>
          </a:stretch>
        </p:blipFill>
        <p:spPr>
          <a:xfrm>
            <a:off x="186813" y="792233"/>
            <a:ext cx="5982493" cy="4351267"/>
          </a:xfrm>
          <a:prstGeom prst="rect">
            <a:avLst/>
          </a:prstGeom>
        </p:spPr>
      </p:pic>
    </p:spTree>
    <p:extLst>
      <p:ext uri="{BB962C8B-B14F-4D97-AF65-F5344CB8AC3E}">
        <p14:creationId xmlns:p14="http://schemas.microsoft.com/office/powerpoint/2010/main" val="2285506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5439-6A2F-118B-2C33-42237CA7A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696AB-DD0E-DCD5-A0A7-4D66E938BBC7}"/>
              </a:ext>
            </a:extLst>
          </p:cNvPr>
          <p:cNvSpPr>
            <a:spLocks noGrp="1"/>
          </p:cNvSpPr>
          <p:nvPr>
            <p:ph type="title"/>
          </p:nvPr>
        </p:nvSpPr>
        <p:spPr>
          <a:xfrm>
            <a:off x="506693" y="2274522"/>
            <a:ext cx="8111175" cy="656910"/>
          </a:xfrm>
        </p:spPr>
        <p:txBody>
          <a:bodyPr/>
          <a:lstStyle/>
          <a:p>
            <a:r>
              <a:rPr lang="en-US" dirty="0"/>
              <a:t>Identification and Robustness</a:t>
            </a:r>
          </a:p>
        </p:txBody>
      </p:sp>
      <p:sp>
        <p:nvSpPr>
          <p:cNvPr id="3" name="Text Placeholder 2">
            <a:extLst>
              <a:ext uri="{FF2B5EF4-FFF2-40B4-BE49-F238E27FC236}">
                <a16:creationId xmlns:a16="http://schemas.microsoft.com/office/drawing/2014/main" id="{2EF28249-6A65-FCBC-9537-B3BB626294B6}"/>
              </a:ext>
            </a:extLst>
          </p:cNvPr>
          <p:cNvSpPr>
            <a:spLocks noGrp="1"/>
          </p:cNvSpPr>
          <p:nvPr>
            <p:ph type="body" sz="quarter" idx="10"/>
          </p:nvPr>
        </p:nvSpPr>
        <p:spPr/>
        <p:txBody>
          <a:bodyPr/>
          <a:lstStyle/>
          <a:p>
            <a:r>
              <a:rPr lang="en-US" dirty="0"/>
              <a:t>SECTION 4</a:t>
            </a:r>
          </a:p>
        </p:txBody>
      </p:sp>
    </p:spTree>
    <p:extLst>
      <p:ext uri="{BB962C8B-B14F-4D97-AF65-F5344CB8AC3E}">
        <p14:creationId xmlns:p14="http://schemas.microsoft.com/office/powerpoint/2010/main" val="994836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FD112-28BF-DC9F-A786-1F8CE118A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944FE-E4D9-9FB7-EC73-8BBEAA4FA46B}"/>
              </a:ext>
            </a:extLst>
          </p:cNvPr>
          <p:cNvSpPr>
            <a:spLocks noGrp="1"/>
          </p:cNvSpPr>
          <p:nvPr>
            <p:ph type="ctrTitle"/>
          </p:nvPr>
        </p:nvSpPr>
        <p:spPr>
          <a:xfrm>
            <a:off x="539659" y="61620"/>
            <a:ext cx="8345232" cy="699065"/>
          </a:xfrm>
        </p:spPr>
        <p:txBody>
          <a:bodyPr>
            <a:noAutofit/>
          </a:bodyPr>
          <a:lstStyle/>
          <a:p>
            <a:r>
              <a:rPr lang="en-US" sz="2400" dirty="0"/>
              <a:t>No evidence of reverse timing</a:t>
            </a:r>
          </a:p>
        </p:txBody>
      </p:sp>
      <p:sp>
        <p:nvSpPr>
          <p:cNvPr id="6" name="Text Placeholder 5">
            <a:extLst>
              <a:ext uri="{FF2B5EF4-FFF2-40B4-BE49-F238E27FC236}">
                <a16:creationId xmlns:a16="http://schemas.microsoft.com/office/drawing/2014/main" id="{5F8D9F5C-1CAA-80F1-FBB1-590D56473A7D}"/>
              </a:ext>
            </a:extLst>
          </p:cNvPr>
          <p:cNvSpPr>
            <a:spLocks noGrp="1"/>
          </p:cNvSpPr>
          <p:nvPr>
            <p:ph type="body" sz="quarter" idx="10"/>
          </p:nvPr>
        </p:nvSpPr>
        <p:spPr>
          <a:xfrm>
            <a:off x="5443538" y="482946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91F0624A-6EC9-511B-6DCB-C79BFAF813F1}"/>
              </a:ext>
            </a:extLst>
          </p:cNvPr>
          <p:cNvSpPr>
            <a:spLocks noGrp="1"/>
          </p:cNvSpPr>
          <p:nvPr>
            <p:ph idx="1"/>
          </p:nvPr>
        </p:nvSpPr>
        <p:spPr>
          <a:xfrm>
            <a:off x="1244600" y="3542913"/>
            <a:ext cx="6654799" cy="1315640"/>
          </a:xfrm>
        </p:spPr>
        <p:txBody>
          <a:bodyPr>
            <a:normAutofit/>
          </a:bodyPr>
          <a:lstStyle/>
          <a:p>
            <a:pPr>
              <a:buFont typeface="Arial" panose="020B0604020202020204" pitchFamily="34" charset="0"/>
              <a:buChar char="•"/>
            </a:pPr>
            <a:r>
              <a:rPr lang="en-US" dirty="0"/>
              <a:t>No individual placebo is statistically significant.</a:t>
            </a:r>
          </a:p>
          <a:p>
            <a:pPr>
              <a:buFont typeface="Arial" panose="020B0604020202020204" pitchFamily="34" charset="0"/>
              <a:buChar char="•"/>
            </a:pPr>
            <a:r>
              <a:rPr lang="en-US" dirty="0"/>
              <a:t>The four pre-outcomes are jointly insignificant under both FE structures.</a:t>
            </a:r>
          </a:p>
        </p:txBody>
      </p:sp>
      <p:graphicFrame>
        <p:nvGraphicFramePr>
          <p:cNvPr id="7" name="Table 6">
            <a:extLst>
              <a:ext uri="{FF2B5EF4-FFF2-40B4-BE49-F238E27FC236}">
                <a16:creationId xmlns:a16="http://schemas.microsoft.com/office/drawing/2014/main" id="{50F630DB-0F91-B83F-28C8-96BB5BE8F7B2}"/>
              </a:ext>
            </a:extLst>
          </p:cNvPr>
          <p:cNvGraphicFramePr>
            <a:graphicFrameLocks noGrp="1"/>
          </p:cNvGraphicFramePr>
          <p:nvPr>
            <p:extLst>
              <p:ext uri="{D42A27DB-BD31-4B8C-83A1-F6EECF244321}">
                <p14:modId xmlns:p14="http://schemas.microsoft.com/office/powerpoint/2010/main" val="1085160490"/>
              </p:ext>
            </p:extLst>
          </p:nvPr>
        </p:nvGraphicFramePr>
        <p:xfrm>
          <a:off x="1058332" y="866792"/>
          <a:ext cx="6841067" cy="2560320"/>
        </p:xfrm>
        <a:graphic>
          <a:graphicData uri="http://schemas.openxmlformats.org/drawingml/2006/table">
            <a:tbl>
              <a:tblPr/>
              <a:tblGrid>
                <a:gridCol w="2306109">
                  <a:extLst>
                    <a:ext uri="{9D8B030D-6E8A-4147-A177-3AD203B41FA5}">
                      <a16:colId xmlns:a16="http://schemas.microsoft.com/office/drawing/2014/main" val="2751465537"/>
                    </a:ext>
                  </a:extLst>
                </a:gridCol>
                <a:gridCol w="2267479">
                  <a:extLst>
                    <a:ext uri="{9D8B030D-6E8A-4147-A177-3AD203B41FA5}">
                      <a16:colId xmlns:a16="http://schemas.microsoft.com/office/drawing/2014/main" val="3805027973"/>
                    </a:ext>
                  </a:extLst>
                </a:gridCol>
                <a:gridCol w="2267479">
                  <a:extLst>
                    <a:ext uri="{9D8B030D-6E8A-4147-A177-3AD203B41FA5}">
                      <a16:colId xmlns:a16="http://schemas.microsoft.com/office/drawing/2014/main" val="2369010025"/>
                    </a:ext>
                  </a:extLst>
                </a:gridCol>
              </a:tblGrid>
              <a:tr h="0">
                <a:tc>
                  <a:txBody>
                    <a:bodyPr/>
                    <a:lstStyle/>
                    <a:p>
                      <a:pPr>
                        <a:buNone/>
                      </a:pPr>
                      <a:r>
                        <a:rPr lang="en-US"/>
                        <a:t>Pre-outcome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Year 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t>Division × year 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5503038"/>
                  </a:ext>
                </a:extLst>
              </a:tr>
              <a:tr h="0">
                <a:tc>
                  <a:txBody>
                    <a:bodyPr/>
                    <a:lstStyle/>
                    <a:p>
                      <a:pPr>
                        <a:buNone/>
                      </a:pPr>
                      <a:r>
                        <a:rPr lang="en-US" dirty="0"/>
                        <a:t>City Tax, 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t>−0.029 (0.069)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−0.013 (0.067)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9551471"/>
                  </a:ext>
                </a:extLst>
              </a:tr>
              <a:tr h="0">
                <a:tc>
                  <a:txBody>
                    <a:bodyPr/>
                    <a:lstStyle/>
                    <a:p>
                      <a:pPr>
                        <a:buNone/>
                      </a:pPr>
                      <a:r>
                        <a:rPr lang="en-US" dirty="0"/>
                        <a:t>City Tax, 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0.055 (0.060)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t>−0.016 (0.065)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797039"/>
                  </a:ext>
                </a:extLst>
              </a:tr>
              <a:tr h="0">
                <a:tc>
                  <a:txBody>
                    <a:bodyPr/>
                    <a:lstStyle/>
                    <a:p>
                      <a:pPr>
                        <a:buNone/>
                      </a:pPr>
                      <a:r>
                        <a:rPr lang="en-US" dirty="0"/>
                        <a:t>City BE, 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0.003 (0.067)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−0.016 (0.073)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2676605"/>
                  </a:ext>
                </a:extLst>
              </a:tr>
              <a:tr h="0">
                <a:tc>
                  <a:txBody>
                    <a:bodyPr/>
                    <a:lstStyle/>
                    <a:p>
                      <a:pPr>
                        <a:buNone/>
                      </a:pPr>
                      <a:r>
                        <a:rPr lang="en-US"/>
                        <a:t>City BE, 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0.034 (0.050)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0.030 (0.068)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837552"/>
                  </a:ext>
                </a:extLst>
              </a:tr>
              <a:tr h="0">
                <a:tc>
                  <a:txBody>
                    <a:bodyPr/>
                    <a:lstStyle/>
                    <a:p>
                      <a:pPr>
                        <a:buNone/>
                      </a:pPr>
                      <a:r>
                        <a:rPr lang="en-US" b="0" dirty="0"/>
                        <a:t>Joint p-value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b="0" dirty="0"/>
                        <a:t>0.862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b="0" dirty="0"/>
                        <a:t>0.959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1990981"/>
                  </a:ext>
                </a:extLst>
              </a:tr>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dirty="0"/>
                        <a:t>N per 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800" b="0" dirty="0"/>
                        <a:t>2,920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800" b="0" dirty="0"/>
                        <a:t>2,920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2626845"/>
                  </a:ext>
                </a:extLst>
              </a:tr>
            </a:tbl>
          </a:graphicData>
        </a:graphic>
      </p:graphicFrame>
    </p:spTree>
    <p:extLst>
      <p:ext uri="{BB962C8B-B14F-4D97-AF65-F5344CB8AC3E}">
        <p14:creationId xmlns:p14="http://schemas.microsoft.com/office/powerpoint/2010/main" val="39736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C5D66-4238-E733-28D6-0E763E2E2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FE012-7E5D-21BD-96EC-99D06D2223BF}"/>
              </a:ext>
            </a:extLst>
          </p:cNvPr>
          <p:cNvSpPr>
            <a:spLocks noGrp="1"/>
          </p:cNvSpPr>
          <p:nvPr>
            <p:ph type="ctrTitle"/>
          </p:nvPr>
        </p:nvSpPr>
        <p:spPr>
          <a:xfrm>
            <a:off x="0" y="61620"/>
            <a:ext cx="8345232" cy="699065"/>
          </a:xfrm>
        </p:spPr>
        <p:txBody>
          <a:bodyPr>
            <a:noAutofit/>
          </a:bodyPr>
          <a:lstStyle/>
          <a:p>
            <a:r>
              <a:rPr lang="en-US" sz="2400" dirty="0"/>
              <a:t>Is the tax–expenditure gap statistically meaningful?</a:t>
            </a:r>
          </a:p>
        </p:txBody>
      </p:sp>
      <p:sp>
        <p:nvSpPr>
          <p:cNvPr id="6" name="Text Placeholder 5">
            <a:extLst>
              <a:ext uri="{FF2B5EF4-FFF2-40B4-BE49-F238E27FC236}">
                <a16:creationId xmlns:a16="http://schemas.microsoft.com/office/drawing/2014/main" id="{A681A9EB-E9FB-2B29-2967-BEAE127F404A}"/>
              </a:ext>
            </a:extLst>
          </p:cNvPr>
          <p:cNvSpPr>
            <a:spLocks noGrp="1"/>
          </p:cNvSpPr>
          <p:nvPr>
            <p:ph type="body" sz="quarter" idx="10"/>
          </p:nvPr>
        </p:nvSpPr>
        <p:spPr>
          <a:xfrm>
            <a:off x="5443538" y="4874155"/>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6256BE59-471C-8699-E55F-0C0340EA8488}"/>
              </a:ext>
            </a:extLst>
          </p:cNvPr>
          <p:cNvSpPr>
            <a:spLocks noGrp="1"/>
          </p:cNvSpPr>
          <p:nvPr>
            <p:ph idx="1"/>
          </p:nvPr>
        </p:nvSpPr>
        <p:spPr>
          <a:xfrm>
            <a:off x="815909" y="3684589"/>
            <a:ext cx="7814732" cy="1037852"/>
          </a:xfrm>
        </p:spPr>
        <p:txBody>
          <a:bodyPr>
            <a:noAutofit/>
          </a:bodyPr>
          <a:lstStyle/>
          <a:p>
            <a:pPr>
              <a:buFont typeface="Arial" panose="020B0604020202020204" pitchFamily="34" charset="0"/>
              <a:buChar char="•"/>
            </a:pPr>
            <a:r>
              <a:rPr lang="en-US" sz="1600" dirty="0"/>
              <a:t>At the contemporaneous horizon, the difference is significant under both FE specifications.</a:t>
            </a:r>
          </a:p>
          <a:p>
            <a:pPr>
              <a:buFont typeface="Arial" panose="020B0604020202020204" pitchFamily="34" charset="0"/>
              <a:buChar char="•"/>
            </a:pPr>
            <a:r>
              <a:rPr lang="en-US" sz="1600" dirty="0"/>
              <a:t>With division-by-year FE, equality is not rejected at cumulative horizons.</a:t>
            </a:r>
          </a:p>
        </p:txBody>
      </p:sp>
      <p:graphicFrame>
        <p:nvGraphicFramePr>
          <p:cNvPr id="3" name="Table 2">
            <a:extLst>
              <a:ext uri="{FF2B5EF4-FFF2-40B4-BE49-F238E27FC236}">
                <a16:creationId xmlns:a16="http://schemas.microsoft.com/office/drawing/2014/main" id="{5D675EBA-63DA-4F89-109E-052703938372}"/>
              </a:ext>
            </a:extLst>
          </p:cNvPr>
          <p:cNvGraphicFramePr>
            <a:graphicFrameLocks noGrp="1"/>
          </p:cNvGraphicFramePr>
          <p:nvPr>
            <p:extLst>
              <p:ext uri="{D42A27DB-BD31-4B8C-83A1-F6EECF244321}">
                <p14:modId xmlns:p14="http://schemas.microsoft.com/office/powerpoint/2010/main" val="1287963409"/>
              </p:ext>
            </p:extLst>
          </p:nvPr>
        </p:nvGraphicFramePr>
        <p:xfrm>
          <a:off x="1192191" y="681244"/>
          <a:ext cx="6551270" cy="2902647"/>
        </p:xfrm>
        <a:graphic>
          <a:graphicData uri="http://schemas.openxmlformats.org/drawingml/2006/table">
            <a:tbl>
              <a:tblPr/>
              <a:tblGrid>
                <a:gridCol w="1310254">
                  <a:extLst>
                    <a:ext uri="{9D8B030D-6E8A-4147-A177-3AD203B41FA5}">
                      <a16:colId xmlns:a16="http://schemas.microsoft.com/office/drawing/2014/main" val="2007459257"/>
                    </a:ext>
                  </a:extLst>
                </a:gridCol>
                <a:gridCol w="1310254">
                  <a:extLst>
                    <a:ext uri="{9D8B030D-6E8A-4147-A177-3AD203B41FA5}">
                      <a16:colId xmlns:a16="http://schemas.microsoft.com/office/drawing/2014/main" val="3927548847"/>
                    </a:ext>
                  </a:extLst>
                </a:gridCol>
                <a:gridCol w="1310254">
                  <a:extLst>
                    <a:ext uri="{9D8B030D-6E8A-4147-A177-3AD203B41FA5}">
                      <a16:colId xmlns:a16="http://schemas.microsoft.com/office/drawing/2014/main" val="42640578"/>
                    </a:ext>
                  </a:extLst>
                </a:gridCol>
                <a:gridCol w="1310254">
                  <a:extLst>
                    <a:ext uri="{9D8B030D-6E8A-4147-A177-3AD203B41FA5}">
                      <a16:colId xmlns:a16="http://schemas.microsoft.com/office/drawing/2014/main" val="4277095698"/>
                    </a:ext>
                  </a:extLst>
                </a:gridCol>
                <a:gridCol w="1310254">
                  <a:extLst>
                    <a:ext uri="{9D8B030D-6E8A-4147-A177-3AD203B41FA5}">
                      <a16:colId xmlns:a16="http://schemas.microsoft.com/office/drawing/2014/main" val="995357752"/>
                    </a:ext>
                  </a:extLst>
                </a:gridCol>
              </a:tblGrid>
              <a:tr h="328626">
                <a:tc>
                  <a:txBody>
                    <a:bodyPr/>
                    <a:lstStyle/>
                    <a:p>
                      <a:pPr algn="r">
                        <a:buNone/>
                      </a:pPr>
                      <a:r>
                        <a:rPr lang="en-US" sz="1300" dirty="0"/>
                        <a:t>Fixed effects</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Horizon</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Tax (SE)</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BE (SE)</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Equality p</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889641"/>
                  </a:ext>
                </a:extLst>
              </a:tr>
              <a:tr h="367400">
                <a:tc>
                  <a:txBody>
                    <a:bodyPr/>
                    <a:lstStyle/>
                    <a:p>
                      <a:pPr algn="r">
                        <a:buNone/>
                      </a:pPr>
                      <a:r>
                        <a:rPr lang="en-US" sz="1300"/>
                        <a:t>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0.420*** (0.086)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0.040 (0.052)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&lt; .001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0379821"/>
                  </a:ext>
                </a:extLst>
              </a:tr>
              <a:tr h="367400">
                <a:tc>
                  <a:txBody>
                    <a:bodyPr/>
                    <a:lstStyle/>
                    <a:p>
                      <a:pPr algn="r">
                        <a:buNone/>
                      </a:pPr>
                      <a:r>
                        <a:rPr lang="en-US" sz="1300"/>
                        <a:t>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through t+1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0.574*** (0.108)</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0.228*** (0.066)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0655661"/>
                  </a:ext>
                </a:extLst>
              </a:tr>
              <a:tr h="367400">
                <a:tc>
                  <a:txBody>
                    <a:bodyPr/>
                    <a:lstStyle/>
                    <a:p>
                      <a:pPr algn="r">
                        <a:buNone/>
                      </a:pPr>
                      <a:r>
                        <a:rPr lang="en-US" sz="1300"/>
                        <a:t>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through t+2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0.551*** (0.097)</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0.287*** (0.081)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.010</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340357"/>
                  </a:ext>
                </a:extLst>
              </a:tr>
              <a:tr h="367400">
                <a:tc>
                  <a:txBody>
                    <a:bodyPr/>
                    <a:lstStyle/>
                    <a:p>
                      <a:pPr algn="r">
                        <a:buNone/>
                      </a:pPr>
                      <a:r>
                        <a:rPr lang="en-US" sz="1300"/>
                        <a:t>Division × 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0.304*** (0.076)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0.071 (0.056)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.005</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1976612"/>
                  </a:ext>
                </a:extLst>
              </a:tr>
              <a:tr h="367400">
                <a:tc>
                  <a:txBody>
                    <a:bodyPr/>
                    <a:lstStyle/>
                    <a:p>
                      <a:pPr algn="r">
                        <a:buNone/>
                      </a:pPr>
                      <a:r>
                        <a:rPr lang="en-US" sz="1300"/>
                        <a:t>Division × 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through t+1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0.416*** (0.112)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0.273*** (0.090)</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.208</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9766363"/>
                  </a:ext>
                </a:extLst>
              </a:tr>
              <a:tr h="367400">
                <a:tc>
                  <a:txBody>
                    <a:bodyPr/>
                    <a:lstStyle/>
                    <a:p>
                      <a:pPr algn="r">
                        <a:buNone/>
                      </a:pPr>
                      <a:r>
                        <a:rPr lang="en-US" sz="1300" dirty="0"/>
                        <a:t>Division × 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through t+2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0.421*** (0.111)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0.304*** (0.113)</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.297</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2736854"/>
                  </a:ext>
                </a:extLst>
              </a:tr>
              <a:tr h="369621">
                <a:tc>
                  <a:txBody>
                    <a:bodyPr/>
                    <a:lstStyle/>
                    <a:p>
                      <a:pPr algn="r">
                        <a:buNone/>
                      </a:pPr>
                      <a:r>
                        <a:rPr lang="en-US" sz="1300" b="0" dirty="0"/>
                        <a:t>N per equation</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endParaRPr lang="en-US" sz="1300" b="0" dirty="0"/>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2,920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300" b="0" dirty="0"/>
                        <a:t>2,920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endParaRPr lang="en-US" sz="1300" dirty="0"/>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2992812"/>
                  </a:ext>
                </a:extLst>
              </a:tr>
            </a:tbl>
          </a:graphicData>
        </a:graphic>
      </p:graphicFrame>
    </p:spTree>
    <p:extLst>
      <p:ext uri="{BB962C8B-B14F-4D97-AF65-F5344CB8AC3E}">
        <p14:creationId xmlns:p14="http://schemas.microsoft.com/office/powerpoint/2010/main" val="3906100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B27F-ACF3-28DD-ECD9-AFCCEFE00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B6C2A-84F9-B4E5-AC10-B68B587BDC42}"/>
              </a:ext>
            </a:extLst>
          </p:cNvPr>
          <p:cNvSpPr>
            <a:spLocks noGrp="1"/>
          </p:cNvSpPr>
          <p:nvPr>
            <p:ph type="ctrTitle"/>
          </p:nvPr>
        </p:nvSpPr>
        <p:spPr>
          <a:xfrm>
            <a:off x="0" y="61620"/>
            <a:ext cx="9144000" cy="699065"/>
          </a:xfrm>
        </p:spPr>
        <p:txBody>
          <a:bodyPr>
            <a:noAutofit/>
          </a:bodyPr>
          <a:lstStyle/>
          <a:p>
            <a:r>
              <a:rPr lang="en-US" sz="2400" dirty="0"/>
              <a:t>Fiscal persistence does not explain the cumulative estimates</a:t>
            </a:r>
          </a:p>
        </p:txBody>
      </p:sp>
      <p:sp>
        <p:nvSpPr>
          <p:cNvPr id="6" name="Text Placeholder 5">
            <a:extLst>
              <a:ext uri="{FF2B5EF4-FFF2-40B4-BE49-F238E27FC236}">
                <a16:creationId xmlns:a16="http://schemas.microsoft.com/office/drawing/2014/main" id="{F5C81861-E092-F8D4-4BE1-25F8130F88F6}"/>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BDBEC4F4-77A2-44BF-C75F-2D384AA48293}"/>
              </a:ext>
            </a:extLst>
          </p:cNvPr>
          <p:cNvSpPr>
            <a:spLocks noGrp="1"/>
          </p:cNvSpPr>
          <p:nvPr>
            <p:ph idx="1"/>
          </p:nvPr>
        </p:nvSpPr>
        <p:spPr>
          <a:xfrm>
            <a:off x="6324600" y="1439333"/>
            <a:ext cx="2717800" cy="2454787"/>
          </a:xfrm>
        </p:spPr>
        <p:txBody>
          <a:bodyPr>
            <a:normAutofit fontScale="92500" lnSpcReduction="20000"/>
          </a:bodyPr>
          <a:lstStyle/>
          <a:p>
            <a:pPr>
              <a:buFont typeface="Arial" panose="020B0604020202020204" pitchFamily="34" charset="0"/>
              <a:buChar char="•"/>
            </a:pPr>
            <a:r>
              <a:rPr lang="en-US" dirty="0"/>
              <a:t>Adding lagged city tax and basic expenditure barely changes the coefficients.</a:t>
            </a:r>
          </a:p>
          <a:p>
            <a:pPr>
              <a:buFont typeface="Arial" panose="020B0604020202020204" pitchFamily="34" charset="0"/>
              <a:buChar char="•"/>
            </a:pPr>
            <a:r>
              <a:rPr lang="en-US" dirty="0"/>
              <a:t>The cumulative pattern does not appear to be driven simply by fiscal persistence.</a:t>
            </a:r>
          </a:p>
          <a:p>
            <a:pPr>
              <a:buFont typeface="Arial" panose="020B0604020202020204" pitchFamily="34" charset="0"/>
              <a:buChar char="•"/>
            </a:pPr>
            <a:endParaRPr lang="en-US" dirty="0"/>
          </a:p>
        </p:txBody>
      </p:sp>
      <p:graphicFrame>
        <p:nvGraphicFramePr>
          <p:cNvPr id="3" name="Table 2">
            <a:extLst>
              <a:ext uri="{FF2B5EF4-FFF2-40B4-BE49-F238E27FC236}">
                <a16:creationId xmlns:a16="http://schemas.microsoft.com/office/drawing/2014/main" id="{E7679DFA-AC7A-550A-A43F-35774A15DE22}"/>
              </a:ext>
            </a:extLst>
          </p:cNvPr>
          <p:cNvGraphicFramePr>
            <a:graphicFrameLocks noGrp="1"/>
          </p:cNvGraphicFramePr>
          <p:nvPr>
            <p:extLst>
              <p:ext uri="{D42A27DB-BD31-4B8C-83A1-F6EECF244321}">
                <p14:modId xmlns:p14="http://schemas.microsoft.com/office/powerpoint/2010/main" val="3367577600"/>
              </p:ext>
            </p:extLst>
          </p:nvPr>
        </p:nvGraphicFramePr>
        <p:xfrm>
          <a:off x="254000" y="1055677"/>
          <a:ext cx="5790672" cy="3222098"/>
        </p:xfrm>
        <a:graphic>
          <a:graphicData uri="http://schemas.openxmlformats.org/drawingml/2006/table">
            <a:tbl>
              <a:tblPr/>
              <a:tblGrid>
                <a:gridCol w="2421466">
                  <a:extLst>
                    <a:ext uri="{9D8B030D-6E8A-4147-A177-3AD203B41FA5}">
                      <a16:colId xmlns:a16="http://schemas.microsoft.com/office/drawing/2014/main" val="2091627214"/>
                    </a:ext>
                  </a:extLst>
                </a:gridCol>
                <a:gridCol w="1659467">
                  <a:extLst>
                    <a:ext uri="{9D8B030D-6E8A-4147-A177-3AD203B41FA5}">
                      <a16:colId xmlns:a16="http://schemas.microsoft.com/office/drawing/2014/main" val="904605057"/>
                    </a:ext>
                  </a:extLst>
                </a:gridCol>
                <a:gridCol w="1709739">
                  <a:extLst>
                    <a:ext uri="{9D8B030D-6E8A-4147-A177-3AD203B41FA5}">
                      <a16:colId xmlns:a16="http://schemas.microsoft.com/office/drawing/2014/main" val="1543560339"/>
                    </a:ext>
                  </a:extLst>
                </a:gridCol>
              </a:tblGrid>
              <a:tr h="479887">
                <a:tc>
                  <a:txBody>
                    <a:bodyPr/>
                    <a:lstStyle/>
                    <a:p>
                      <a:pPr>
                        <a:buNone/>
                      </a:pPr>
                      <a:r>
                        <a:rPr lang="en-US" sz="1300"/>
                        <a:t>Division × year FE outcome</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No lag controls</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 Lagged city Tax and BE</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2348942"/>
                  </a:ext>
                </a:extLst>
              </a:tr>
              <a:tr h="274221">
                <a:tc>
                  <a:txBody>
                    <a:bodyPr/>
                    <a:lstStyle/>
                    <a:p>
                      <a:pPr>
                        <a:buNone/>
                      </a:pPr>
                      <a:r>
                        <a:rPr lang="en-US" sz="1300"/>
                        <a:t>Tax at t</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0.304*** (0.076)</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0.315*** (0.079)</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5402718"/>
                  </a:ext>
                </a:extLst>
              </a:tr>
              <a:tr h="274221">
                <a:tc>
                  <a:txBody>
                    <a:bodyPr/>
                    <a:lstStyle/>
                    <a:p>
                      <a:pPr>
                        <a:buNone/>
                      </a:pPr>
                      <a:r>
                        <a:rPr lang="en-US" sz="1300"/>
                        <a:t>BE at t</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0.071 (0.056)</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0.071 (0.056)</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26425"/>
                  </a:ext>
                </a:extLst>
              </a:tr>
              <a:tr h="479887">
                <a:tc>
                  <a:txBody>
                    <a:bodyPr/>
                    <a:lstStyle/>
                    <a:p>
                      <a:pPr>
                        <a:buNone/>
                      </a:pPr>
                      <a:r>
                        <a:rPr lang="en-US" sz="1300"/>
                        <a:t>Cumulative Tax through t+1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0.416*** (0.112)</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0.423*** (0.115)</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004047"/>
                  </a:ext>
                </a:extLst>
              </a:tr>
              <a:tr h="479887">
                <a:tc>
                  <a:txBody>
                    <a:bodyPr/>
                    <a:lstStyle/>
                    <a:p>
                      <a:pPr>
                        <a:buNone/>
                      </a:pPr>
                      <a:r>
                        <a:rPr lang="en-US" sz="1300"/>
                        <a:t>Cumulative BE through t+1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0.273*** (0.090)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0.279*** (0.083)</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0530964"/>
                  </a:ext>
                </a:extLst>
              </a:tr>
              <a:tr h="479887">
                <a:tc>
                  <a:txBody>
                    <a:bodyPr/>
                    <a:lstStyle/>
                    <a:p>
                      <a:pPr>
                        <a:buNone/>
                      </a:pPr>
                      <a:r>
                        <a:rPr lang="en-US" sz="1300"/>
                        <a:t>Cumulative Tax through t+2</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0.421*** (0.111)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0.430*** (0.114)</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749115"/>
                  </a:ext>
                </a:extLst>
              </a:tr>
              <a:tr h="479887">
                <a:tc>
                  <a:txBody>
                    <a:bodyPr/>
                    <a:lstStyle/>
                    <a:p>
                      <a:pPr>
                        <a:buNone/>
                      </a:pPr>
                      <a:r>
                        <a:rPr lang="en-US" sz="1300"/>
                        <a:t>Cumulative BE through t+2</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0.304*** (0.113)</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0.314*** (0.104)</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323637"/>
                  </a:ext>
                </a:extLst>
              </a:tr>
              <a:tr h="274221">
                <a:tc>
                  <a:txBody>
                    <a:bodyPr/>
                    <a:lstStyle/>
                    <a:p>
                      <a:pPr>
                        <a:buNone/>
                      </a:pPr>
                      <a:r>
                        <a:rPr lang="en-US" sz="1300" b="0" dirty="0"/>
                        <a:t>N per equation</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2,920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2,851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1943683"/>
                  </a:ext>
                </a:extLst>
              </a:tr>
            </a:tbl>
          </a:graphicData>
        </a:graphic>
      </p:graphicFrame>
    </p:spTree>
    <p:extLst>
      <p:ext uri="{BB962C8B-B14F-4D97-AF65-F5344CB8AC3E}">
        <p14:creationId xmlns:p14="http://schemas.microsoft.com/office/powerpoint/2010/main" val="1007143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81111-4401-9C7B-988E-1C418949D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970C0-7655-B20C-15C8-73F5B22764D8}"/>
              </a:ext>
            </a:extLst>
          </p:cNvPr>
          <p:cNvSpPr>
            <a:spLocks noGrp="1"/>
          </p:cNvSpPr>
          <p:nvPr>
            <p:ph type="ctrTitle"/>
          </p:nvPr>
        </p:nvSpPr>
        <p:spPr/>
        <p:txBody>
          <a:bodyPr>
            <a:noAutofit/>
          </a:bodyPr>
          <a:lstStyle/>
          <a:p>
            <a:r>
              <a:rPr lang="en-US" sz="2400" dirty="0"/>
              <a:t>Interim Takeaway</a:t>
            </a:r>
          </a:p>
        </p:txBody>
      </p:sp>
      <p:sp>
        <p:nvSpPr>
          <p:cNvPr id="6" name="Text Placeholder 5">
            <a:extLst>
              <a:ext uri="{FF2B5EF4-FFF2-40B4-BE49-F238E27FC236}">
                <a16:creationId xmlns:a16="http://schemas.microsoft.com/office/drawing/2014/main" id="{00B490AC-9622-BC9D-B653-A5D4B3135181}"/>
              </a:ext>
            </a:extLst>
          </p:cNvPr>
          <p:cNvSpPr>
            <a:spLocks noGrp="1"/>
          </p:cNvSpPr>
          <p:nvPr>
            <p:ph type="body" sz="quarter" idx="10"/>
          </p:nvPr>
        </p:nvSpPr>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E521E1AF-4A25-E661-D6CC-81BA93FDCD12}"/>
              </a:ext>
            </a:extLst>
          </p:cNvPr>
          <p:cNvSpPr>
            <a:spLocks noGrp="1"/>
          </p:cNvSpPr>
          <p:nvPr>
            <p:ph idx="1"/>
          </p:nvPr>
        </p:nvSpPr>
        <p:spPr/>
        <p:txBody>
          <a:bodyPr>
            <a:normAutofit/>
          </a:bodyPr>
          <a:lstStyle/>
          <a:p>
            <a:r>
              <a:rPr lang="en-US" dirty="0"/>
              <a:t>The response is concentrated in property and sales taxes and persists beyond the contemporaneous period.</a:t>
            </a:r>
          </a:p>
          <a:p>
            <a:r>
              <a:rPr lang="en-US" dirty="0"/>
              <a:t>The tax–expenditure difference narrows under stronger regional controls and over longer horizons.</a:t>
            </a:r>
          </a:p>
        </p:txBody>
      </p:sp>
    </p:spTree>
    <p:extLst>
      <p:ext uri="{BB962C8B-B14F-4D97-AF65-F5344CB8AC3E}">
        <p14:creationId xmlns:p14="http://schemas.microsoft.com/office/powerpoint/2010/main" val="3801841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DFF5B-5660-DE1B-8BBE-56768813F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CF979-4BEB-0368-4440-9F6C15EC2493}"/>
              </a:ext>
            </a:extLst>
          </p:cNvPr>
          <p:cNvSpPr>
            <a:spLocks noGrp="1"/>
          </p:cNvSpPr>
          <p:nvPr>
            <p:ph type="title"/>
          </p:nvPr>
        </p:nvSpPr>
        <p:spPr>
          <a:xfrm>
            <a:off x="506694" y="2274522"/>
            <a:ext cx="8637306" cy="656910"/>
          </a:xfrm>
        </p:spPr>
        <p:txBody>
          <a:bodyPr/>
          <a:lstStyle/>
          <a:p>
            <a:r>
              <a:rPr lang="en-US" sz="3200" dirty="0"/>
              <a:t>Quasi-experimental validation (ongoing)</a:t>
            </a:r>
          </a:p>
        </p:txBody>
      </p:sp>
      <p:sp>
        <p:nvSpPr>
          <p:cNvPr id="3" name="Text Placeholder 2">
            <a:extLst>
              <a:ext uri="{FF2B5EF4-FFF2-40B4-BE49-F238E27FC236}">
                <a16:creationId xmlns:a16="http://schemas.microsoft.com/office/drawing/2014/main" id="{9BDC5743-B116-BC1D-5AF7-8CBB63F86760}"/>
              </a:ext>
            </a:extLst>
          </p:cNvPr>
          <p:cNvSpPr>
            <a:spLocks noGrp="1"/>
          </p:cNvSpPr>
          <p:nvPr>
            <p:ph type="body" sz="quarter" idx="10"/>
          </p:nvPr>
        </p:nvSpPr>
        <p:spPr/>
        <p:txBody>
          <a:bodyPr/>
          <a:lstStyle/>
          <a:p>
            <a:r>
              <a:rPr lang="en-US" dirty="0"/>
              <a:t>SECTION 5</a:t>
            </a:r>
          </a:p>
        </p:txBody>
      </p:sp>
    </p:spTree>
    <p:extLst>
      <p:ext uri="{BB962C8B-B14F-4D97-AF65-F5344CB8AC3E}">
        <p14:creationId xmlns:p14="http://schemas.microsoft.com/office/powerpoint/2010/main" val="3469290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FEBAC-B22C-5402-D29A-80FCC9987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8FE49-CC20-C1DE-7E28-BB23E2ECBA4F}"/>
              </a:ext>
            </a:extLst>
          </p:cNvPr>
          <p:cNvSpPr>
            <a:spLocks noGrp="1"/>
          </p:cNvSpPr>
          <p:nvPr>
            <p:ph type="ctrTitle"/>
          </p:nvPr>
        </p:nvSpPr>
        <p:spPr>
          <a:xfrm>
            <a:off x="0" y="61620"/>
            <a:ext cx="8864056" cy="699065"/>
          </a:xfrm>
        </p:spPr>
        <p:txBody>
          <a:bodyPr>
            <a:noAutofit/>
          </a:bodyPr>
          <a:lstStyle/>
          <a:p>
            <a:r>
              <a:rPr lang="en-US" sz="1800" dirty="0"/>
              <a:t>Ongoing design 1: New Jersey’s Property-Tax Levy Caps</a:t>
            </a:r>
          </a:p>
        </p:txBody>
      </p:sp>
      <p:sp>
        <p:nvSpPr>
          <p:cNvPr id="6" name="Text Placeholder 5">
            <a:extLst>
              <a:ext uri="{FF2B5EF4-FFF2-40B4-BE49-F238E27FC236}">
                <a16:creationId xmlns:a16="http://schemas.microsoft.com/office/drawing/2014/main" id="{BB300D36-AE8E-7045-2067-BAE532476C81}"/>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010DFBA3-7BE5-09C9-ACE6-C36F18F76293}"/>
              </a:ext>
            </a:extLst>
          </p:cNvPr>
          <p:cNvSpPr>
            <a:spLocks noGrp="1"/>
          </p:cNvSpPr>
          <p:nvPr>
            <p:ph idx="1"/>
          </p:nvPr>
        </p:nvSpPr>
        <p:spPr>
          <a:xfrm>
            <a:off x="6239983" y="1210733"/>
            <a:ext cx="2802418" cy="3834446"/>
          </a:xfrm>
        </p:spPr>
        <p:txBody>
          <a:bodyPr>
            <a:normAutofit/>
          </a:bodyPr>
          <a:lstStyle/>
          <a:p>
            <a:pPr lvl="0">
              <a:buFont typeface="Arial" panose="020B0604020202020204" pitchFamily="34" charset="0"/>
              <a:buChar char="•"/>
            </a:pPr>
            <a:r>
              <a:rPr lang="en-US" sz="1400" b="1" dirty="0"/>
              <a:t>2007 law:</a:t>
            </a:r>
            <a:r>
              <a:rPr lang="en-US" sz="1400" dirty="0"/>
              <a:t> 4% levy-growth cap, with statutory exceptions. </a:t>
            </a:r>
          </a:p>
          <a:p>
            <a:pPr lvl="0">
              <a:buFont typeface="Arial" panose="020B0604020202020204" pitchFamily="34" charset="0"/>
              <a:buChar char="•"/>
            </a:pPr>
            <a:r>
              <a:rPr lang="en-US" sz="1400" b="1" dirty="0"/>
              <a:t>2010 law:</a:t>
            </a:r>
            <a:r>
              <a:rPr lang="en-US" sz="1400" dirty="0"/>
              <a:t> 2% cap, applicable to calendar-year budgets beginning in 2011. </a:t>
            </a:r>
          </a:p>
          <a:p>
            <a:pPr lvl="0">
              <a:buFont typeface="Arial" panose="020B0604020202020204" pitchFamily="34" charset="0"/>
              <a:buChar char="•"/>
            </a:pPr>
            <a:r>
              <a:rPr lang="en-US" sz="1400" b="1" dirty="0"/>
              <a:t>Setting:</a:t>
            </a:r>
            <a:r>
              <a:rPr lang="en-US" sz="1400" dirty="0"/>
              <a:t> NJ and PA suburbs within the Philadelphia metropolitan area.</a:t>
            </a:r>
          </a:p>
        </p:txBody>
      </p:sp>
      <p:pic>
        <p:nvPicPr>
          <p:cNvPr id="8" name="Picture 7">
            <a:extLst>
              <a:ext uri="{FF2B5EF4-FFF2-40B4-BE49-F238E27FC236}">
                <a16:creationId xmlns:a16="http://schemas.microsoft.com/office/drawing/2014/main" id="{3F0E48F0-E11E-EA03-C917-93F620A67782}"/>
              </a:ext>
            </a:extLst>
          </p:cNvPr>
          <p:cNvPicPr>
            <a:picLocks noChangeAspect="1"/>
          </p:cNvPicPr>
          <p:nvPr/>
        </p:nvPicPr>
        <p:blipFill>
          <a:blip r:embed="rId3"/>
          <a:srcRect t="12425"/>
          <a:stretch>
            <a:fillRect/>
          </a:stretch>
        </p:blipFill>
        <p:spPr>
          <a:xfrm>
            <a:off x="-9832" y="701693"/>
            <a:ext cx="6239983" cy="4504403"/>
          </a:xfrm>
          <a:prstGeom prst="rect">
            <a:avLst/>
          </a:prstGeom>
        </p:spPr>
      </p:pic>
    </p:spTree>
    <p:extLst>
      <p:ext uri="{BB962C8B-B14F-4D97-AF65-F5344CB8AC3E}">
        <p14:creationId xmlns:p14="http://schemas.microsoft.com/office/powerpoint/2010/main" val="1465456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36036-8938-59E0-422E-2F5F58705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E7895-0424-A3DF-9377-A5FC5336EEB7}"/>
              </a:ext>
            </a:extLst>
          </p:cNvPr>
          <p:cNvSpPr>
            <a:spLocks noGrp="1"/>
          </p:cNvSpPr>
          <p:nvPr>
            <p:ph type="ctrTitle"/>
          </p:nvPr>
        </p:nvSpPr>
        <p:spPr>
          <a:xfrm>
            <a:off x="0" y="61620"/>
            <a:ext cx="8864056" cy="699065"/>
          </a:xfrm>
        </p:spPr>
        <p:txBody>
          <a:bodyPr>
            <a:noAutofit/>
          </a:bodyPr>
          <a:lstStyle/>
          <a:p>
            <a:r>
              <a:rPr lang="en-US" sz="1800" dirty="0"/>
              <a:t>Ongoing design 1: New Jersey’s Property-Tax Levy Caps</a:t>
            </a:r>
          </a:p>
        </p:txBody>
      </p:sp>
      <p:sp>
        <p:nvSpPr>
          <p:cNvPr id="6" name="Text Placeholder 5">
            <a:extLst>
              <a:ext uri="{FF2B5EF4-FFF2-40B4-BE49-F238E27FC236}">
                <a16:creationId xmlns:a16="http://schemas.microsoft.com/office/drawing/2014/main" id="{573F47CA-302A-CD30-A9F5-8D62867A1429}"/>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3167A25-C4FA-02A1-3CB4-55F2F0894859}"/>
                  </a:ext>
                </a:extLst>
              </p:cNvPr>
              <p:cNvSpPr>
                <a:spLocks noGrp="1"/>
              </p:cNvSpPr>
              <p:nvPr>
                <p:ph idx="1"/>
              </p:nvPr>
            </p:nvSpPr>
            <p:spPr>
              <a:xfrm>
                <a:off x="584356" y="2288075"/>
                <a:ext cx="8279700" cy="2455993"/>
              </a:xfrm>
            </p:spPr>
            <p:txBody>
              <a:bodyPr>
                <a:normAutofit fontScale="85000" lnSpcReduction="10000"/>
              </a:bodyPr>
              <a:lstStyle/>
              <a:p>
                <a:pPr lvl="0">
                  <a:buFont typeface="Arial" panose="020B0604020202020204" pitchFamily="34" charset="0"/>
                  <a:buChar char="•"/>
                </a:pPr>
                <a14:m>
                  <m:oMath xmlns:m="http://schemas.openxmlformats.org/officeDocument/2006/math">
                    <m:r>
                      <a:rPr lang="en-US" i="1">
                        <a:latin typeface="Cambria Math" panose="02040503050406030204" pitchFamily="18" charset="0"/>
                      </a:rPr>
                      <m:t>𝑁𝐽𝑆ℎ𝑎𝑟</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𝑚</m:t>
                        </m:r>
                        <m:r>
                          <a:rPr lang="en-US">
                            <a:latin typeface="Cambria Math" panose="02040503050406030204" pitchFamily="18" charset="0"/>
                          </a:rPr>
                          <m:t>,</m:t>
                        </m:r>
                        <m:r>
                          <m:rPr>
                            <m:sty m:val="p"/>
                          </m:rPr>
                          <a:rPr lang="en-US">
                            <a:latin typeface="Cambria Math" panose="02040503050406030204" pitchFamily="18" charset="0"/>
                          </a:rPr>
                          <m:t>pre</m:t>
                        </m:r>
                      </m:sub>
                    </m:sSub>
                    <m:r>
                      <a:rPr lang="en-US" b="0" i="1" smtClean="0">
                        <a:latin typeface="Cambria Math" panose="02040503050406030204" pitchFamily="18" charset="0"/>
                      </a:rPr>
                      <m:t>: </m:t>
                    </m:r>
                  </m:oMath>
                </a14:m>
                <a:r>
                  <a:rPr lang="en-US" dirty="0"/>
                  <a:t>pre-reform share of suburban fiscal activity on the NJ side</a:t>
                </a:r>
              </a:p>
              <a:p>
                <a:pPr lvl="0">
                  <a:buFont typeface="Arial" panose="020B0604020202020204" pitchFamily="34" charset="0"/>
                  <a:buChar char="•"/>
                </a:pPr>
                <a14:m>
                  <m:oMath xmlns:m="http://schemas.openxmlformats.org/officeDocument/2006/math">
                    <m:r>
                      <a:rPr lang="en-US" i="1">
                        <a:latin typeface="Cambria Math" panose="02040503050406030204" pitchFamily="18" charset="0"/>
                      </a:rPr>
                      <m:t>𝑆𝑡𝑎𝑡𝑢𝑡𝑜𝑟𝑦𝐵𝑖𝑛𝑑𝑖𝑛𝑔𝑛𝑒𝑠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𝑚</m:t>
                        </m:r>
                        <m:r>
                          <a:rPr lang="en-US">
                            <a:latin typeface="Cambria Math" panose="02040503050406030204" pitchFamily="18" charset="0"/>
                          </a:rPr>
                          <m:t>,</m:t>
                        </m:r>
                        <m:r>
                          <m:rPr>
                            <m:sty m:val="p"/>
                          </m:rPr>
                          <a:rPr lang="en-US">
                            <a:latin typeface="Cambria Math" panose="02040503050406030204" pitchFamily="18" charset="0"/>
                          </a:rPr>
                          <m:t>pre</m:t>
                        </m:r>
                      </m:sub>
                    </m:sSub>
                    <m:r>
                      <a:rPr lang="en-US" b="0" i="1" smtClean="0">
                        <a:latin typeface="Cambria Math" panose="02040503050406030204" pitchFamily="18" charset="0"/>
                      </a:rPr>
                      <m:t>: </m:t>
                    </m:r>
                  </m:oMath>
                </a14:m>
                <a:r>
                  <a:rPr lang="en-US" dirty="0"/>
                  <a:t>pre-reform exposure to the statutory levy constraint</a:t>
                </a:r>
              </a:p>
              <a:p>
                <a:pPr lvl="0">
                  <a:buFont typeface="Arial" panose="020B0604020202020204" pitchFamily="34" charset="0"/>
                  <a:buChar char="•"/>
                </a:pPr>
                <a14:m>
                  <m:oMath xmlns:m="http://schemas.openxmlformats.org/officeDocument/2006/math">
                    <m:r>
                      <a:rPr lang="en-US" i="1">
                        <a:latin typeface="Cambria Math" panose="02040503050406030204" pitchFamily="18" charset="0"/>
                      </a:rPr>
                      <m:t>𝑃𝑜𝑠</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𝑡</m:t>
                        </m:r>
                      </m:sub>
                      <m:sup>
                        <m:d>
                          <m:dPr>
                            <m:ctrlPr>
                              <a:rPr lang="en-US" i="1">
                                <a:latin typeface="Cambria Math" panose="02040503050406030204" pitchFamily="18" charset="0"/>
                              </a:rPr>
                            </m:ctrlPr>
                          </m:dPr>
                          <m:e>
                            <m:r>
                              <a:rPr lang="en-US" i="1">
                                <a:latin typeface="Cambria Math" panose="02040503050406030204" pitchFamily="18" charset="0"/>
                              </a:rPr>
                              <m:t>𝑟</m:t>
                            </m:r>
                          </m:e>
                        </m:d>
                      </m:sup>
                    </m:sSubSup>
                    <m:r>
                      <a:rPr lang="en-US" b="0" i="1" smtClean="0">
                        <a:latin typeface="Cambria Math" panose="02040503050406030204" pitchFamily="18" charset="0"/>
                      </a:rPr>
                      <m:t>:</m:t>
                    </m:r>
                  </m:oMath>
                </a14:m>
                <a:r>
                  <a:rPr lang="en-US" dirty="0"/>
                  <a:t> indicator for the cap-reform period</a:t>
                </a:r>
                <a:endParaRPr lang="en-US" b="1" dirty="0"/>
              </a:p>
              <a:p>
                <a:pPr lvl="0">
                  <a:buFont typeface="Arial" panose="020B0604020202020204" pitchFamily="34" charset="0"/>
                  <a:buChar char="•"/>
                </a:pPr>
                <a:r>
                  <a:rPr lang="en-US" b="1" dirty="0"/>
                  <a:t>Current status: </a:t>
                </a:r>
                <a:r>
                  <a:rPr lang="en-US" dirty="0"/>
                  <a:t>annual levy data collected; historical cap worksheets remain incomplete.</a:t>
                </a:r>
              </a:p>
              <a:p>
                <a:pPr lvl="0">
                  <a:buFont typeface="Arial" panose="020B0604020202020204" pitchFamily="34" charset="0"/>
                  <a:buChar char="•"/>
                </a:pPr>
                <a:r>
                  <a:rPr lang="en-US" b="1" dirty="0"/>
                  <a:t>Next step: </a:t>
                </a:r>
                <a:r>
                  <a:rPr lang="en-US" dirty="0"/>
                  <a:t>construct municipality-specific statutory bindingness net of exemptions, waivers, and cap banking.</a:t>
                </a:r>
              </a:p>
            </p:txBody>
          </p:sp>
        </mc:Choice>
        <mc:Fallback>
          <p:sp>
            <p:nvSpPr>
              <p:cNvPr id="4" name="Content Placeholder 3">
                <a:extLst>
                  <a:ext uri="{FF2B5EF4-FFF2-40B4-BE49-F238E27FC236}">
                    <a16:creationId xmlns:a16="http://schemas.microsoft.com/office/drawing/2014/main" id="{B3167A25-C4FA-02A1-3CB4-55F2F0894859}"/>
                  </a:ext>
                </a:extLst>
              </p:cNvPr>
              <p:cNvSpPr>
                <a:spLocks noGrp="1" noRot="1" noChangeAspect="1" noMove="1" noResize="1" noEditPoints="1" noAdjustHandles="1" noChangeArrowheads="1" noChangeShapeType="1" noTextEdit="1"/>
              </p:cNvSpPr>
              <p:nvPr>
                <p:ph idx="1"/>
              </p:nvPr>
            </p:nvSpPr>
            <p:spPr>
              <a:xfrm>
                <a:off x="584356" y="2288075"/>
                <a:ext cx="8279700" cy="2455993"/>
              </a:xfrm>
              <a:blipFill>
                <a:blip r:embed="rId3"/>
                <a:stretch>
                  <a:fillRect l="-307" t="-1546" r="-6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50F19E3-330F-8D9D-968E-A10D35153CA4}"/>
                  </a:ext>
                </a:extLst>
              </p:cNvPr>
              <p:cNvSpPr txBox="1"/>
              <p:nvPr/>
            </p:nvSpPr>
            <p:spPr>
              <a:xfrm>
                <a:off x="2087217" y="940316"/>
                <a:ext cx="4969566" cy="301686"/>
              </a:xfrm>
              <a:prstGeom prst="rect">
                <a:avLst/>
              </a:prstGeom>
              <a:noFill/>
            </p:spPr>
            <p:txBody>
              <a:bodyPr wrap="none" lIns="0" tIns="0" rIns="0" bIns="0" rtlCol="0">
                <a:spAutoFit/>
              </a:bodyPr>
              <a:lstStyle/>
              <a:p>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𝑚</m:t>
                          </m:r>
                        </m:sub>
                      </m:sSub>
                      <m:r>
                        <a:rPr lang="en-US" i="0">
                          <a:latin typeface="Cambria Math" panose="02040503050406030204" pitchFamily="18" charset="0"/>
                        </a:rPr>
                        <m:t>=</m:t>
                      </m:r>
                      <m:r>
                        <a:rPr lang="en-US" i="1">
                          <a:latin typeface="Cambria Math" panose="02040503050406030204" pitchFamily="18" charset="0"/>
                        </a:rPr>
                        <m:t>𝑁𝐽𝑆ℎ𝑎𝑟</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𝑚</m:t>
                          </m:r>
                          <m:r>
                            <a:rPr lang="en-US" i="0">
                              <a:latin typeface="Cambria Math" panose="02040503050406030204" pitchFamily="18" charset="0"/>
                            </a:rPr>
                            <m:t>,</m:t>
                          </m:r>
                          <m:r>
                            <m:rPr>
                              <m:sty m:val="p"/>
                            </m:rPr>
                            <a:rPr lang="en-US" i="0">
                              <a:latin typeface="Cambria Math" panose="02040503050406030204" pitchFamily="18" charset="0"/>
                            </a:rPr>
                            <m:t>pre</m:t>
                          </m:r>
                        </m:sub>
                      </m:sSub>
                      <m:r>
                        <a:rPr lang="en-US" i="0">
                          <a:latin typeface="Cambria Math" panose="02040503050406030204" pitchFamily="18" charset="0"/>
                        </a:rPr>
                        <m:t>×</m:t>
                      </m:r>
                      <m:r>
                        <a:rPr lang="en-US" i="1">
                          <a:latin typeface="Cambria Math" panose="02040503050406030204" pitchFamily="18" charset="0"/>
                        </a:rPr>
                        <m:t>𝑆𝑡𝑎𝑡𝑢𝑡𝑜𝑟𝑦𝐵𝑖𝑛𝑑𝑖𝑛𝑔𝑛𝑒𝑠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𝑚</m:t>
                          </m:r>
                          <m:r>
                            <a:rPr lang="en-US" i="0">
                              <a:latin typeface="Cambria Math" panose="02040503050406030204" pitchFamily="18" charset="0"/>
                            </a:rPr>
                            <m:t>,</m:t>
                          </m:r>
                          <m:r>
                            <m:rPr>
                              <m:sty m:val="p"/>
                            </m:rPr>
                            <a:rPr lang="en-US" i="0">
                              <a:latin typeface="Cambria Math" panose="02040503050406030204" pitchFamily="18" charset="0"/>
                            </a:rPr>
                            <m:t>pre</m:t>
                          </m:r>
                        </m:sub>
                      </m:sSub>
                    </m:oMath>
                  </m:oMathPara>
                </a14:m>
                <a:endParaRPr lang="en-US" dirty="0"/>
              </a:p>
            </p:txBody>
          </p:sp>
        </mc:Choice>
        <mc:Fallback>
          <p:sp>
            <p:nvSpPr>
              <p:cNvPr id="3" name="TextBox 2">
                <a:extLst>
                  <a:ext uri="{FF2B5EF4-FFF2-40B4-BE49-F238E27FC236}">
                    <a16:creationId xmlns:a16="http://schemas.microsoft.com/office/drawing/2014/main" id="{250F19E3-330F-8D9D-968E-A10D35153CA4}"/>
                  </a:ext>
                </a:extLst>
              </p:cNvPr>
              <p:cNvSpPr txBox="1">
                <a:spLocks noRot="1" noChangeAspect="1" noMove="1" noResize="1" noEditPoints="1" noAdjustHandles="1" noChangeArrowheads="1" noChangeShapeType="1" noTextEdit="1"/>
              </p:cNvSpPr>
              <p:nvPr/>
            </p:nvSpPr>
            <p:spPr>
              <a:xfrm>
                <a:off x="2087217" y="940316"/>
                <a:ext cx="4969566" cy="301686"/>
              </a:xfrm>
              <a:prstGeom prst="rect">
                <a:avLst/>
              </a:prstGeom>
              <a:blipFill>
                <a:blip r:embed="rId4"/>
                <a:stretch>
                  <a:fillRect l="-510" b="-2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DCA6C2A-70CF-62D9-94BE-ECE16A68DBAA}"/>
                  </a:ext>
                </a:extLst>
              </p:cNvPr>
              <p:cNvSpPr txBox="1"/>
              <p:nvPr/>
            </p:nvSpPr>
            <p:spPr>
              <a:xfrm>
                <a:off x="2398238" y="1593838"/>
                <a:ext cx="3585725" cy="342401"/>
              </a:xfrm>
              <a:prstGeom prst="rect">
                <a:avLst/>
              </a:prstGeom>
              <a:noFill/>
            </p:spPr>
            <p:txBody>
              <a:bodyPr wrap="none" lIns="0" tIns="0" rIns="0" bIns="0" rtlCol="0">
                <a:spAutoFit/>
              </a:bodyPr>
              <a:lstStyle/>
              <a:p>
                <a14:m>
                  <m:oMathPara xmlns:m="http://schemas.openxmlformats.org/officeDocument/2006/math">
                    <m:o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𝑚𝑡</m:t>
                          </m:r>
                        </m:sub>
                        <m:sup>
                          <m:d>
                            <m:dPr>
                              <m:ctrlPr>
                                <a:rPr lang="en-US" i="1">
                                  <a:latin typeface="Cambria Math" panose="02040503050406030204" pitchFamily="18" charset="0"/>
                                </a:rPr>
                              </m:ctrlPr>
                            </m:dPr>
                            <m:e>
                              <m:r>
                                <a:rPr lang="en-US" i="1">
                                  <a:latin typeface="Cambria Math" panose="02040503050406030204" pitchFamily="18" charset="0"/>
                                </a:rPr>
                                <m:t>𝑟</m:t>
                              </m:r>
                            </m:e>
                          </m:d>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𝑚</m:t>
                          </m:r>
                        </m:sub>
                      </m:sSub>
                      <m:r>
                        <a:rPr lang="en-US" i="0">
                          <a:latin typeface="Cambria Math" panose="02040503050406030204" pitchFamily="18" charset="0"/>
                        </a:rPr>
                        <m:t>×</m:t>
                      </m:r>
                      <m:r>
                        <a:rPr lang="en-US" i="1">
                          <a:latin typeface="Cambria Math" panose="02040503050406030204" pitchFamily="18" charset="0"/>
                        </a:rPr>
                        <m:t>𝑃𝑜𝑠</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𝑡</m:t>
                          </m:r>
                        </m:sub>
                        <m:sup>
                          <m:d>
                            <m:dPr>
                              <m:ctrlPr>
                                <a:rPr lang="en-US" i="1">
                                  <a:latin typeface="Cambria Math" panose="02040503050406030204" pitchFamily="18" charset="0"/>
                                </a:rPr>
                              </m:ctrlPr>
                            </m:dPr>
                            <m:e>
                              <m:r>
                                <a:rPr lang="en-US" i="1">
                                  <a:latin typeface="Cambria Math" panose="02040503050406030204" pitchFamily="18" charset="0"/>
                                </a:rPr>
                                <m:t>𝑟</m:t>
                              </m:r>
                            </m:e>
                          </m:d>
                        </m:sup>
                      </m:sSubSup>
                      <m:r>
                        <a:rPr lang="en-US" i="0">
                          <a:latin typeface="Cambria Math" panose="02040503050406030204" pitchFamily="18" charset="0"/>
                        </a:rPr>
                        <m:t>, </m:t>
                      </m:r>
                      <m:r>
                        <a:rPr lang="en-US" i="1">
                          <a:latin typeface="Cambria Math" panose="02040503050406030204" pitchFamily="18" charset="0"/>
                        </a:rPr>
                        <m:t>𝑟</m:t>
                      </m:r>
                      <m:r>
                        <a:rPr lang="en-US" i="0">
                          <a:latin typeface="Cambria Math" panose="02040503050406030204" pitchFamily="18" charset="0"/>
                        </a:rPr>
                        <m:t>∈</m:t>
                      </m:r>
                      <m:d>
                        <m:dPr>
                          <m:begChr m:val="{"/>
                          <m:endChr m:val="}"/>
                          <m:ctrlPr>
                            <a:rPr lang="en-US" i="0">
                              <a:latin typeface="Cambria Math" panose="02040503050406030204" pitchFamily="18" charset="0"/>
                            </a:rPr>
                          </m:ctrlPr>
                        </m:dPr>
                        <m:e>
                          <m:r>
                            <a:rPr lang="en-US" i="0">
                              <a:latin typeface="Cambria Math" panose="02040503050406030204" pitchFamily="18" charset="0"/>
                            </a:rPr>
                            <m:t>4%,2%</m:t>
                          </m:r>
                        </m:e>
                      </m:d>
                    </m:oMath>
                  </m:oMathPara>
                </a14:m>
                <a:endParaRPr lang="en-US" dirty="0"/>
              </a:p>
            </p:txBody>
          </p:sp>
        </mc:Choice>
        <mc:Fallback>
          <p:sp>
            <p:nvSpPr>
              <p:cNvPr id="5" name="TextBox 4">
                <a:extLst>
                  <a:ext uri="{FF2B5EF4-FFF2-40B4-BE49-F238E27FC236}">
                    <a16:creationId xmlns:a16="http://schemas.microsoft.com/office/drawing/2014/main" id="{0DCA6C2A-70CF-62D9-94BE-ECE16A68DBAA}"/>
                  </a:ext>
                </a:extLst>
              </p:cNvPr>
              <p:cNvSpPr txBox="1">
                <a:spLocks noRot="1" noChangeAspect="1" noMove="1" noResize="1" noEditPoints="1" noAdjustHandles="1" noChangeArrowheads="1" noChangeShapeType="1" noTextEdit="1"/>
              </p:cNvSpPr>
              <p:nvPr/>
            </p:nvSpPr>
            <p:spPr>
              <a:xfrm>
                <a:off x="2398238" y="1593838"/>
                <a:ext cx="3585725" cy="342401"/>
              </a:xfrm>
              <a:prstGeom prst="rect">
                <a:avLst/>
              </a:prstGeom>
              <a:blipFill>
                <a:blip r:embed="rId5"/>
                <a:stretch>
                  <a:fillRect l="-704" t="-3571" b="-39286"/>
                </a:stretch>
              </a:blipFill>
            </p:spPr>
            <p:txBody>
              <a:bodyPr/>
              <a:lstStyle/>
              <a:p>
                <a:r>
                  <a:rPr lang="en-US">
                    <a:noFill/>
                  </a:rPr>
                  <a:t> </a:t>
                </a:r>
              </a:p>
            </p:txBody>
          </p:sp>
        </mc:Fallback>
      </mc:AlternateContent>
    </p:spTree>
    <p:extLst>
      <p:ext uri="{BB962C8B-B14F-4D97-AF65-F5344CB8AC3E}">
        <p14:creationId xmlns:p14="http://schemas.microsoft.com/office/powerpoint/2010/main" val="314596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1E2A0-EEFC-807B-C107-186BD040A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0D97C-9FB7-73EE-23CC-F7455474F194}"/>
              </a:ext>
            </a:extLst>
          </p:cNvPr>
          <p:cNvSpPr>
            <a:spLocks noGrp="1"/>
          </p:cNvSpPr>
          <p:nvPr>
            <p:ph type="ctrTitle"/>
          </p:nvPr>
        </p:nvSpPr>
        <p:spPr>
          <a:xfrm>
            <a:off x="0" y="61620"/>
            <a:ext cx="8864056" cy="699065"/>
          </a:xfrm>
        </p:spPr>
        <p:txBody>
          <a:bodyPr>
            <a:noAutofit/>
          </a:bodyPr>
          <a:lstStyle/>
          <a:p>
            <a:r>
              <a:rPr lang="en-US" sz="1800" dirty="0"/>
              <a:t>Preliminary levy-exposure diagnostic: Philadelphia-Area NJ Municipalities</a:t>
            </a:r>
          </a:p>
        </p:txBody>
      </p:sp>
      <p:sp>
        <p:nvSpPr>
          <p:cNvPr id="6" name="Text Placeholder 5">
            <a:extLst>
              <a:ext uri="{FF2B5EF4-FFF2-40B4-BE49-F238E27FC236}">
                <a16:creationId xmlns:a16="http://schemas.microsoft.com/office/drawing/2014/main" id="{7C1CAFF2-664C-EADA-4FA6-F91AE853823C}"/>
              </a:ext>
            </a:extLst>
          </p:cNvPr>
          <p:cNvSpPr>
            <a:spLocks noGrp="1"/>
          </p:cNvSpPr>
          <p:nvPr>
            <p:ph type="body" sz="quarter" idx="10"/>
          </p:nvPr>
        </p:nvSpPr>
        <p:spPr>
          <a:xfrm>
            <a:off x="5443538" y="486493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3A82091C-02EB-6967-EC73-A478C31B0E29}"/>
              </a:ext>
            </a:extLst>
          </p:cNvPr>
          <p:cNvSpPr>
            <a:spLocks noGrp="1"/>
          </p:cNvSpPr>
          <p:nvPr>
            <p:ph idx="1"/>
          </p:nvPr>
        </p:nvSpPr>
        <p:spPr>
          <a:xfrm>
            <a:off x="5926667" y="1400536"/>
            <a:ext cx="3217332" cy="3230457"/>
          </a:xfrm>
        </p:spPr>
        <p:txBody>
          <a:bodyPr>
            <a:normAutofit/>
          </a:bodyPr>
          <a:lstStyle/>
          <a:p>
            <a:pPr lvl="0"/>
            <a:r>
              <a:rPr lang="en-US" sz="1600" dirty="0"/>
              <a:t>Levy paths differ by the exposure measure.</a:t>
            </a:r>
          </a:p>
          <a:p>
            <a:pPr lvl="0"/>
            <a:r>
              <a:rPr lang="en-US" sz="1600" dirty="0"/>
              <a:t>Substantial pre-reform trends require further investigation.</a:t>
            </a:r>
          </a:p>
        </p:txBody>
      </p:sp>
      <p:pic>
        <p:nvPicPr>
          <p:cNvPr id="5" name="Picture 4">
            <a:extLst>
              <a:ext uri="{FF2B5EF4-FFF2-40B4-BE49-F238E27FC236}">
                <a16:creationId xmlns:a16="http://schemas.microsoft.com/office/drawing/2014/main" id="{715989B1-8BF2-FC64-6EE2-D2C85E956207}"/>
              </a:ext>
            </a:extLst>
          </p:cNvPr>
          <p:cNvPicPr>
            <a:picLocks noChangeAspect="1"/>
          </p:cNvPicPr>
          <p:nvPr/>
        </p:nvPicPr>
        <p:blipFill>
          <a:blip r:embed="rId3"/>
          <a:stretch>
            <a:fillRect/>
          </a:stretch>
        </p:blipFill>
        <p:spPr>
          <a:xfrm>
            <a:off x="414337" y="760684"/>
            <a:ext cx="5215995" cy="3793451"/>
          </a:xfrm>
          <a:prstGeom prst="rect">
            <a:avLst/>
          </a:prstGeom>
        </p:spPr>
      </p:pic>
    </p:spTree>
    <p:extLst>
      <p:ext uri="{BB962C8B-B14F-4D97-AF65-F5344CB8AC3E}">
        <p14:creationId xmlns:p14="http://schemas.microsoft.com/office/powerpoint/2010/main" val="1139028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BB61C-4CF0-28F1-77D1-BDA113863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EAD57-9FDF-D082-6AF4-089477681D67}"/>
              </a:ext>
            </a:extLst>
          </p:cNvPr>
          <p:cNvSpPr>
            <a:spLocks noGrp="1"/>
          </p:cNvSpPr>
          <p:nvPr>
            <p:ph type="ctrTitle"/>
          </p:nvPr>
        </p:nvSpPr>
        <p:spPr>
          <a:xfrm>
            <a:off x="0" y="39329"/>
            <a:ext cx="8864056" cy="532779"/>
          </a:xfrm>
        </p:spPr>
        <p:txBody>
          <a:bodyPr>
            <a:noAutofit/>
          </a:bodyPr>
          <a:lstStyle/>
          <a:p>
            <a:r>
              <a:rPr lang="en-US" sz="1800" dirty="0"/>
              <a:t>Ongoing design 2: Indiana Property-Tax Circuit-Breaker Caps</a:t>
            </a:r>
          </a:p>
        </p:txBody>
      </p:sp>
      <p:sp>
        <p:nvSpPr>
          <p:cNvPr id="6" name="Text Placeholder 5">
            <a:extLst>
              <a:ext uri="{FF2B5EF4-FFF2-40B4-BE49-F238E27FC236}">
                <a16:creationId xmlns:a16="http://schemas.microsoft.com/office/drawing/2014/main" id="{8F806748-52CC-F175-0274-88FABDEC819B}"/>
              </a:ext>
            </a:extLst>
          </p:cNvPr>
          <p:cNvSpPr>
            <a:spLocks noGrp="1"/>
          </p:cNvSpPr>
          <p:nvPr>
            <p:ph type="body" sz="quarter" idx="10"/>
          </p:nvPr>
        </p:nvSpPr>
        <p:spPr>
          <a:xfrm>
            <a:off x="5443538" y="4851759"/>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1D99A5DF-B1F0-ACEC-4B85-137CC031B549}"/>
              </a:ext>
            </a:extLst>
          </p:cNvPr>
          <p:cNvSpPr>
            <a:spLocks noGrp="1"/>
          </p:cNvSpPr>
          <p:nvPr>
            <p:ph idx="1"/>
          </p:nvPr>
        </p:nvSpPr>
        <p:spPr>
          <a:xfrm>
            <a:off x="6263148" y="786581"/>
            <a:ext cx="2772697" cy="3834580"/>
          </a:xfrm>
        </p:spPr>
        <p:txBody>
          <a:bodyPr>
            <a:normAutofit/>
          </a:bodyPr>
          <a:lstStyle/>
          <a:p>
            <a:pPr lvl="0"/>
            <a:r>
              <a:rPr lang="en-US" sz="1600" dirty="0"/>
              <a:t>Phased implementation culminated in the full caps in 2010. </a:t>
            </a:r>
          </a:p>
          <a:p>
            <a:pPr lvl="0"/>
            <a:r>
              <a:rPr lang="en-US" sz="1600" dirty="0"/>
              <a:t>Indiana-side suburbs were directly exposed; Cincinnati and the Ohio/Kentucky sides were outside Indiana’s statutory regime.</a:t>
            </a:r>
          </a:p>
          <a:p>
            <a:endParaRPr lang="en-US" sz="1600" dirty="0"/>
          </a:p>
        </p:txBody>
      </p:sp>
      <p:pic>
        <p:nvPicPr>
          <p:cNvPr id="5" name="Picture 4">
            <a:extLst>
              <a:ext uri="{FF2B5EF4-FFF2-40B4-BE49-F238E27FC236}">
                <a16:creationId xmlns:a16="http://schemas.microsoft.com/office/drawing/2014/main" id="{43E72A3B-A983-8689-3898-4ACB3117EADA}"/>
              </a:ext>
            </a:extLst>
          </p:cNvPr>
          <p:cNvPicPr>
            <a:picLocks noChangeAspect="1"/>
          </p:cNvPicPr>
          <p:nvPr/>
        </p:nvPicPr>
        <p:blipFill>
          <a:blip r:embed="rId3"/>
          <a:srcRect t="4587"/>
          <a:stretch>
            <a:fillRect/>
          </a:stretch>
        </p:blipFill>
        <p:spPr>
          <a:xfrm>
            <a:off x="0" y="581940"/>
            <a:ext cx="6066502" cy="4499940"/>
          </a:xfrm>
          <a:prstGeom prst="rect">
            <a:avLst/>
          </a:prstGeom>
        </p:spPr>
      </p:pic>
    </p:spTree>
    <p:extLst>
      <p:ext uri="{BB962C8B-B14F-4D97-AF65-F5344CB8AC3E}">
        <p14:creationId xmlns:p14="http://schemas.microsoft.com/office/powerpoint/2010/main" val="996233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70FF-C20B-3980-ACE9-CCD20F7E11B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9242A0AA-25D6-128C-4DD9-B7E7D4D10900}"/>
              </a:ext>
            </a:extLst>
          </p:cNvPr>
          <p:cNvSpPr>
            <a:spLocks noGrp="1"/>
          </p:cNvSpPr>
          <p:nvPr>
            <p:ph type="body" sz="quarter" idx="10"/>
          </p:nvPr>
        </p:nvSpPr>
        <p:spPr>
          <a:xfrm>
            <a:off x="5443538" y="4851759"/>
            <a:ext cx="3700462" cy="252412"/>
          </a:xfrm>
        </p:spPr>
        <p:txBody>
          <a:bodyPr/>
          <a:lstStyle/>
          <a:p>
            <a:r>
              <a:rPr lang="en-US" dirty="0"/>
              <a:t>Rent Capture or Regional Forces?</a:t>
            </a:r>
          </a:p>
          <a:p>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16B69098-560F-1BAF-C896-9D62FAAE1363}"/>
                  </a:ext>
                </a:extLst>
              </p:cNvPr>
              <p:cNvSpPr>
                <a:spLocks noGrp="1"/>
              </p:cNvSpPr>
              <p:nvPr>
                <p:ph idx="1"/>
              </p:nvPr>
            </p:nvSpPr>
            <p:spPr>
              <a:xfrm>
                <a:off x="279944" y="737420"/>
                <a:ext cx="8864056" cy="3991896"/>
              </a:xfrm>
            </p:spPr>
            <p:txBody>
              <a:bodyPr>
                <a:normAutofit/>
              </a:bodyPr>
              <a:lstStyle/>
              <a:p>
                <a:pPr lvl="0"/>
                <a:r>
                  <a:rPr lang="en-US" dirty="0"/>
                  <a:t>Circuit-breaker credits reduce revenues available to taxing units. </a:t>
                </a:r>
              </a:p>
              <a:p>
                <a:pPr lvl="0"/>
                <a:r>
                  <a:rPr lang="en-US" dirty="0"/>
                  <a:t>Aggregate exposure: 2.5% in 2010, 1.9% in 2011, and 3.9% in 2013. </a:t>
                </a:r>
              </a:p>
              <a:p>
                <a:pPr lvl="0"/>
                <a:r>
                  <a:rPr lang="en-US" dirty="0"/>
                  <a:t>Next step: link unit-level exposure to the border panel.</a:t>
                </a:r>
              </a:p>
              <a:p>
                <a:r>
                  <a:rPr lang="en-US" dirty="0"/>
                  <a:t>Measurement note:</a:t>
                </a:r>
              </a:p>
              <a:p>
                <a:pPr lvl="1"/>
                <a:r>
                  <a:rPr lang="en-US" dirty="0"/>
                  <a:t>2010–2011: projections; 2013: reported credits. </a:t>
                </a:r>
              </a:p>
              <a:p>
                <a14:m>
                  <m:oMath xmlns:m="http://schemas.openxmlformats.org/officeDocument/2006/math">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Z</m:t>
                        </m:r>
                      </m:e>
                      <m:sub>
                        <m:r>
                          <m:rPr>
                            <m:sty m:val="p"/>
                          </m:rPr>
                          <a:rPr lang="en-US" i="0" smtClean="0">
                            <a:latin typeface="Cambria Math" panose="02040503050406030204" pitchFamily="18" charset="0"/>
                          </a:rPr>
                          <m:t>mt</m:t>
                        </m:r>
                      </m:sub>
                    </m:sSub>
                    <m:r>
                      <a:rPr lang="en-US" i="0" smtClean="0">
                        <a:latin typeface="Cambria Math" panose="02040503050406030204" pitchFamily="18" charset="0"/>
                      </a:rPr>
                      <m:t>=</m:t>
                    </m:r>
                    <m:r>
                      <m:rPr>
                        <m:sty m:val="p"/>
                      </m:rPr>
                      <a:rPr lang="en-US" i="0" smtClean="0">
                        <a:latin typeface="Cambria Math" panose="02040503050406030204" pitchFamily="18" charset="0"/>
                      </a:rPr>
                      <m:t>INShar</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e</m:t>
                        </m:r>
                      </m:e>
                      <m:sub>
                        <m:r>
                          <m:rPr>
                            <m:sty m:val="p"/>
                          </m:rPr>
                          <a:rPr lang="en-US" i="0" smtClean="0">
                            <a:latin typeface="Cambria Math" panose="02040503050406030204" pitchFamily="18" charset="0"/>
                          </a:rPr>
                          <m:t>m</m:t>
                        </m:r>
                        <m:r>
                          <a:rPr lang="en-US" i="0" smtClean="0">
                            <a:latin typeface="Cambria Math" panose="02040503050406030204" pitchFamily="18" charset="0"/>
                          </a:rPr>
                          <m:t>,</m:t>
                        </m:r>
                        <m:r>
                          <m:rPr>
                            <m:sty m:val="p"/>
                          </m:rPr>
                          <a:rPr lang="en-US" i="0" smtClean="0">
                            <a:latin typeface="Cambria Math" panose="02040503050406030204" pitchFamily="18" charset="0"/>
                          </a:rPr>
                          <m:t>pre</m:t>
                        </m:r>
                      </m:sub>
                    </m:sSub>
                    <m:r>
                      <a:rPr lang="en-US" i="0" smtClean="0">
                        <a:latin typeface="Cambria Math" panose="02040503050406030204" pitchFamily="18" charset="0"/>
                      </a:rPr>
                      <m:t>×</m:t>
                    </m:r>
                    <m:r>
                      <m:rPr>
                        <m:sty m:val="p"/>
                      </m:rPr>
                      <a:rPr lang="en-US" i="0" smtClean="0">
                        <a:latin typeface="Cambria Math" panose="02040503050406030204" pitchFamily="18" charset="0"/>
                      </a:rPr>
                      <m:t>CapBindingnes</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s</m:t>
                        </m:r>
                      </m:e>
                      <m:sub>
                        <m:r>
                          <m:rPr>
                            <m:sty m:val="p"/>
                          </m:rPr>
                          <a:rPr lang="en-US" i="0" smtClean="0">
                            <a:latin typeface="Cambria Math" panose="02040503050406030204" pitchFamily="18" charset="0"/>
                          </a:rPr>
                          <m:t>m</m:t>
                        </m:r>
                        <m:r>
                          <a:rPr lang="en-US" i="0" smtClean="0">
                            <a:latin typeface="Cambria Math" panose="02040503050406030204" pitchFamily="18" charset="0"/>
                          </a:rPr>
                          <m:t>,</m:t>
                        </m:r>
                        <m:r>
                          <m:rPr>
                            <m:sty m:val="p"/>
                          </m:rPr>
                          <a:rPr lang="en-US" i="0" smtClean="0">
                            <a:latin typeface="Cambria Math" panose="02040503050406030204" pitchFamily="18" charset="0"/>
                          </a:rPr>
                          <m:t>pre</m:t>
                        </m:r>
                      </m:sub>
                    </m:sSub>
                    <m:r>
                      <a:rPr lang="en-US" i="0" smtClean="0">
                        <a:latin typeface="Cambria Math" panose="02040503050406030204" pitchFamily="18" charset="0"/>
                      </a:rPr>
                      <m:t>×</m:t>
                    </m:r>
                    <m:r>
                      <m:rPr>
                        <m:sty m:val="p"/>
                      </m:rPr>
                      <a:rPr lang="en-US" i="0" smtClean="0">
                        <a:latin typeface="Cambria Math" panose="02040503050406030204" pitchFamily="18" charset="0"/>
                      </a:rPr>
                      <m:t>CapIntensit</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y</m:t>
                        </m:r>
                      </m:e>
                      <m:sub>
                        <m:r>
                          <m:rPr>
                            <m:sty m:val="p"/>
                          </m:rPr>
                          <a:rPr lang="en-US" i="0" smtClean="0">
                            <a:latin typeface="Cambria Math" panose="02040503050406030204" pitchFamily="18" charset="0"/>
                          </a:rPr>
                          <m:t>t</m:t>
                        </m:r>
                      </m:sub>
                    </m:sSub>
                  </m:oMath>
                </a14:m>
                <a:endParaRPr lang="en-US" dirty="0">
                  <a:latin typeface="Cambria Math" panose="02040503050406030204" pitchFamily="18" charset="0"/>
                </a:endParaRPr>
              </a:p>
              <a:p>
                <a:pPr lvl="1"/>
                <a14:m>
                  <m:oMath xmlns:m="http://schemas.openxmlformats.org/officeDocument/2006/math">
                    <m:r>
                      <m:rPr>
                        <m:sty m:val="p"/>
                      </m:rPr>
                      <a:rPr lang="en-US" i="0" smtClean="0">
                        <a:latin typeface="Cambria Math" panose="02040503050406030204" pitchFamily="18" charset="0"/>
                      </a:rPr>
                      <m:t>CapIntensit</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y</m:t>
                        </m:r>
                      </m:e>
                      <m:sub>
                        <m:r>
                          <m:rPr>
                            <m:sty m:val="p"/>
                          </m:rPr>
                          <a:rPr lang="en-US" i="0" smtClean="0">
                            <a:latin typeface="Cambria Math" panose="02040503050406030204" pitchFamily="18" charset="0"/>
                          </a:rPr>
                          <m:t>t</m:t>
                        </m:r>
                      </m:sub>
                    </m:sSub>
                    <m:r>
                      <a:rPr lang="en-US" i="0" smtClean="0">
                        <a:latin typeface="Cambria Math" panose="02040503050406030204" pitchFamily="18" charset="0"/>
                      </a:rPr>
                      <m:t>=</m:t>
                    </m:r>
                    <m:d>
                      <m:dPr>
                        <m:begChr m:val="{"/>
                        <m:endChr m:val=""/>
                        <m:ctrlPr>
                          <a:rPr lang="en-US" smtClean="0">
                            <a:latin typeface="Cambria Math" panose="02040503050406030204" pitchFamily="18" charset="0"/>
                          </a:rPr>
                        </m:ctrlPr>
                      </m:dPr>
                      <m:e>
                        <m:m>
                          <m:mPr>
                            <m:mcs>
                              <m:mc>
                                <m:mcPr>
                                  <m:count m:val="2"/>
                                  <m:mcJc m:val="center"/>
                                </m:mcPr>
                              </m:mc>
                            </m:mcs>
                            <m:ctrlPr>
                              <a:rPr lang="en-US" smtClean="0">
                                <a:latin typeface="Cambria Math" panose="02040503050406030204" pitchFamily="18" charset="0"/>
                              </a:rPr>
                            </m:ctrlPr>
                          </m:mPr>
                          <m:mr>
                            <m:e>
                              <m:r>
                                <a:rPr lang="en-US" i="0" smtClean="0">
                                  <a:latin typeface="Cambria Math" panose="02040503050406030204" pitchFamily="18" charset="0"/>
                                </a:rPr>
                                <m:t>0,</m:t>
                              </m:r>
                            </m:e>
                            <m:e>
                              <m:r>
                                <m:rPr>
                                  <m:sty m:val="p"/>
                                </m:rPr>
                                <a:rPr lang="en-US" i="0" smtClean="0">
                                  <a:latin typeface="Cambria Math" panose="02040503050406030204" pitchFamily="18" charset="0"/>
                                </a:rPr>
                                <m:t>t</m:t>
                              </m:r>
                              <m:r>
                                <a:rPr lang="en-US" i="0" smtClean="0">
                                  <a:latin typeface="Cambria Math" panose="02040503050406030204" pitchFamily="18" charset="0"/>
                                </a:rPr>
                                <m:t>&lt;2008,</m:t>
                              </m:r>
                            </m:e>
                          </m:mr>
                          <m:mr>
                            <m:e>
                              <m:r>
                                <m:rPr>
                                  <m:nor/>
                                </m:rPr>
                                <a:rPr lang="en-US" smtClean="0">
                                  <a:latin typeface="Cambria Math" panose="02040503050406030204" pitchFamily="18" charset="0"/>
                                </a:rPr>
                                <m:t>Partial</m:t>
                              </m:r>
                              <m:r>
                                <a:rPr lang="en-US" i="0" smtClean="0">
                                  <a:latin typeface="Cambria Math" panose="02040503050406030204" pitchFamily="18" charset="0"/>
                                </a:rPr>
                                <m:t>,</m:t>
                              </m:r>
                            </m:e>
                            <m:e>
                              <m:r>
                                <m:rPr>
                                  <m:sty m:val="p"/>
                                </m:rPr>
                                <a:rPr lang="en-US" i="0" smtClean="0">
                                  <a:latin typeface="Cambria Math" panose="02040503050406030204" pitchFamily="18" charset="0"/>
                                </a:rPr>
                                <m:t>t</m:t>
                              </m:r>
                              <m:r>
                                <a:rPr lang="en-US" i="0" smtClean="0">
                                  <a:latin typeface="Cambria Math" panose="02040503050406030204" pitchFamily="18" charset="0"/>
                                </a:rPr>
                                <m:t>=2008,2009,</m:t>
                              </m:r>
                            </m:e>
                          </m:mr>
                          <m:mr>
                            <m:e>
                              <m:r>
                                <a:rPr lang="en-US" i="0" smtClean="0">
                                  <a:latin typeface="Cambria Math" panose="02040503050406030204" pitchFamily="18" charset="0"/>
                                </a:rPr>
                                <m:t>1,</m:t>
                              </m:r>
                            </m:e>
                            <m:e>
                              <m:r>
                                <m:rPr>
                                  <m:sty m:val="p"/>
                                </m:rPr>
                                <a:rPr lang="en-US" i="0" smtClean="0">
                                  <a:latin typeface="Cambria Math" panose="02040503050406030204" pitchFamily="18" charset="0"/>
                                </a:rPr>
                                <m:t>t</m:t>
                              </m:r>
                              <m:r>
                                <a:rPr lang="en-US" i="0" smtClean="0">
                                  <a:latin typeface="Cambria Math" panose="02040503050406030204" pitchFamily="18" charset="0"/>
                                </a:rPr>
                                <m:t>≥2010.</m:t>
                              </m:r>
                            </m:e>
                          </m:mr>
                        </m:m>
                      </m:e>
                    </m:d>
                  </m:oMath>
                </a14:m>
                <a:endParaRPr lang="en-US" dirty="0">
                  <a:latin typeface="Cambria Math" panose="02040503050406030204" pitchFamily="18" charset="0"/>
                </a:endParaRPr>
              </a:p>
            </p:txBody>
          </p:sp>
        </mc:Choice>
        <mc:Fallback>
          <p:sp>
            <p:nvSpPr>
              <p:cNvPr id="4" name="Content Placeholder 3">
                <a:extLst>
                  <a:ext uri="{FF2B5EF4-FFF2-40B4-BE49-F238E27FC236}">
                    <a16:creationId xmlns:a16="http://schemas.microsoft.com/office/drawing/2014/main" id="{16B69098-560F-1BAF-C896-9D62FAAE1363}"/>
                  </a:ext>
                </a:extLst>
              </p:cNvPr>
              <p:cNvSpPr>
                <a:spLocks noGrp="1" noRot="1" noChangeAspect="1" noMove="1" noResize="1" noEditPoints="1" noAdjustHandles="1" noChangeArrowheads="1" noChangeShapeType="1" noTextEdit="1"/>
              </p:cNvSpPr>
              <p:nvPr>
                <p:ph idx="1"/>
              </p:nvPr>
            </p:nvSpPr>
            <p:spPr>
              <a:xfrm>
                <a:off x="279944" y="737420"/>
                <a:ext cx="8864056" cy="3991896"/>
              </a:xfrm>
              <a:blipFill>
                <a:blip r:embed="rId3"/>
                <a:stretch>
                  <a:fillRect l="-430" t="-635" b="-61905"/>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87587208-D090-F569-36D5-3134F4684CE0}"/>
              </a:ext>
            </a:extLst>
          </p:cNvPr>
          <p:cNvSpPr txBox="1">
            <a:spLocks/>
          </p:cNvSpPr>
          <p:nvPr/>
        </p:nvSpPr>
        <p:spPr>
          <a:xfrm>
            <a:off x="0" y="39329"/>
            <a:ext cx="8864056" cy="53277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000" b="1" i="0" kern="100" cap="none" spc="0">
                <a:solidFill>
                  <a:srgbClr val="404041"/>
                </a:solidFill>
                <a:latin typeface="Arial"/>
                <a:ea typeface="+mj-ea"/>
                <a:cs typeface="Arial"/>
              </a:defRPr>
            </a:lvl1pPr>
          </a:lstStyle>
          <a:p>
            <a:r>
              <a:rPr lang="en-US" sz="1800"/>
              <a:t>Ongoing design 2: Indiana Property-Tax Caps</a:t>
            </a:r>
            <a:endParaRPr lang="en-US" sz="1800" dirty="0"/>
          </a:p>
        </p:txBody>
      </p:sp>
    </p:spTree>
    <p:extLst>
      <p:ext uri="{BB962C8B-B14F-4D97-AF65-F5344CB8AC3E}">
        <p14:creationId xmlns:p14="http://schemas.microsoft.com/office/powerpoint/2010/main" val="4046127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B2F490-F746-1B2C-236E-C53E3784FEAF}"/>
              </a:ext>
            </a:extLst>
          </p:cNvPr>
          <p:cNvPicPr>
            <a:picLocks noChangeAspect="1"/>
          </p:cNvPicPr>
          <p:nvPr/>
        </p:nvPicPr>
        <p:blipFill>
          <a:blip r:embed="rId3"/>
          <a:srcRect r="18460"/>
          <a:stretch>
            <a:fillRect/>
          </a:stretch>
        </p:blipFill>
        <p:spPr>
          <a:xfrm>
            <a:off x="291745" y="76200"/>
            <a:ext cx="8560509" cy="4587240"/>
          </a:xfrm>
          <a:prstGeom prst="rect">
            <a:avLst/>
          </a:prstGeom>
        </p:spPr>
      </p:pic>
    </p:spTree>
    <p:extLst>
      <p:ext uri="{BB962C8B-B14F-4D97-AF65-F5344CB8AC3E}">
        <p14:creationId xmlns:p14="http://schemas.microsoft.com/office/powerpoint/2010/main" val="2891962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EE3A20F-D0F1-4BA7-E037-F90655BBDD6A}"/>
              </a:ext>
            </a:extLst>
          </p:cNvPr>
          <p:cNvPicPr>
            <a:picLocks noChangeAspect="1"/>
          </p:cNvPicPr>
          <p:nvPr/>
        </p:nvPicPr>
        <p:blipFill>
          <a:blip r:embed="rId3"/>
          <a:stretch>
            <a:fillRect/>
          </a:stretch>
        </p:blipFill>
        <p:spPr>
          <a:xfrm>
            <a:off x="609600" y="0"/>
            <a:ext cx="7759287" cy="5143500"/>
          </a:xfrm>
          <a:prstGeom prst="rect">
            <a:avLst/>
          </a:prstGeom>
        </p:spPr>
      </p:pic>
    </p:spTree>
    <p:extLst>
      <p:ext uri="{BB962C8B-B14F-4D97-AF65-F5344CB8AC3E}">
        <p14:creationId xmlns:p14="http://schemas.microsoft.com/office/powerpoint/2010/main" val="2376289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Conclusion</a:t>
            </a:r>
          </a:p>
        </p:txBody>
      </p:sp>
      <p:sp>
        <p:nvSpPr>
          <p:cNvPr id="4" name="Text Placeholder 3"/>
          <p:cNvSpPr>
            <a:spLocks noGrp="1"/>
          </p:cNvSpPr>
          <p:nvPr>
            <p:ph type="body" sz="quarter" idx="10"/>
          </p:nvPr>
        </p:nvSpPr>
        <p:spPr>
          <a:xfrm>
            <a:off x="5443538" y="4891088"/>
            <a:ext cx="3700462" cy="252412"/>
          </a:xfrm>
        </p:spPr>
        <p:txBody>
          <a:bodyPr/>
          <a:lstStyle/>
          <a:p>
            <a:r>
              <a:rPr lang="en-US" dirty="0"/>
              <a:t>Rent Capture or Regional Forces?</a:t>
            </a:r>
          </a:p>
        </p:txBody>
      </p:sp>
      <p:sp>
        <p:nvSpPr>
          <p:cNvPr id="3" name="Subtitle 2"/>
          <p:cNvSpPr>
            <a:spLocks noGrp="1"/>
          </p:cNvSpPr>
          <p:nvPr>
            <p:ph idx="1"/>
          </p:nvPr>
        </p:nvSpPr>
        <p:spPr/>
        <p:txBody>
          <a:bodyPr>
            <a:normAutofit/>
          </a:bodyPr>
          <a:lstStyle/>
          <a:p>
            <a:pPr lvl="0"/>
            <a:r>
              <a:rPr lang="en-US" dirty="0"/>
              <a:t>Central-city tax responses are positive, especially for property and sales taxes. </a:t>
            </a:r>
          </a:p>
          <a:p>
            <a:pPr lvl="0"/>
            <a:r>
              <a:rPr lang="en-US" dirty="0"/>
              <a:t>The Tax–BE gap narrows at longer horizons and under division-by-year effects. </a:t>
            </a:r>
          </a:p>
          <a:p>
            <a:pPr lvl="0"/>
            <a:r>
              <a:rPr lang="en-US" dirty="0"/>
              <a:t>Evidence for persistent rent capture remains limited; institutional designs are ongoing.</a:t>
            </a:r>
          </a:p>
          <a:p>
            <a:endParaRPr lang="en-US" dirty="0"/>
          </a:p>
        </p:txBody>
      </p:sp>
    </p:spTree>
    <p:extLst>
      <p:ext uri="{BB962C8B-B14F-4D97-AF65-F5344CB8AC3E}">
        <p14:creationId xmlns:p14="http://schemas.microsoft.com/office/powerpoint/2010/main" val="2835830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EEFA-E55F-B649-18B3-B6A1336CE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17348-B14A-4BFB-D6CF-E1C52CFB4976}"/>
              </a:ext>
            </a:extLst>
          </p:cNvPr>
          <p:cNvSpPr>
            <a:spLocks noGrp="1"/>
          </p:cNvSpPr>
          <p:nvPr>
            <p:ph type="title"/>
          </p:nvPr>
        </p:nvSpPr>
        <p:spPr/>
        <p:txBody>
          <a:bodyPr/>
          <a:lstStyle/>
          <a:p>
            <a:r>
              <a:rPr lang="en-US" dirty="0"/>
              <a:t>Appendix / Q&amp;A</a:t>
            </a:r>
          </a:p>
        </p:txBody>
      </p:sp>
    </p:spTree>
    <p:extLst>
      <p:ext uri="{BB962C8B-B14F-4D97-AF65-F5344CB8AC3E}">
        <p14:creationId xmlns:p14="http://schemas.microsoft.com/office/powerpoint/2010/main" val="1543321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26FE3-75FA-A691-D00B-C0E254DC53D4}"/>
              </a:ext>
            </a:extLst>
          </p:cNvPr>
          <p:cNvSpPr>
            <a:spLocks noGrp="1"/>
          </p:cNvSpPr>
          <p:nvPr>
            <p:ph type="ctrTitle"/>
          </p:nvPr>
        </p:nvSpPr>
        <p:spPr>
          <a:xfrm>
            <a:off x="530027" y="65084"/>
            <a:ext cx="8004391" cy="699065"/>
          </a:xfrm>
        </p:spPr>
        <p:txBody>
          <a:bodyPr>
            <a:noAutofit/>
          </a:bodyPr>
          <a:lstStyle/>
          <a:p>
            <a:r>
              <a:rPr lang="en-US" sz="2400" dirty="0">
                <a:solidFill>
                  <a:srgbClr val="222222"/>
                </a:solidFill>
              </a:rPr>
              <a:t>Appendix: Benchmark IV — Year Fixed Effects</a:t>
            </a:r>
            <a:endParaRPr lang="en-US" sz="2000" dirty="0"/>
          </a:p>
        </p:txBody>
      </p:sp>
      <p:sp>
        <p:nvSpPr>
          <p:cNvPr id="4" name="Content Placeholder 3">
            <a:extLst>
              <a:ext uri="{FF2B5EF4-FFF2-40B4-BE49-F238E27FC236}">
                <a16:creationId xmlns:a16="http://schemas.microsoft.com/office/drawing/2014/main" id="{B94447F8-471D-CEA1-3FDC-AD0BB6422F52}"/>
              </a:ext>
            </a:extLst>
          </p:cNvPr>
          <p:cNvSpPr>
            <a:spLocks noGrp="1"/>
          </p:cNvSpPr>
          <p:nvPr>
            <p:ph idx="1"/>
          </p:nvPr>
        </p:nvSpPr>
        <p:spPr>
          <a:xfrm>
            <a:off x="518824" y="3942735"/>
            <a:ext cx="8015594" cy="497302"/>
          </a:xfrm>
        </p:spPr>
        <p:txBody>
          <a:bodyPr/>
          <a:lstStyle/>
          <a:p>
            <a:r>
              <a:rPr lang="en-US" dirty="0" err="1"/>
              <a:t>asd</a:t>
            </a:r>
            <a:endParaRPr lang="en-US" dirty="0"/>
          </a:p>
        </p:txBody>
      </p:sp>
      <p:graphicFrame>
        <p:nvGraphicFramePr>
          <p:cNvPr id="5" name="Table 0">
            <a:extLst>
              <a:ext uri="{FF2B5EF4-FFF2-40B4-BE49-F238E27FC236}">
                <a16:creationId xmlns:a16="http://schemas.microsoft.com/office/drawing/2014/main" id="{673401D6-4145-0E37-EB93-A9D33E523129}"/>
              </a:ext>
            </a:extLst>
          </p:cNvPr>
          <p:cNvGraphicFramePr>
            <a:graphicFrameLocks noGrp="1"/>
          </p:cNvGraphicFramePr>
          <p:nvPr>
            <p:extLst>
              <p:ext uri="{D42A27DB-BD31-4B8C-83A1-F6EECF244321}">
                <p14:modId xmlns:p14="http://schemas.microsoft.com/office/powerpoint/2010/main" val="2024253947"/>
              </p:ext>
            </p:extLst>
          </p:nvPr>
        </p:nvGraphicFramePr>
        <p:xfrm>
          <a:off x="425302" y="851668"/>
          <a:ext cx="8503921" cy="3675888"/>
        </p:xfrm>
        <a:graphic>
          <a:graphicData uri="http://schemas.openxmlformats.org/drawingml/2006/table">
            <a:tbl>
              <a:tblPr/>
              <a:tblGrid>
                <a:gridCol w="1423105">
                  <a:extLst>
                    <a:ext uri="{9D8B030D-6E8A-4147-A177-3AD203B41FA5}">
                      <a16:colId xmlns:a16="http://schemas.microsoft.com/office/drawing/2014/main" val="20000"/>
                    </a:ext>
                  </a:extLst>
                </a:gridCol>
                <a:gridCol w="1180136">
                  <a:extLst>
                    <a:ext uri="{9D8B030D-6E8A-4147-A177-3AD203B41FA5}">
                      <a16:colId xmlns:a16="http://schemas.microsoft.com/office/drawing/2014/main" val="20001"/>
                    </a:ext>
                  </a:extLst>
                </a:gridCol>
                <a:gridCol w="1180136">
                  <a:extLst>
                    <a:ext uri="{9D8B030D-6E8A-4147-A177-3AD203B41FA5}">
                      <a16:colId xmlns:a16="http://schemas.microsoft.com/office/drawing/2014/main" val="20002"/>
                    </a:ext>
                  </a:extLst>
                </a:gridCol>
                <a:gridCol w="1180136">
                  <a:extLst>
                    <a:ext uri="{9D8B030D-6E8A-4147-A177-3AD203B41FA5}">
                      <a16:colId xmlns:a16="http://schemas.microsoft.com/office/drawing/2014/main" val="20003"/>
                    </a:ext>
                  </a:extLst>
                </a:gridCol>
                <a:gridCol w="1180136">
                  <a:extLst>
                    <a:ext uri="{9D8B030D-6E8A-4147-A177-3AD203B41FA5}">
                      <a16:colId xmlns:a16="http://schemas.microsoft.com/office/drawing/2014/main" val="20004"/>
                    </a:ext>
                  </a:extLst>
                </a:gridCol>
                <a:gridCol w="1180136">
                  <a:extLst>
                    <a:ext uri="{9D8B030D-6E8A-4147-A177-3AD203B41FA5}">
                      <a16:colId xmlns:a16="http://schemas.microsoft.com/office/drawing/2014/main" val="20005"/>
                    </a:ext>
                  </a:extLst>
                </a:gridCol>
                <a:gridCol w="1180136">
                  <a:extLst>
                    <a:ext uri="{9D8B030D-6E8A-4147-A177-3AD203B41FA5}">
                      <a16:colId xmlns:a16="http://schemas.microsoft.com/office/drawing/2014/main" val="20006"/>
                    </a:ext>
                  </a:extLst>
                </a:gridCol>
              </a:tblGrid>
              <a:tr h="457200">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Total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Tax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Current </a:t>
                      </a:r>
                    </a:p>
                    <a:p>
                      <a:pPr marL="0" indent="0">
                        <a:buNone/>
                      </a:pPr>
                      <a:r>
                        <a:rPr lang="en-US" sz="1200" dirty="0">
                          <a:solidFill>
                            <a:srgbClr val="222222"/>
                          </a:solidFill>
                          <a:latin typeface="Arial" pitchFamily="34" charset="0"/>
                          <a:ea typeface="Arial" pitchFamily="34" charset="-122"/>
                          <a:cs typeface="Arial" pitchFamily="34" charset="-120"/>
                        </a:rPr>
                        <a:t>operations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Basic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Transfer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Other 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A. First stage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Out-of-state IV</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−10.625***</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(1.905)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−14.419***</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(1.691)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−10.970***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(1.792)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−14.006***</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(1.886)</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−9.413***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(1.701)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−15.836***</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(1.958)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22222"/>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2,337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B. Structural equation (2SLS)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Suburban fiscal growth</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−0.030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(0.144)</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0.452***</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(0.098)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0.288***</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(0.081)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0.193**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(0.062)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0.186*</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(0.074)</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0.109</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(0.107)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00" dirty="0">
                          <a:solidFill>
                            <a:srgbClr val="222222"/>
                          </a:solidFill>
                          <a:latin typeface="Arial" pitchFamily="34" charset="0"/>
                          <a:ea typeface="Arial" pitchFamily="34" charset="-122"/>
                          <a:cs typeface="Arial" pitchFamily="34" charset="-120"/>
                        </a:rPr>
                        <a:t>Kleibergen–Paap F</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31.13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72.70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37.49</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55.18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30.60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65.43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1">
            <a:extLst>
              <a:ext uri="{FF2B5EF4-FFF2-40B4-BE49-F238E27FC236}">
                <a16:creationId xmlns:a16="http://schemas.microsoft.com/office/drawing/2014/main" id="{20EAF4C6-2A47-0321-51DC-E5FEC6E5CE56}"/>
              </a:ext>
            </a:extLst>
          </p:cNvPr>
          <p:cNvSpPr/>
          <p:nvPr/>
        </p:nvSpPr>
        <p:spPr>
          <a:xfrm>
            <a:off x="425302" y="533589"/>
            <a:ext cx="10972800" cy="274320"/>
          </a:xfrm>
          <a:prstGeom prst="rect">
            <a:avLst/>
          </a:prstGeom>
          <a:noFill/>
          <a:ln/>
        </p:spPr>
        <p:txBody>
          <a:bodyPr wrap="square" lIns="0" tIns="0" rIns="0" bIns="0" rtlCol="0" anchor="ctr"/>
          <a:lstStyle/>
          <a:p>
            <a:pPr marL="0" indent="0">
              <a:buNone/>
            </a:pPr>
            <a:r>
              <a:rPr lang="en-US" sz="1100" dirty="0">
                <a:solidFill>
                  <a:srgbClr val="666666"/>
                </a:solidFill>
              </a:rPr>
              <a:t>First stage and 2SLS estimates using the out-of-state instrument only</a:t>
            </a:r>
            <a:endParaRPr lang="en-US" sz="1100" dirty="0"/>
          </a:p>
        </p:txBody>
      </p:sp>
      <p:sp>
        <p:nvSpPr>
          <p:cNvPr id="7" name="Text 4">
            <a:extLst>
              <a:ext uri="{FF2B5EF4-FFF2-40B4-BE49-F238E27FC236}">
                <a16:creationId xmlns:a16="http://schemas.microsoft.com/office/drawing/2014/main" id="{CE8DD91C-3732-B2FE-9F80-359E1346555D}"/>
              </a:ext>
            </a:extLst>
          </p:cNvPr>
          <p:cNvSpPr/>
          <p:nvPr/>
        </p:nvSpPr>
        <p:spPr>
          <a:xfrm>
            <a:off x="1105785" y="4455055"/>
            <a:ext cx="10881360" cy="320040"/>
          </a:xfrm>
          <a:prstGeom prst="rect">
            <a:avLst/>
          </a:prstGeom>
          <a:noFill/>
          <a:ln/>
        </p:spPr>
        <p:txBody>
          <a:bodyPr wrap="square" lIns="0" tIns="0" rIns="0" bIns="0" rtlCol="0" anchor="ctr"/>
          <a:lstStyle/>
          <a:p>
            <a:pPr marL="0" indent="0">
              <a:buNone/>
            </a:pPr>
            <a:r>
              <a:rPr lang="en-US" sz="900" dirty="0">
                <a:solidFill>
                  <a:srgbClr val="666666"/>
                </a:solidFill>
              </a:rPr>
              <a:t>Notes: Standard errors in parentheses. * p&lt;0.10, ** p&lt;0.05, *** p&lt;0.01. Preferred instrument: leave-one-out out-of-state suburban fiscal growth.</a:t>
            </a:r>
            <a:endParaRPr lang="en-US" sz="900" dirty="0"/>
          </a:p>
        </p:txBody>
      </p:sp>
    </p:spTree>
    <p:extLst>
      <p:ext uri="{BB962C8B-B14F-4D97-AF65-F5344CB8AC3E}">
        <p14:creationId xmlns:p14="http://schemas.microsoft.com/office/powerpoint/2010/main" val="3200147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FEC1A-CCE3-1CB0-1442-855C8AF1C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A10CC-629F-35B8-10B0-96B30B6D010E}"/>
              </a:ext>
            </a:extLst>
          </p:cNvPr>
          <p:cNvSpPr>
            <a:spLocks noGrp="1"/>
          </p:cNvSpPr>
          <p:nvPr>
            <p:ph type="ctrTitle"/>
          </p:nvPr>
        </p:nvSpPr>
        <p:spPr>
          <a:xfrm>
            <a:off x="428492" y="-7949"/>
            <a:ext cx="8004391" cy="699065"/>
          </a:xfrm>
        </p:spPr>
        <p:txBody>
          <a:bodyPr>
            <a:noAutofit/>
          </a:bodyPr>
          <a:lstStyle/>
          <a:p>
            <a:r>
              <a:rPr lang="en-US" sz="2000" dirty="0">
                <a:solidFill>
                  <a:srgbClr val="222222"/>
                </a:solidFill>
              </a:rPr>
              <a:t>Appendix: Benchmark IV — Division × Year Fixed Effects</a:t>
            </a:r>
            <a:endParaRPr lang="en-US" sz="1800" dirty="0"/>
          </a:p>
        </p:txBody>
      </p:sp>
      <p:graphicFrame>
        <p:nvGraphicFramePr>
          <p:cNvPr id="8" name="Table 0">
            <a:extLst>
              <a:ext uri="{FF2B5EF4-FFF2-40B4-BE49-F238E27FC236}">
                <a16:creationId xmlns:a16="http://schemas.microsoft.com/office/drawing/2014/main" id="{004F2BD9-76DE-DC0E-41D1-F0C71B541E10}"/>
              </a:ext>
            </a:extLst>
          </p:cNvPr>
          <p:cNvGraphicFramePr>
            <a:graphicFrameLocks noGrp="1"/>
          </p:cNvGraphicFramePr>
          <p:nvPr>
            <p:extLst>
              <p:ext uri="{D42A27DB-BD31-4B8C-83A1-F6EECF244321}">
                <p14:modId xmlns:p14="http://schemas.microsoft.com/office/powerpoint/2010/main" val="3682920742"/>
              </p:ext>
            </p:extLst>
          </p:nvPr>
        </p:nvGraphicFramePr>
        <p:xfrm>
          <a:off x="428492" y="776496"/>
          <a:ext cx="8470961" cy="3675888"/>
        </p:xfrm>
        <a:graphic>
          <a:graphicData uri="http://schemas.openxmlformats.org/drawingml/2006/table">
            <a:tbl>
              <a:tblPr/>
              <a:tblGrid>
                <a:gridCol w="1417589">
                  <a:extLst>
                    <a:ext uri="{9D8B030D-6E8A-4147-A177-3AD203B41FA5}">
                      <a16:colId xmlns:a16="http://schemas.microsoft.com/office/drawing/2014/main" val="20000"/>
                    </a:ext>
                  </a:extLst>
                </a:gridCol>
                <a:gridCol w="1175562">
                  <a:extLst>
                    <a:ext uri="{9D8B030D-6E8A-4147-A177-3AD203B41FA5}">
                      <a16:colId xmlns:a16="http://schemas.microsoft.com/office/drawing/2014/main" val="20001"/>
                    </a:ext>
                  </a:extLst>
                </a:gridCol>
                <a:gridCol w="1175562">
                  <a:extLst>
                    <a:ext uri="{9D8B030D-6E8A-4147-A177-3AD203B41FA5}">
                      <a16:colId xmlns:a16="http://schemas.microsoft.com/office/drawing/2014/main" val="20002"/>
                    </a:ext>
                  </a:extLst>
                </a:gridCol>
                <a:gridCol w="1175562">
                  <a:extLst>
                    <a:ext uri="{9D8B030D-6E8A-4147-A177-3AD203B41FA5}">
                      <a16:colId xmlns:a16="http://schemas.microsoft.com/office/drawing/2014/main" val="20003"/>
                    </a:ext>
                  </a:extLst>
                </a:gridCol>
                <a:gridCol w="1175562">
                  <a:extLst>
                    <a:ext uri="{9D8B030D-6E8A-4147-A177-3AD203B41FA5}">
                      <a16:colId xmlns:a16="http://schemas.microsoft.com/office/drawing/2014/main" val="20004"/>
                    </a:ext>
                  </a:extLst>
                </a:gridCol>
                <a:gridCol w="1175562">
                  <a:extLst>
                    <a:ext uri="{9D8B030D-6E8A-4147-A177-3AD203B41FA5}">
                      <a16:colId xmlns:a16="http://schemas.microsoft.com/office/drawing/2014/main" val="20005"/>
                    </a:ext>
                  </a:extLst>
                </a:gridCol>
                <a:gridCol w="1175562">
                  <a:extLst>
                    <a:ext uri="{9D8B030D-6E8A-4147-A177-3AD203B41FA5}">
                      <a16:colId xmlns:a16="http://schemas.microsoft.com/office/drawing/2014/main" val="20006"/>
                    </a:ext>
                  </a:extLst>
                </a:gridCol>
              </a:tblGrid>
              <a:tr h="457200">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Total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Tax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Current </a:t>
                      </a:r>
                    </a:p>
                    <a:p>
                      <a:pPr marL="0" indent="0">
                        <a:buNone/>
                      </a:pPr>
                      <a:r>
                        <a:rPr lang="en-US" sz="1200" dirty="0">
                          <a:solidFill>
                            <a:srgbClr val="222222"/>
                          </a:solidFill>
                          <a:latin typeface="Arial" pitchFamily="34" charset="0"/>
                          <a:ea typeface="Arial" pitchFamily="34" charset="-122"/>
                          <a:cs typeface="Arial" pitchFamily="34" charset="-120"/>
                        </a:rPr>
                        <a:t>operations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Basic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Transfer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Other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A. First stage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Out-of-state IV</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−12.64***</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(2.12)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−17.44***</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(2.63)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−12.88***</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(1.90)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−16.20***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(2.50)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−8.82***</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(1.55)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−14.97***</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(2.33)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22222"/>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2,337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B. Structural equation (2SLS)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Suburban fiscal growth</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0.33**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0.27**</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(0.09)</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0.25**</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0.14</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00" dirty="0">
                          <a:solidFill>
                            <a:srgbClr val="222222"/>
                          </a:solidFill>
                          <a:latin typeface="Arial" pitchFamily="34" charset="0"/>
                          <a:ea typeface="Arial" pitchFamily="34" charset="-122"/>
                          <a:cs typeface="Arial" pitchFamily="34" charset="-120"/>
                        </a:rPr>
                        <a:t>Kleibergen–Paap F</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35.54</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43.83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46.05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42.11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32.12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41.35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ext 1">
            <a:extLst>
              <a:ext uri="{FF2B5EF4-FFF2-40B4-BE49-F238E27FC236}">
                <a16:creationId xmlns:a16="http://schemas.microsoft.com/office/drawing/2014/main" id="{66B80993-0FEA-6DEA-7033-BFD1BAABBE66}"/>
              </a:ext>
            </a:extLst>
          </p:cNvPr>
          <p:cNvSpPr/>
          <p:nvPr/>
        </p:nvSpPr>
        <p:spPr>
          <a:xfrm>
            <a:off x="428492" y="502176"/>
            <a:ext cx="10972800" cy="274320"/>
          </a:xfrm>
          <a:prstGeom prst="rect">
            <a:avLst/>
          </a:prstGeom>
          <a:noFill/>
          <a:ln/>
        </p:spPr>
        <p:txBody>
          <a:bodyPr wrap="square" lIns="0" tIns="0" rIns="0" bIns="0" rtlCol="0" anchor="ctr"/>
          <a:lstStyle/>
          <a:p>
            <a:pPr marL="0" indent="0">
              <a:buNone/>
            </a:pPr>
            <a:r>
              <a:rPr lang="en-US" sz="1100" dirty="0">
                <a:solidFill>
                  <a:srgbClr val="666666"/>
                </a:solidFill>
              </a:rPr>
              <a:t>First stage and 2SLS estimates using the out-of-state instrument only</a:t>
            </a:r>
            <a:endParaRPr lang="en-US" sz="1100" dirty="0"/>
          </a:p>
        </p:txBody>
      </p:sp>
      <p:sp>
        <p:nvSpPr>
          <p:cNvPr id="10" name="Text 4">
            <a:extLst>
              <a:ext uri="{FF2B5EF4-FFF2-40B4-BE49-F238E27FC236}">
                <a16:creationId xmlns:a16="http://schemas.microsoft.com/office/drawing/2014/main" id="{9AB695BD-51C1-D563-A649-250C1F695B64}"/>
              </a:ext>
            </a:extLst>
          </p:cNvPr>
          <p:cNvSpPr/>
          <p:nvPr/>
        </p:nvSpPr>
        <p:spPr>
          <a:xfrm>
            <a:off x="1076014" y="4440037"/>
            <a:ext cx="10881360" cy="320040"/>
          </a:xfrm>
          <a:prstGeom prst="rect">
            <a:avLst/>
          </a:prstGeom>
          <a:noFill/>
          <a:ln/>
        </p:spPr>
        <p:txBody>
          <a:bodyPr wrap="square" lIns="0" tIns="0" rIns="0" bIns="0" rtlCol="0" anchor="ctr"/>
          <a:lstStyle/>
          <a:p>
            <a:pPr marL="0" indent="0">
              <a:buNone/>
            </a:pPr>
            <a:r>
              <a:rPr lang="en-US" sz="900" dirty="0">
                <a:solidFill>
                  <a:srgbClr val="666666"/>
                </a:solidFill>
              </a:rPr>
              <a:t>Notes: Standard errors in parentheses. * p&lt;0.10, ** p&lt;0.05, *** p&lt;0.01. Preferred instrument: leave-one-out out-of-state suburban fiscal growth.</a:t>
            </a:r>
            <a:endParaRPr lang="en-US" sz="900" dirty="0"/>
          </a:p>
        </p:txBody>
      </p:sp>
    </p:spTree>
    <p:extLst>
      <p:ext uri="{BB962C8B-B14F-4D97-AF65-F5344CB8AC3E}">
        <p14:creationId xmlns:p14="http://schemas.microsoft.com/office/powerpoint/2010/main" val="566106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2300-7449-FED8-4E55-D6D7BD305B37}"/>
              </a:ext>
            </a:extLst>
          </p:cNvPr>
          <p:cNvSpPr>
            <a:spLocks noGrp="1"/>
          </p:cNvSpPr>
          <p:nvPr>
            <p:ph type="ctrTitle"/>
          </p:nvPr>
        </p:nvSpPr>
        <p:spPr>
          <a:xfrm>
            <a:off x="569804" y="0"/>
            <a:ext cx="8004391" cy="699065"/>
          </a:xfrm>
        </p:spPr>
        <p:txBody>
          <a:bodyPr/>
          <a:lstStyle/>
          <a:p>
            <a:r>
              <a:rPr lang="en-US" dirty="0"/>
              <a:t>Instrument comparison</a:t>
            </a:r>
          </a:p>
        </p:txBody>
      </p:sp>
      <p:pic>
        <p:nvPicPr>
          <p:cNvPr id="6" name="Image 0" descr="preencoded.png">
            <a:extLst>
              <a:ext uri="{FF2B5EF4-FFF2-40B4-BE49-F238E27FC236}">
                <a16:creationId xmlns:a16="http://schemas.microsoft.com/office/drawing/2014/main" id="{1FB05451-1AB6-8580-6B35-84B7477B4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955" y="1096530"/>
            <a:ext cx="8268090" cy="2950439"/>
          </a:xfrm>
          <a:prstGeom prst="rect">
            <a:avLst/>
          </a:prstGeom>
        </p:spPr>
      </p:pic>
      <p:sp>
        <p:nvSpPr>
          <p:cNvPr id="7" name="Text 1">
            <a:extLst>
              <a:ext uri="{FF2B5EF4-FFF2-40B4-BE49-F238E27FC236}">
                <a16:creationId xmlns:a16="http://schemas.microsoft.com/office/drawing/2014/main" id="{3FDED1F9-8E5C-AD67-1CA3-54EDF71C4E02}"/>
              </a:ext>
            </a:extLst>
          </p:cNvPr>
          <p:cNvSpPr/>
          <p:nvPr/>
        </p:nvSpPr>
        <p:spPr>
          <a:xfrm>
            <a:off x="437955" y="669197"/>
            <a:ext cx="10972800" cy="228600"/>
          </a:xfrm>
          <a:prstGeom prst="rect">
            <a:avLst/>
          </a:prstGeom>
          <a:noFill/>
          <a:ln/>
        </p:spPr>
        <p:txBody>
          <a:bodyPr wrap="square" lIns="0" tIns="0" rIns="0" bIns="0" rtlCol="0" anchor="ctr"/>
          <a:lstStyle/>
          <a:p>
            <a:pPr marL="0" indent="0">
              <a:buNone/>
            </a:pPr>
            <a:r>
              <a:rPr lang="en-US" sz="1250" dirty="0">
                <a:solidFill>
                  <a:srgbClr val="666666"/>
                </a:solidFill>
                <a:latin typeface="Arial" pitchFamily="34" charset="0"/>
                <a:ea typeface="Arial" pitchFamily="34" charset="-122"/>
                <a:cs typeface="Arial" pitchFamily="34" charset="-120"/>
              </a:rPr>
              <a:t>Kleibergen-Paap first-stage F-statistics across instrument sets</a:t>
            </a:r>
            <a:endParaRPr lang="en-US" sz="1250" dirty="0"/>
          </a:p>
        </p:txBody>
      </p:sp>
      <p:sp>
        <p:nvSpPr>
          <p:cNvPr id="8" name="Text 3">
            <a:extLst>
              <a:ext uri="{FF2B5EF4-FFF2-40B4-BE49-F238E27FC236}">
                <a16:creationId xmlns:a16="http://schemas.microsoft.com/office/drawing/2014/main" id="{FB96656B-82BF-D682-B0DB-B28C4009C8F9}"/>
              </a:ext>
            </a:extLst>
          </p:cNvPr>
          <p:cNvSpPr/>
          <p:nvPr/>
        </p:nvSpPr>
        <p:spPr>
          <a:xfrm>
            <a:off x="437955" y="4046969"/>
            <a:ext cx="8268090" cy="566928"/>
          </a:xfrm>
          <a:prstGeom prst="rect">
            <a:avLst/>
          </a:prstGeom>
          <a:noFill/>
          <a:ln/>
        </p:spPr>
        <p:txBody>
          <a:bodyPr wrap="square" lIns="0" tIns="0" rIns="0" bIns="0" rtlCol="0" anchor="ctr">
            <a:normAutofit/>
          </a:bodyPr>
          <a:lstStyle/>
          <a:p>
            <a:r>
              <a:rPr lang="en-US" sz="1400" b="1" dirty="0"/>
              <a:t>Preferred IV:</a:t>
            </a:r>
            <a:r>
              <a:rPr lang="en-US" sz="1400" dirty="0"/>
              <a:t> Out-of-state suburban fiscal variation provides both stronger conditional relevance and cleaner separation from focal-state fiscal policy shocks.</a:t>
            </a:r>
            <a:endParaRPr lang="en-US" sz="1300" dirty="0"/>
          </a:p>
        </p:txBody>
      </p:sp>
    </p:spTree>
    <p:extLst>
      <p:ext uri="{BB962C8B-B14F-4D97-AF65-F5344CB8AC3E}">
        <p14:creationId xmlns:p14="http://schemas.microsoft.com/office/powerpoint/2010/main" val="2515204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8C8E-3C65-AC37-FBED-20D91E24461B}"/>
              </a:ext>
            </a:extLst>
          </p:cNvPr>
          <p:cNvSpPr>
            <a:spLocks noGrp="1"/>
          </p:cNvSpPr>
          <p:nvPr>
            <p:ph type="ctrTitle"/>
          </p:nvPr>
        </p:nvSpPr>
        <p:spPr>
          <a:xfrm>
            <a:off x="439035" y="115894"/>
            <a:ext cx="8004391" cy="699065"/>
          </a:xfrm>
        </p:spPr>
        <p:txBody>
          <a:bodyPr>
            <a:normAutofit/>
          </a:bodyPr>
          <a:lstStyle/>
          <a:p>
            <a:r>
              <a:rPr lang="en-US" sz="2400" dirty="0"/>
              <a:t>Diagnostic: Why Prefer the Out-of-State IV?</a:t>
            </a:r>
          </a:p>
        </p:txBody>
      </p:sp>
      <p:sp>
        <p:nvSpPr>
          <p:cNvPr id="4" name="Content Placeholder 3">
            <a:extLst>
              <a:ext uri="{FF2B5EF4-FFF2-40B4-BE49-F238E27FC236}">
                <a16:creationId xmlns:a16="http://schemas.microsoft.com/office/drawing/2014/main" id="{54DBAA7B-9523-043B-D9EA-0E2AFCB192A9}"/>
              </a:ext>
            </a:extLst>
          </p:cNvPr>
          <p:cNvSpPr>
            <a:spLocks noGrp="1"/>
          </p:cNvSpPr>
          <p:nvPr>
            <p:ph idx="1"/>
          </p:nvPr>
        </p:nvSpPr>
        <p:spPr>
          <a:xfrm>
            <a:off x="693175" y="3615069"/>
            <a:ext cx="8015594" cy="1165209"/>
          </a:xfrm>
        </p:spPr>
        <p:txBody>
          <a:bodyPr>
            <a:normAutofit fontScale="85000" lnSpcReduction="10000"/>
          </a:bodyPr>
          <a:lstStyle/>
          <a:p>
            <a:pPr>
              <a:buFont typeface="Arial" panose="020B0604020202020204" pitchFamily="34" charset="0"/>
              <a:buChar char="•"/>
            </a:pPr>
            <a:r>
              <a:rPr lang="en-US" dirty="0"/>
              <a:t>The in-state instrument is not inherently uncorrelated with suburban fiscal changes. </a:t>
            </a:r>
          </a:p>
          <a:p>
            <a:pPr>
              <a:buFont typeface="Arial" panose="020B0604020202020204" pitchFamily="34" charset="0"/>
              <a:buChar char="•"/>
            </a:pPr>
            <a:r>
              <a:rPr lang="en-US" dirty="0"/>
              <a:t>Rather, much of its predictive content is associated with common geographic/time variation; once division-by-year shocks are absorbed, very little independent variation remains for tax revenue.</a:t>
            </a:r>
          </a:p>
        </p:txBody>
      </p:sp>
      <p:graphicFrame>
        <p:nvGraphicFramePr>
          <p:cNvPr id="5" name="Table 4">
            <a:extLst>
              <a:ext uri="{FF2B5EF4-FFF2-40B4-BE49-F238E27FC236}">
                <a16:creationId xmlns:a16="http://schemas.microsoft.com/office/drawing/2014/main" id="{5B531947-A9FE-1E6D-D99F-8A7B5474CD49}"/>
              </a:ext>
            </a:extLst>
          </p:cNvPr>
          <p:cNvGraphicFramePr>
            <a:graphicFrameLocks noGrp="1"/>
          </p:cNvGraphicFramePr>
          <p:nvPr>
            <p:extLst>
              <p:ext uri="{D42A27DB-BD31-4B8C-83A1-F6EECF244321}">
                <p14:modId xmlns:p14="http://schemas.microsoft.com/office/powerpoint/2010/main" val="2039222503"/>
              </p:ext>
            </p:extLst>
          </p:nvPr>
        </p:nvGraphicFramePr>
        <p:xfrm>
          <a:off x="693175" y="702001"/>
          <a:ext cx="7855533" cy="2834640"/>
        </p:xfrm>
        <a:graphic>
          <a:graphicData uri="http://schemas.openxmlformats.org/drawingml/2006/table">
            <a:tbl>
              <a:tblPr/>
              <a:tblGrid>
                <a:gridCol w="1122219">
                  <a:extLst>
                    <a:ext uri="{9D8B030D-6E8A-4147-A177-3AD203B41FA5}">
                      <a16:colId xmlns:a16="http://schemas.microsoft.com/office/drawing/2014/main" val="349115468"/>
                    </a:ext>
                  </a:extLst>
                </a:gridCol>
                <a:gridCol w="1122219">
                  <a:extLst>
                    <a:ext uri="{9D8B030D-6E8A-4147-A177-3AD203B41FA5}">
                      <a16:colId xmlns:a16="http://schemas.microsoft.com/office/drawing/2014/main" val="415942964"/>
                    </a:ext>
                  </a:extLst>
                </a:gridCol>
                <a:gridCol w="1122219">
                  <a:extLst>
                    <a:ext uri="{9D8B030D-6E8A-4147-A177-3AD203B41FA5}">
                      <a16:colId xmlns:a16="http://schemas.microsoft.com/office/drawing/2014/main" val="280420433"/>
                    </a:ext>
                  </a:extLst>
                </a:gridCol>
                <a:gridCol w="1122219">
                  <a:extLst>
                    <a:ext uri="{9D8B030D-6E8A-4147-A177-3AD203B41FA5}">
                      <a16:colId xmlns:a16="http://schemas.microsoft.com/office/drawing/2014/main" val="3952180101"/>
                    </a:ext>
                  </a:extLst>
                </a:gridCol>
                <a:gridCol w="1122219">
                  <a:extLst>
                    <a:ext uri="{9D8B030D-6E8A-4147-A177-3AD203B41FA5}">
                      <a16:colId xmlns:a16="http://schemas.microsoft.com/office/drawing/2014/main" val="795731015"/>
                    </a:ext>
                  </a:extLst>
                </a:gridCol>
                <a:gridCol w="1122219">
                  <a:extLst>
                    <a:ext uri="{9D8B030D-6E8A-4147-A177-3AD203B41FA5}">
                      <a16:colId xmlns:a16="http://schemas.microsoft.com/office/drawing/2014/main" val="719203699"/>
                    </a:ext>
                  </a:extLst>
                </a:gridCol>
                <a:gridCol w="1122219">
                  <a:extLst>
                    <a:ext uri="{9D8B030D-6E8A-4147-A177-3AD203B41FA5}">
                      <a16:colId xmlns:a16="http://schemas.microsoft.com/office/drawing/2014/main" val="791178789"/>
                    </a:ext>
                  </a:extLst>
                </a:gridCol>
              </a:tblGrid>
              <a:tr h="561153">
                <a:tc>
                  <a:txBody>
                    <a:bodyPr/>
                    <a:lstStyle/>
                    <a:p>
                      <a:pPr>
                        <a:buNone/>
                      </a:pPr>
                      <a:r>
                        <a:rPr lang="en-US" sz="1800"/>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Raw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Raw 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Year FE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Year FE 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Div×Year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Div×Year 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8839877"/>
                  </a:ext>
                </a:extLst>
              </a:tr>
              <a:tr h="320659">
                <a:tc>
                  <a:txBody>
                    <a:bodyPr/>
                    <a:lstStyle/>
                    <a:p>
                      <a:pPr>
                        <a:buNone/>
                      </a:pPr>
                      <a:r>
                        <a:rPr lang="en-US" sz="1800"/>
                        <a:t>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.286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.091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−.459</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−.406</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2921296"/>
                  </a:ext>
                </a:extLst>
              </a:tr>
              <a:tr h="320659">
                <a:tc>
                  <a:txBody>
                    <a:bodyPr/>
                    <a:lstStyle/>
                    <a:p>
                      <a:pPr>
                        <a:buNone/>
                      </a:pPr>
                      <a:r>
                        <a:rPr lang="en-US" sz="1800"/>
                        <a:t>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.424</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.296</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dirty="0"/>
                        <a:t>−.563</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−.005</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−.510</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9614844"/>
                  </a:ext>
                </a:extLst>
              </a:tr>
              <a:tr h="320659">
                <a:tc>
                  <a:txBody>
                    <a:bodyPr/>
                    <a:lstStyle/>
                    <a:p>
                      <a:pPr>
                        <a:buNone/>
                      </a:pPr>
                      <a:r>
                        <a:rPr lang="en-US" sz="1800"/>
                        <a:t>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.301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.344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−.474</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−.431</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9262323"/>
                  </a:ext>
                </a:extLst>
              </a:tr>
              <a:tr h="320659">
                <a:tc>
                  <a:txBody>
                    <a:bodyPr/>
                    <a:lstStyle/>
                    <a:p>
                      <a:pPr>
                        <a:buNone/>
                      </a:pPr>
                      <a:r>
                        <a:rPr lang="en-US" sz="1800"/>
                        <a:t>BE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.318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.335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−.501</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−.096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−.440</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8139550"/>
                  </a:ext>
                </a:extLst>
              </a:tr>
              <a:tr h="320659">
                <a:tc>
                  <a:txBody>
                    <a:bodyPr/>
                    <a:lstStyle/>
                    <a:p>
                      <a:pPr>
                        <a:buNone/>
                      </a:pPr>
                      <a:r>
                        <a:rPr lang="en-US" sz="1800"/>
                        <a:t>TranE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.078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937555"/>
                  </a:ext>
                </a:extLst>
              </a:tr>
              <a:tr h="320659">
                <a:tc>
                  <a:txBody>
                    <a:bodyPr/>
                    <a:lstStyle/>
                    <a:p>
                      <a:pPr>
                        <a:buNone/>
                      </a:pPr>
                      <a:r>
                        <a:rPr lang="en-US" sz="1800"/>
                        <a:t>OE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−.532</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dirty="0"/>
                        <a:t>−.469</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9030410"/>
                  </a:ext>
                </a:extLst>
              </a:tr>
            </a:tbl>
          </a:graphicData>
        </a:graphic>
      </p:graphicFrame>
    </p:spTree>
    <p:extLst>
      <p:ext uri="{BB962C8B-B14F-4D97-AF65-F5344CB8AC3E}">
        <p14:creationId xmlns:p14="http://schemas.microsoft.com/office/powerpoint/2010/main" val="3725150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83545-B10C-196D-1C78-F1069F975824}"/>
              </a:ext>
            </a:extLst>
          </p:cNvPr>
          <p:cNvSpPr>
            <a:spLocks noGrp="1"/>
          </p:cNvSpPr>
          <p:nvPr>
            <p:ph type="ctrTitle"/>
          </p:nvPr>
        </p:nvSpPr>
        <p:spPr>
          <a:xfrm>
            <a:off x="437698" y="663617"/>
            <a:ext cx="8004391" cy="699065"/>
          </a:xfrm>
        </p:spPr>
        <p:txBody>
          <a:bodyPr/>
          <a:lstStyle/>
          <a:p>
            <a:r>
              <a:rPr lang="en-US" sz="3200" dirty="0">
                <a:solidFill>
                  <a:srgbClr val="333333"/>
                </a:solidFill>
              </a:rPr>
              <a:t>Tax decomposition regression table</a:t>
            </a:r>
            <a:endParaRPr lang="en-US" dirty="0"/>
          </a:p>
        </p:txBody>
      </p:sp>
      <p:graphicFrame>
        <p:nvGraphicFramePr>
          <p:cNvPr id="5" name="Table 0">
            <a:extLst>
              <a:ext uri="{FF2B5EF4-FFF2-40B4-BE49-F238E27FC236}">
                <a16:creationId xmlns:a16="http://schemas.microsoft.com/office/drawing/2014/main" id="{D698A58F-8216-E11E-DC15-170665F56B18}"/>
              </a:ext>
            </a:extLst>
          </p:cNvPr>
          <p:cNvGraphicFramePr>
            <a:graphicFrameLocks noGrp="1"/>
          </p:cNvGraphicFramePr>
          <p:nvPr>
            <p:extLst>
              <p:ext uri="{D42A27DB-BD31-4B8C-83A1-F6EECF244321}">
                <p14:modId xmlns:p14="http://schemas.microsoft.com/office/powerpoint/2010/main" val="104224487"/>
              </p:ext>
            </p:extLst>
          </p:nvPr>
        </p:nvGraphicFramePr>
        <p:xfrm>
          <a:off x="437698" y="2044134"/>
          <a:ext cx="8268603" cy="1247128"/>
        </p:xfrm>
        <a:graphic>
          <a:graphicData uri="http://schemas.openxmlformats.org/drawingml/2006/table">
            <a:tbl>
              <a:tblPr/>
              <a:tblGrid>
                <a:gridCol w="1493907">
                  <a:extLst>
                    <a:ext uri="{9D8B030D-6E8A-4147-A177-3AD203B41FA5}">
                      <a16:colId xmlns:a16="http://schemas.microsoft.com/office/drawing/2014/main" val="20000"/>
                    </a:ext>
                  </a:extLst>
                </a:gridCol>
                <a:gridCol w="1077003">
                  <a:extLst>
                    <a:ext uri="{9D8B030D-6E8A-4147-A177-3AD203B41FA5}">
                      <a16:colId xmlns:a16="http://schemas.microsoft.com/office/drawing/2014/main" val="20001"/>
                    </a:ext>
                  </a:extLst>
                </a:gridCol>
                <a:gridCol w="1077003">
                  <a:extLst>
                    <a:ext uri="{9D8B030D-6E8A-4147-A177-3AD203B41FA5}">
                      <a16:colId xmlns:a16="http://schemas.microsoft.com/office/drawing/2014/main" val="20002"/>
                    </a:ext>
                  </a:extLst>
                </a:gridCol>
                <a:gridCol w="1077003">
                  <a:extLst>
                    <a:ext uri="{9D8B030D-6E8A-4147-A177-3AD203B41FA5}">
                      <a16:colId xmlns:a16="http://schemas.microsoft.com/office/drawing/2014/main" val="20003"/>
                    </a:ext>
                  </a:extLst>
                </a:gridCol>
                <a:gridCol w="1077003">
                  <a:extLst>
                    <a:ext uri="{9D8B030D-6E8A-4147-A177-3AD203B41FA5}">
                      <a16:colId xmlns:a16="http://schemas.microsoft.com/office/drawing/2014/main" val="20004"/>
                    </a:ext>
                  </a:extLst>
                </a:gridCol>
                <a:gridCol w="1077003">
                  <a:extLst>
                    <a:ext uri="{9D8B030D-6E8A-4147-A177-3AD203B41FA5}">
                      <a16:colId xmlns:a16="http://schemas.microsoft.com/office/drawing/2014/main" val="20005"/>
                    </a:ext>
                  </a:extLst>
                </a:gridCol>
                <a:gridCol w="1389681">
                  <a:extLst>
                    <a:ext uri="{9D8B030D-6E8A-4147-A177-3AD203B41FA5}">
                      <a16:colId xmlns:a16="http://schemas.microsoft.com/office/drawing/2014/main" val="20006"/>
                    </a:ext>
                  </a:extLst>
                </a:gridCol>
              </a:tblGrid>
              <a:tr h="387592">
                <a:tc>
                  <a:txBody>
                    <a:bodyPr/>
                    <a:lstStyle/>
                    <a:p>
                      <a:pPr marL="0" indent="0" algn="l">
                        <a:buNone/>
                      </a:pPr>
                      <a:r>
                        <a:rPr lang="en-US" sz="1150" b="1" dirty="0">
                          <a:solidFill>
                            <a:srgbClr val="333333"/>
                          </a:solidFill>
                          <a:latin typeface="Aptos" pitchFamily="34" charset="0"/>
                          <a:ea typeface="Aptos" pitchFamily="34" charset="-122"/>
                          <a:cs typeface="Aptos" pitchFamily="34" charset="-120"/>
                        </a:rPr>
                        <a:t>Fixed effects</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Total tax</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Property</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Sales</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Income</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Other</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KP F / N</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extLst>
                  <a:ext uri="{0D108BD9-81ED-4DB2-BD59-A6C34878D82A}">
                    <a16:rowId xmlns:a16="http://schemas.microsoft.com/office/drawing/2014/main" val="10000"/>
                  </a:ext>
                </a:extLst>
              </a:tr>
              <a:tr h="387592">
                <a:tc>
                  <a:txBody>
                    <a:bodyPr/>
                    <a:lstStyle/>
                    <a:p>
                      <a:pPr marL="0" indent="0" algn="l">
                        <a:buNone/>
                      </a:pPr>
                      <a:r>
                        <a:rPr lang="en-US" sz="1200" b="1" dirty="0">
                          <a:solidFill>
                            <a:srgbClr val="333333"/>
                          </a:solidFill>
                          <a:latin typeface="Aptos" pitchFamily="34" charset="0"/>
                          <a:ea typeface="Aptos" pitchFamily="34" charset="-122"/>
                          <a:cs typeface="Aptos" pitchFamily="34" charset="-120"/>
                        </a:rPr>
                        <a:t>Year FE</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0.423***</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(0.089)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0.493***</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(0.109)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0.676***</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(0.209)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0.042</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(0.028)</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0.168</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(0.185)</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30.09 / 2,340</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7592">
                <a:tc>
                  <a:txBody>
                    <a:bodyPr/>
                    <a:lstStyle/>
                    <a:p>
                      <a:pPr marL="0" indent="0" algn="l">
                        <a:buNone/>
                      </a:pPr>
                      <a:r>
                        <a:rPr lang="en-US" sz="1200" b="1" dirty="0">
                          <a:solidFill>
                            <a:srgbClr val="333333"/>
                          </a:solidFill>
                          <a:latin typeface="Aptos" pitchFamily="34" charset="0"/>
                          <a:ea typeface="Aptos" pitchFamily="34" charset="-122"/>
                          <a:cs typeface="Aptos" pitchFamily="34" charset="-120"/>
                        </a:rPr>
                        <a:t>Division × Year FE</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0.238***</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(0.087)</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0.219***</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(0.084)</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0.292**</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(0.139)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0.045</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(0.030)</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0.357</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(0.314)</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18.51 / 2,340</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6">
            <a:extLst>
              <a:ext uri="{FF2B5EF4-FFF2-40B4-BE49-F238E27FC236}">
                <a16:creationId xmlns:a16="http://schemas.microsoft.com/office/drawing/2014/main" id="{1819882E-5FF8-DF9C-7B0B-5191DC64F461}"/>
              </a:ext>
            </a:extLst>
          </p:cNvPr>
          <p:cNvSpPr/>
          <p:nvPr/>
        </p:nvSpPr>
        <p:spPr>
          <a:xfrm>
            <a:off x="458444" y="3378354"/>
            <a:ext cx="8247857" cy="594360"/>
          </a:xfrm>
          <a:prstGeom prst="rect">
            <a:avLst/>
          </a:prstGeom>
          <a:noFill/>
          <a:ln/>
        </p:spPr>
        <p:txBody>
          <a:bodyPr wrap="square" lIns="381" tIns="381" rIns="381" bIns="381" rtlCol="0" anchor="ctr">
            <a:normAutofit/>
          </a:bodyPr>
          <a:lstStyle/>
          <a:p>
            <a:pPr marL="0" indent="0">
              <a:buNone/>
            </a:pPr>
            <a:r>
              <a:rPr lang="en-US" sz="1600" dirty="0">
                <a:solidFill>
                  <a:srgbClr val="333333"/>
                </a:solidFill>
              </a:rPr>
              <a:t>Property and sales-tax components carry most of the total-tax response; income-tax responses are small and statistically imprecise.</a:t>
            </a:r>
            <a:endParaRPr lang="en-US" sz="1600" dirty="0"/>
          </a:p>
        </p:txBody>
      </p:sp>
      <p:sp>
        <p:nvSpPr>
          <p:cNvPr id="7" name="Text 7">
            <a:extLst>
              <a:ext uri="{FF2B5EF4-FFF2-40B4-BE49-F238E27FC236}">
                <a16:creationId xmlns:a16="http://schemas.microsoft.com/office/drawing/2014/main" id="{4FF5BDD1-B47E-2594-34F5-7789DD3FBBC5}"/>
              </a:ext>
            </a:extLst>
          </p:cNvPr>
          <p:cNvSpPr/>
          <p:nvPr/>
        </p:nvSpPr>
        <p:spPr>
          <a:xfrm>
            <a:off x="458444" y="4059806"/>
            <a:ext cx="8318351" cy="237744"/>
          </a:xfrm>
          <a:prstGeom prst="rect">
            <a:avLst/>
          </a:prstGeom>
          <a:noFill/>
          <a:ln/>
        </p:spPr>
        <p:txBody>
          <a:bodyPr wrap="square" lIns="0" tIns="0" rIns="0" bIns="0" rtlCol="0" anchor="ctr"/>
          <a:lstStyle/>
          <a:p>
            <a:pPr marL="0" indent="0">
              <a:buNone/>
            </a:pPr>
            <a:r>
              <a:rPr lang="en-US" sz="950" dirty="0">
                <a:solidFill>
                  <a:srgbClr val="666666"/>
                </a:solidFill>
              </a:rPr>
              <a:t>Notes: Standard errors in parentheses. * p&lt;0.10, ** p&lt;0.05, *** p&lt;0.01.</a:t>
            </a:r>
            <a:endParaRPr lang="en-US" sz="950" dirty="0"/>
          </a:p>
        </p:txBody>
      </p:sp>
    </p:spTree>
    <p:extLst>
      <p:ext uri="{BB962C8B-B14F-4D97-AF65-F5344CB8AC3E}">
        <p14:creationId xmlns:p14="http://schemas.microsoft.com/office/powerpoint/2010/main" val="2546823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75808-4B51-2540-7E75-3E0F61E6C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BDF58-DFAE-5D54-C30C-6CD3AAACF922}"/>
              </a:ext>
            </a:extLst>
          </p:cNvPr>
          <p:cNvSpPr>
            <a:spLocks noGrp="1"/>
          </p:cNvSpPr>
          <p:nvPr>
            <p:ph type="ctrTitle"/>
          </p:nvPr>
        </p:nvSpPr>
        <p:spPr>
          <a:xfrm>
            <a:off x="504427" y="-105535"/>
            <a:ext cx="8345232" cy="699065"/>
          </a:xfrm>
        </p:spPr>
        <p:txBody>
          <a:bodyPr>
            <a:noAutofit/>
          </a:bodyPr>
          <a:lstStyle/>
          <a:p>
            <a:r>
              <a:rPr lang="en-US" sz="2000" dirty="0"/>
              <a:t>Regional controls and first-stage strength</a:t>
            </a:r>
          </a:p>
        </p:txBody>
      </p:sp>
      <p:graphicFrame>
        <p:nvGraphicFramePr>
          <p:cNvPr id="8" name="Table 7">
            <a:extLst>
              <a:ext uri="{FF2B5EF4-FFF2-40B4-BE49-F238E27FC236}">
                <a16:creationId xmlns:a16="http://schemas.microsoft.com/office/drawing/2014/main" id="{676E4EC9-E6F2-4FE2-86C5-5B2C324BC142}"/>
              </a:ext>
            </a:extLst>
          </p:cNvPr>
          <p:cNvGraphicFramePr>
            <a:graphicFrameLocks noGrp="1"/>
          </p:cNvGraphicFramePr>
          <p:nvPr>
            <p:extLst>
              <p:ext uri="{D42A27DB-BD31-4B8C-83A1-F6EECF244321}">
                <p14:modId xmlns:p14="http://schemas.microsoft.com/office/powerpoint/2010/main" val="2164101214"/>
              </p:ext>
            </p:extLst>
          </p:nvPr>
        </p:nvGraphicFramePr>
        <p:xfrm>
          <a:off x="1131468" y="444544"/>
          <a:ext cx="7091149" cy="4254412"/>
        </p:xfrm>
        <a:graphic>
          <a:graphicData uri="http://schemas.openxmlformats.org/drawingml/2006/table">
            <a:tbl>
              <a:tblPr/>
              <a:tblGrid>
                <a:gridCol w="2218219">
                  <a:extLst>
                    <a:ext uri="{9D8B030D-6E8A-4147-A177-3AD203B41FA5}">
                      <a16:colId xmlns:a16="http://schemas.microsoft.com/office/drawing/2014/main" val="799160434"/>
                    </a:ext>
                  </a:extLst>
                </a:gridCol>
                <a:gridCol w="974586">
                  <a:extLst>
                    <a:ext uri="{9D8B030D-6E8A-4147-A177-3AD203B41FA5}">
                      <a16:colId xmlns:a16="http://schemas.microsoft.com/office/drawing/2014/main" val="831658631"/>
                    </a:ext>
                  </a:extLst>
                </a:gridCol>
                <a:gridCol w="974586">
                  <a:extLst>
                    <a:ext uri="{9D8B030D-6E8A-4147-A177-3AD203B41FA5}">
                      <a16:colId xmlns:a16="http://schemas.microsoft.com/office/drawing/2014/main" val="565239980"/>
                    </a:ext>
                  </a:extLst>
                </a:gridCol>
                <a:gridCol w="974586">
                  <a:extLst>
                    <a:ext uri="{9D8B030D-6E8A-4147-A177-3AD203B41FA5}">
                      <a16:colId xmlns:a16="http://schemas.microsoft.com/office/drawing/2014/main" val="2120087299"/>
                    </a:ext>
                  </a:extLst>
                </a:gridCol>
                <a:gridCol w="974586">
                  <a:extLst>
                    <a:ext uri="{9D8B030D-6E8A-4147-A177-3AD203B41FA5}">
                      <a16:colId xmlns:a16="http://schemas.microsoft.com/office/drawing/2014/main" val="1957878345"/>
                    </a:ext>
                  </a:extLst>
                </a:gridCol>
                <a:gridCol w="974586">
                  <a:extLst>
                    <a:ext uri="{9D8B030D-6E8A-4147-A177-3AD203B41FA5}">
                      <a16:colId xmlns:a16="http://schemas.microsoft.com/office/drawing/2014/main" val="248561263"/>
                    </a:ext>
                  </a:extLst>
                </a:gridCol>
              </a:tblGrid>
              <a:tr h="257175">
                <a:tc>
                  <a:txBody>
                    <a:bodyPr/>
                    <a:lstStyle/>
                    <a:p>
                      <a:pPr>
                        <a:buNone/>
                      </a:pPr>
                      <a:r>
                        <a:rPr lang="en-US" sz="1050" dirty="0"/>
                        <a:t>Sample and specification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Tax response</a:t>
                      </a:r>
                    </a:p>
                    <a:p>
                      <a:pPr algn="r">
                        <a:buNone/>
                      </a:pPr>
                      <a:r>
                        <a:rPr lang="en-US" sz="1000" dirty="0"/>
                        <a:t>（SE）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Tax KP F</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BE response</a:t>
                      </a:r>
                    </a:p>
                    <a:p>
                      <a:pPr algn="r">
                        <a:buNone/>
                      </a:pPr>
                      <a:r>
                        <a:rPr lang="en-US" sz="1000" dirty="0"/>
                        <a:t>（SE）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BE KP F</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291942"/>
                  </a:ext>
                </a:extLst>
              </a:tr>
              <a:tr h="257175">
                <a:tc>
                  <a:txBody>
                    <a:bodyPr/>
                    <a:lstStyle/>
                    <a:p>
                      <a:pPr>
                        <a:buNone/>
                      </a:pPr>
                      <a:r>
                        <a:rPr lang="en-US" sz="1100" b="1" dirty="0">
                          <a:highlight>
                            <a:srgbClr val="FFFF00"/>
                          </a:highlight>
                        </a:rPr>
                        <a:t>MSA FE + Year FE：</a:t>
                      </a:r>
                    </a:p>
                    <a:p>
                      <a:pPr>
                        <a:buNone/>
                      </a:pPr>
                      <a:r>
                        <a:rPr lang="en-US" sz="1100" b="1" dirty="0">
                          <a:highlight>
                            <a:srgbClr val="FFFF00"/>
                          </a:highlight>
                        </a:rPr>
                        <a:t>baseline specification</a:t>
                      </a:r>
                      <a:endParaRPr lang="en-US" sz="1100" dirty="0">
                        <a:highlight>
                          <a:srgbClr val="FFFF00"/>
                        </a:highlight>
                      </a:endParaRP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0.452***</a:t>
                      </a:r>
                    </a:p>
                    <a:p>
                      <a:pPr algn="r">
                        <a:buNone/>
                      </a:pPr>
                      <a:r>
                        <a:rPr lang="en-US" sz="1050" b="1" dirty="0"/>
                        <a:t>（0.098）</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b="1" dirty="0"/>
                        <a:t>72.70</a:t>
                      </a:r>
                      <a:endParaRPr lang="en-US" sz="110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0.193***</a:t>
                      </a:r>
                    </a:p>
                    <a:p>
                      <a:pPr algn="r">
                        <a:buNone/>
                      </a:pPr>
                      <a:r>
                        <a:rPr lang="en-US" sz="1050" b="1" dirty="0"/>
                        <a:t>（0.062）</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b="1"/>
                        <a:t>55.18</a:t>
                      </a:r>
                      <a:endParaRPr lang="en-US" sz="110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b="1"/>
                        <a:t>2,340</a:t>
                      </a:r>
                      <a:endParaRPr lang="en-US" sz="110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5951749"/>
                  </a:ext>
                </a:extLst>
              </a:tr>
              <a:tr h="257175">
                <a:tc>
                  <a:txBody>
                    <a:bodyPr/>
                    <a:lstStyle/>
                    <a:p>
                      <a:pPr>
                        <a:buNone/>
                      </a:pPr>
                      <a:r>
                        <a:rPr lang="en-US" sz="1100" dirty="0"/>
                        <a:t>MSA FE + Division × Year FE</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0.33</a:t>
                      </a:r>
                      <a:r>
                        <a:rPr lang="en-US" sz="1050" b="1" dirty="0"/>
                        <a:t>**</a:t>
                      </a:r>
                    </a:p>
                    <a:p>
                      <a:pPr algn="r">
                        <a:buNone/>
                      </a:pPr>
                      <a:r>
                        <a:rPr lang="en-US" sz="1050" dirty="0"/>
                        <a:t>（0.10）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43.83</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0.25</a:t>
                      </a:r>
                      <a:r>
                        <a:rPr lang="en-US" sz="1050" b="1" dirty="0"/>
                        <a:t>***</a:t>
                      </a:r>
                    </a:p>
                    <a:p>
                      <a:pPr algn="r">
                        <a:buNone/>
                      </a:pPr>
                      <a:r>
                        <a:rPr lang="en-US" sz="1050" dirty="0"/>
                        <a:t>（0.08）</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42.11</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387952"/>
                  </a:ext>
                </a:extLst>
              </a:tr>
              <a:tr h="257175">
                <a:tc>
                  <a:txBody>
                    <a:bodyPr/>
                    <a:lstStyle/>
                    <a:p>
                      <a:pPr>
                        <a:buNone/>
                      </a:pPr>
                      <a:r>
                        <a:rPr lang="en-US" sz="1100"/>
                        <a:t>MSA FE + Year FE + MSA-specific trends</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0.465</a:t>
                      </a:r>
                      <a:r>
                        <a:rPr lang="en-US" sz="1050" b="1" dirty="0"/>
                        <a:t>***</a:t>
                      </a:r>
                    </a:p>
                    <a:p>
                      <a:pPr algn="r">
                        <a:buNone/>
                      </a:pPr>
                      <a:r>
                        <a:rPr lang="en-US" sz="1050" dirty="0"/>
                        <a:t>（0.100）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a:t>71.97</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0.184</a:t>
                      </a:r>
                      <a:r>
                        <a:rPr lang="en-US" sz="1050" b="1" dirty="0"/>
                        <a:t>***</a:t>
                      </a:r>
                    </a:p>
                    <a:p>
                      <a:pPr algn="r">
                        <a:buNone/>
                      </a:pPr>
                      <a:r>
                        <a:rPr lang="en-US" sz="1050" dirty="0"/>
                        <a:t>（0.061）</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54.97</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604024"/>
                  </a:ext>
                </a:extLst>
              </a:tr>
              <a:tr h="257175">
                <a:tc>
                  <a:txBody>
                    <a:bodyPr/>
                    <a:lstStyle/>
                    <a:p>
                      <a:pPr>
                        <a:buNone/>
                      </a:pPr>
                      <a:r>
                        <a:rPr lang="en-US" sz="1050" b="1" dirty="0">
                          <a:highlight>
                            <a:srgbClr val="FFFF00"/>
                          </a:highlight>
                        </a:rPr>
                        <a:t>Labor sample： </a:t>
                      </a:r>
                    </a:p>
                    <a:p>
                      <a:pPr>
                        <a:buNone/>
                      </a:pPr>
                      <a:r>
                        <a:rPr lang="en-US" sz="1050" b="1" dirty="0">
                          <a:highlight>
                            <a:srgbClr val="FFFF00"/>
                          </a:highlight>
                        </a:rPr>
                        <a:t>baseline specification</a:t>
                      </a:r>
                      <a:endParaRPr lang="en-US" sz="105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0.455***</a:t>
                      </a:r>
                    </a:p>
                    <a:p>
                      <a:pPr algn="r">
                        <a:buNone/>
                      </a:pPr>
                      <a:r>
                        <a:rPr lang="en-US" sz="1000" b="1" dirty="0"/>
                        <a:t>（0.118）</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62.30</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0.173**</a:t>
                      </a:r>
                    </a:p>
                    <a:p>
                      <a:pPr algn="r">
                        <a:buNone/>
                      </a:pPr>
                      <a:r>
                        <a:rPr lang="en-US" sz="1000" b="1" dirty="0"/>
                        <a:t>（0.075）</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46.06</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1,300</a:t>
                      </a:r>
                      <a:endParaRPr lang="en-US" sz="105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5275754"/>
                  </a:ext>
                </a:extLst>
              </a:tr>
              <a:tr h="334328">
                <a:tc>
                  <a:txBody>
                    <a:bodyPr/>
                    <a:lstStyle/>
                    <a:p>
                      <a:pPr>
                        <a:buNone/>
                      </a:pPr>
                      <a:r>
                        <a:rPr lang="en-US" sz="1050" dirty="0"/>
                        <a:t>＋ labor-demand shock</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0.455</a:t>
                      </a:r>
                      <a:r>
                        <a:rPr lang="en-US" sz="1000" b="1" dirty="0"/>
                        <a:t>***</a:t>
                      </a:r>
                    </a:p>
                    <a:p>
                      <a:pPr algn="r">
                        <a:buNone/>
                      </a:pPr>
                      <a:r>
                        <a:rPr lang="en-US" sz="1000" dirty="0"/>
                        <a:t>（0.119）</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62.26</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0.173</a:t>
                      </a:r>
                      <a:r>
                        <a:rPr lang="en-US" sz="1000" b="1" dirty="0"/>
                        <a:t>**</a:t>
                      </a:r>
                    </a:p>
                    <a:p>
                      <a:pPr algn="r">
                        <a:buNone/>
                      </a:pPr>
                      <a:r>
                        <a:rPr lang="en-US" sz="1000" dirty="0"/>
                        <a:t>（0.073）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46.74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9184665"/>
                  </a:ext>
                </a:extLst>
              </a:tr>
              <a:tr h="334328">
                <a:tc>
                  <a:txBody>
                    <a:bodyPr/>
                    <a:lstStyle/>
                    <a:p>
                      <a:pPr>
                        <a:buNone/>
                      </a:pPr>
                      <a:r>
                        <a:rPr lang="en-US" sz="105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0.301</a:t>
                      </a:r>
                      <a:r>
                        <a:rPr lang="en-US" sz="1000" b="1" dirty="0"/>
                        <a:t>***</a:t>
                      </a:r>
                    </a:p>
                    <a:p>
                      <a:pPr algn="r">
                        <a:buNone/>
                      </a:pPr>
                      <a:r>
                        <a:rPr lang="en-US" sz="1000" dirty="0"/>
                        <a:t>（0.110）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27.03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0.271</a:t>
                      </a:r>
                      <a:r>
                        <a:rPr lang="en-US" sz="1000" b="1" dirty="0"/>
                        <a:t>**</a:t>
                      </a:r>
                    </a:p>
                    <a:p>
                      <a:pPr algn="r">
                        <a:buNone/>
                      </a:pPr>
                      <a:r>
                        <a:rPr lang="en-US" sz="1000" dirty="0"/>
                        <a:t>（0.107）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28.83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927691"/>
                  </a:ext>
                </a:extLst>
              </a:tr>
              <a:tr h="334328">
                <a:tc>
                  <a:txBody>
                    <a:bodyPr/>
                    <a:lstStyle/>
                    <a:p>
                      <a:pPr>
                        <a:buNone/>
                      </a:pPr>
                      <a:r>
                        <a:rPr lang="en-US" sz="1050" b="1" dirty="0">
                          <a:highlight>
                            <a:srgbClr val="FFFF00"/>
                          </a:highlight>
                        </a:rPr>
                        <a:t>BPS／HPI sample： </a:t>
                      </a:r>
                    </a:p>
                    <a:p>
                      <a:pPr>
                        <a:buNone/>
                      </a:pPr>
                      <a:r>
                        <a:rPr lang="en-US" sz="1050" b="1" dirty="0">
                          <a:highlight>
                            <a:srgbClr val="FFFF00"/>
                          </a:highlight>
                        </a:rPr>
                        <a:t>baseline specification</a:t>
                      </a:r>
                      <a:endParaRPr lang="en-US" sz="105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0.423***</a:t>
                      </a:r>
                    </a:p>
                    <a:p>
                      <a:pPr algn="r">
                        <a:buNone/>
                      </a:pPr>
                      <a:r>
                        <a:rPr lang="en-US" sz="1000" b="1" dirty="0"/>
                        <a:t>（0.142）</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48.29</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0.161*</a:t>
                      </a:r>
                    </a:p>
                    <a:p>
                      <a:pPr algn="r">
                        <a:buNone/>
                      </a:pPr>
                      <a:r>
                        <a:rPr lang="en-US" sz="1000" b="1" dirty="0"/>
                        <a:t>（0.0854）</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46.55</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943</a:t>
                      </a:r>
                      <a:endParaRPr lang="en-US" sz="105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8249101"/>
                  </a:ext>
                </a:extLst>
              </a:tr>
              <a:tr h="257175">
                <a:tc>
                  <a:txBody>
                    <a:bodyPr/>
                    <a:lstStyle/>
                    <a:p>
                      <a:pPr>
                        <a:buNone/>
                      </a:pPr>
                      <a:r>
                        <a:rPr lang="en-US" sz="1050"/>
                        <a:t>＋building permits</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0.418</a:t>
                      </a:r>
                      <a:r>
                        <a:rPr lang="en-US" sz="1000" b="1" dirty="0"/>
                        <a:t>***</a:t>
                      </a:r>
                    </a:p>
                    <a:p>
                      <a:pPr algn="r">
                        <a:buNone/>
                      </a:pPr>
                      <a:r>
                        <a:rPr lang="en-US" sz="1000" dirty="0"/>
                        <a:t>（0.144）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46.57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0.160</a:t>
                      </a:r>
                      <a:r>
                        <a:rPr lang="en-US" sz="1000" b="1" dirty="0"/>
                        <a:t>*</a:t>
                      </a:r>
                    </a:p>
                    <a:p>
                      <a:pPr algn="r">
                        <a:buNone/>
                      </a:pPr>
                      <a:r>
                        <a:rPr lang="en-US" sz="1000" dirty="0"/>
                        <a:t>（0.0852）</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46.20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9931506"/>
                  </a:ext>
                </a:extLst>
              </a:tr>
              <a:tr h="180023">
                <a:tc>
                  <a:txBody>
                    <a:bodyPr/>
                    <a:lstStyle/>
                    <a:p>
                      <a:pPr>
                        <a:buNone/>
                      </a:pPr>
                      <a:r>
                        <a:rPr lang="en-US" sz="1050"/>
                        <a:t>＋HPI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0.425</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46.24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0.149</a:t>
                      </a:r>
                      <a:r>
                        <a:rPr lang="en-US" sz="1000" b="1" dirty="0"/>
                        <a:t>*</a:t>
                      </a:r>
                    </a:p>
                    <a:p>
                      <a:pPr algn="r">
                        <a:buNone/>
                      </a:pPr>
                      <a:r>
                        <a:rPr lang="en-US" sz="1000" dirty="0"/>
                        <a:t>（0.0800）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46.55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37103"/>
                  </a:ext>
                </a:extLst>
              </a:tr>
              <a:tr h="411480">
                <a:tc>
                  <a:txBody>
                    <a:bodyPr/>
                    <a:lstStyle/>
                    <a:p>
                      <a:pPr>
                        <a:buNone/>
                      </a:pPr>
                      <a:r>
                        <a:rPr lang="en-US" sz="1050" dirty="0"/>
                        <a:t>＋building permits ＋HPI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0.424</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45.93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0.161</a:t>
                      </a:r>
                      <a:r>
                        <a:rPr lang="en-US" sz="1000" b="1" dirty="0"/>
                        <a:t>**</a:t>
                      </a:r>
                    </a:p>
                    <a:p>
                      <a:pPr algn="r">
                        <a:buNone/>
                      </a:pPr>
                      <a:r>
                        <a:rPr lang="en-US" sz="1000" dirty="0"/>
                        <a:t>（0.0785）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46.01</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211912"/>
                  </a:ext>
                </a:extLst>
              </a:tr>
              <a:tr h="334328">
                <a:tc>
                  <a:txBody>
                    <a:bodyPr/>
                    <a:lstStyle/>
                    <a:p>
                      <a:pPr>
                        <a:buNone/>
                      </a:pPr>
                      <a:r>
                        <a:rPr lang="en-US" sz="105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0.244</a:t>
                      </a:r>
                      <a:r>
                        <a:rPr lang="en-US" sz="1000" b="1" dirty="0"/>
                        <a:t>**</a:t>
                      </a:r>
                      <a:r>
                        <a:rPr lang="en-US" sz="1000" dirty="0"/>
                        <a:t> </a:t>
                      </a:r>
                    </a:p>
                    <a:p>
                      <a:pPr algn="r">
                        <a:buNone/>
                      </a:pPr>
                      <a:r>
                        <a:rPr lang="en-US" sz="1000" dirty="0"/>
                        <a:t>（0.120）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26.55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0.343</a:t>
                      </a:r>
                      <a:r>
                        <a:rPr lang="en-US" sz="1000" b="1" dirty="0"/>
                        <a:t>***</a:t>
                      </a:r>
                      <a:r>
                        <a:rPr lang="en-US" sz="1000" dirty="0"/>
                        <a:t> </a:t>
                      </a:r>
                    </a:p>
                    <a:p>
                      <a:pPr algn="r">
                        <a:buNone/>
                      </a:pPr>
                      <a:r>
                        <a:rPr lang="en-US" sz="1000" dirty="0"/>
                        <a:t> （0.110）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34.37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129950"/>
                  </a:ext>
                </a:extLst>
              </a:tr>
            </a:tbl>
          </a:graphicData>
        </a:graphic>
      </p:graphicFrame>
    </p:spTree>
    <p:extLst>
      <p:ext uri="{BB962C8B-B14F-4D97-AF65-F5344CB8AC3E}">
        <p14:creationId xmlns:p14="http://schemas.microsoft.com/office/powerpoint/2010/main" val="3151741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3AD3E-9FBE-7A04-19AA-3A9E26DB877C}"/>
              </a:ext>
            </a:extLst>
          </p:cNvPr>
          <p:cNvSpPr>
            <a:spLocks noGrp="1"/>
          </p:cNvSpPr>
          <p:nvPr>
            <p:ph type="ctrTitle"/>
          </p:nvPr>
        </p:nvSpPr>
        <p:spPr>
          <a:xfrm>
            <a:off x="530027" y="95913"/>
            <a:ext cx="8004391" cy="699065"/>
          </a:xfrm>
        </p:spPr>
        <p:txBody>
          <a:bodyPr>
            <a:noAutofit/>
          </a:bodyPr>
          <a:lstStyle/>
          <a:p>
            <a:r>
              <a:rPr lang="en-US" sz="2000" dirty="0"/>
              <a:t>Robustness check: </a:t>
            </a:r>
            <a:br>
              <a:rPr lang="en-US" sz="2000" dirty="0"/>
            </a:br>
            <a:r>
              <a:rPr lang="en-US" sz="2000" dirty="0"/>
              <a:t>Baseline characteristics interacted with year effects</a:t>
            </a:r>
          </a:p>
        </p:txBody>
      </p:sp>
      <p:graphicFrame>
        <p:nvGraphicFramePr>
          <p:cNvPr id="5" name="Table 4">
            <a:extLst>
              <a:ext uri="{FF2B5EF4-FFF2-40B4-BE49-F238E27FC236}">
                <a16:creationId xmlns:a16="http://schemas.microsoft.com/office/drawing/2014/main" id="{FF472EE0-B157-95F6-5304-BDBDAE501CF7}"/>
              </a:ext>
            </a:extLst>
          </p:cNvPr>
          <p:cNvGraphicFramePr>
            <a:graphicFrameLocks noGrp="1"/>
          </p:cNvGraphicFramePr>
          <p:nvPr>
            <p:extLst>
              <p:ext uri="{D42A27DB-BD31-4B8C-83A1-F6EECF244321}">
                <p14:modId xmlns:p14="http://schemas.microsoft.com/office/powerpoint/2010/main" val="724612634"/>
              </p:ext>
            </p:extLst>
          </p:nvPr>
        </p:nvGraphicFramePr>
        <p:xfrm>
          <a:off x="1111045" y="794978"/>
          <a:ext cx="7140726" cy="3792033"/>
        </p:xfrm>
        <a:graphic>
          <a:graphicData uri="http://schemas.openxmlformats.org/drawingml/2006/table">
            <a:tbl>
              <a:tblPr/>
              <a:tblGrid>
                <a:gridCol w="1190121">
                  <a:extLst>
                    <a:ext uri="{9D8B030D-6E8A-4147-A177-3AD203B41FA5}">
                      <a16:colId xmlns:a16="http://schemas.microsoft.com/office/drawing/2014/main" val="410855115"/>
                    </a:ext>
                  </a:extLst>
                </a:gridCol>
                <a:gridCol w="1190121">
                  <a:extLst>
                    <a:ext uri="{9D8B030D-6E8A-4147-A177-3AD203B41FA5}">
                      <a16:colId xmlns:a16="http://schemas.microsoft.com/office/drawing/2014/main" val="4171561972"/>
                    </a:ext>
                  </a:extLst>
                </a:gridCol>
                <a:gridCol w="1190121">
                  <a:extLst>
                    <a:ext uri="{9D8B030D-6E8A-4147-A177-3AD203B41FA5}">
                      <a16:colId xmlns:a16="http://schemas.microsoft.com/office/drawing/2014/main" val="2040013679"/>
                    </a:ext>
                  </a:extLst>
                </a:gridCol>
                <a:gridCol w="1190121">
                  <a:extLst>
                    <a:ext uri="{9D8B030D-6E8A-4147-A177-3AD203B41FA5}">
                      <a16:colId xmlns:a16="http://schemas.microsoft.com/office/drawing/2014/main" val="208639692"/>
                    </a:ext>
                  </a:extLst>
                </a:gridCol>
                <a:gridCol w="1190121">
                  <a:extLst>
                    <a:ext uri="{9D8B030D-6E8A-4147-A177-3AD203B41FA5}">
                      <a16:colId xmlns:a16="http://schemas.microsoft.com/office/drawing/2014/main" val="3683375302"/>
                    </a:ext>
                  </a:extLst>
                </a:gridCol>
                <a:gridCol w="1190121">
                  <a:extLst>
                    <a:ext uri="{9D8B030D-6E8A-4147-A177-3AD203B41FA5}">
                      <a16:colId xmlns:a16="http://schemas.microsoft.com/office/drawing/2014/main" val="2048047302"/>
                    </a:ext>
                  </a:extLst>
                </a:gridCol>
              </a:tblGrid>
              <a:tr h="556325">
                <a:tc>
                  <a:txBody>
                    <a:bodyPr/>
                    <a:lstStyle/>
                    <a:p>
                      <a:pPr>
                        <a:buNone/>
                      </a:pPr>
                      <a:r>
                        <a:rPr lang="en-US" sz="1200" dirty="0"/>
                        <a:t>Baseline exposure </a:t>
                      </a:r>
                    </a:p>
                    <a:p>
                      <a:pPr>
                        <a:buNone/>
                      </a:pPr>
                      <a:r>
                        <a:rPr lang="en-US" sz="1200" dirty="0"/>
                        <a:t>× Year</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Tax response</a:t>
                      </a:r>
                    </a:p>
                    <a:p>
                      <a:pPr algn="r">
                        <a:buNone/>
                      </a:pPr>
                      <a:r>
                        <a:rPr lang="en-US" sz="1200" dirty="0"/>
                        <a:t>（SE）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Tax KP F</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BE response</a:t>
                      </a:r>
                    </a:p>
                    <a:p>
                      <a:pPr algn="r">
                        <a:buNone/>
                      </a:pPr>
                      <a:r>
                        <a:rPr lang="en-US" sz="1200" dirty="0"/>
                        <a:t>（SE）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BE KP F</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N</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1661792"/>
                  </a:ext>
                </a:extLst>
              </a:tr>
              <a:tr h="681491">
                <a:tc>
                  <a:txBody>
                    <a:bodyPr/>
                    <a:lstStyle/>
                    <a:p>
                      <a:pPr>
                        <a:buNone/>
                      </a:pPr>
                      <a:r>
                        <a:rPr lang="en-US" sz="1200" dirty="0"/>
                        <a:t>Suburban population share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0.460***</a:t>
                      </a:r>
                    </a:p>
                    <a:p>
                      <a:pPr algn="r">
                        <a:buNone/>
                      </a:pPr>
                      <a:r>
                        <a:rPr lang="en-US" sz="1200" dirty="0"/>
                        <a:t>（0.099）</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77.57</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0.220***</a:t>
                      </a:r>
                    </a:p>
                    <a:p>
                      <a:pPr algn="r">
                        <a:buNone/>
                      </a:pPr>
                      <a:r>
                        <a:rPr lang="en-US" sz="1200" dirty="0"/>
                        <a:t>（0.062）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52.84</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8157560"/>
                  </a:ext>
                </a:extLst>
              </a:tr>
              <a:tr h="1153643">
                <a:tc>
                  <a:txBody>
                    <a:bodyPr/>
                    <a:lstStyle/>
                    <a:p>
                      <a:pPr>
                        <a:buNone/>
                      </a:pPr>
                      <a:r>
                        <a:rPr lang="en-US" sz="1200" dirty="0"/>
                        <a:t>Fragmentation:</a:t>
                      </a:r>
                    </a:p>
                    <a:p>
                      <a:pPr>
                        <a:buNone/>
                      </a:pPr>
                      <a:r>
                        <a:rPr lang="en-US" sz="1200" dirty="0"/>
                        <a:t>Numbers of suburban govts</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0.446***</a:t>
                      </a:r>
                    </a:p>
                    <a:p>
                      <a:pPr algn="r">
                        <a:buNone/>
                      </a:pPr>
                      <a:r>
                        <a:rPr lang="en-US" sz="1200" dirty="0"/>
                        <a:t>（0.098）</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75.42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0.193***</a:t>
                      </a:r>
                    </a:p>
                    <a:p>
                      <a:pPr algn="r">
                        <a:buNone/>
                      </a:pPr>
                      <a:r>
                        <a:rPr lang="en-US" sz="1200" dirty="0"/>
                        <a:t>（0.062）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55.12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1738837"/>
                  </a:ext>
                </a:extLst>
              </a:tr>
              <a:tr h="524106">
                <a:tc>
                  <a:txBody>
                    <a:bodyPr/>
                    <a:lstStyle/>
                    <a:p>
                      <a:pPr>
                        <a:buNone/>
                      </a:pPr>
                      <a:r>
                        <a:rPr lang="en-US" sz="1200"/>
                        <a:t>Fiscal dependence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0.477***</a:t>
                      </a:r>
                    </a:p>
                    <a:p>
                      <a:pPr algn="r">
                        <a:buNone/>
                      </a:pPr>
                      <a:r>
                        <a:rPr lang="en-US" sz="1200" dirty="0"/>
                        <a:t>（0.104）</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74.58</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0.204***</a:t>
                      </a:r>
                    </a:p>
                    <a:p>
                      <a:pPr algn="r">
                        <a:buNone/>
                      </a:pPr>
                      <a:r>
                        <a:rPr lang="en-US" sz="1200" dirty="0"/>
                        <a:t>（0.061）</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68.37</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1732204"/>
                  </a:ext>
                </a:extLst>
              </a:tr>
              <a:tr h="838875">
                <a:tc>
                  <a:txBody>
                    <a:bodyPr/>
                    <a:lstStyle/>
                    <a:p>
                      <a:pPr>
                        <a:buNone/>
                      </a:pPr>
                      <a:r>
                        <a:rPr lang="en-US" sz="1200" dirty="0"/>
                        <a:t>Spatial structure: average ring</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0.442***</a:t>
                      </a:r>
                    </a:p>
                    <a:p>
                      <a:pPr algn="r">
                        <a:buNone/>
                      </a:pPr>
                      <a:r>
                        <a:rPr lang="en-US" sz="1200" dirty="0"/>
                        <a:t>（0.097）</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76.92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0.202***</a:t>
                      </a:r>
                    </a:p>
                    <a:p>
                      <a:pPr algn="r">
                        <a:buNone/>
                      </a:pPr>
                      <a:r>
                        <a:rPr lang="en-US" sz="1200" dirty="0"/>
                        <a:t>（0.060）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62.21</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8255554"/>
                  </a:ext>
                </a:extLst>
              </a:tr>
            </a:tbl>
          </a:graphicData>
        </a:graphic>
      </p:graphicFrame>
    </p:spTree>
    <p:extLst>
      <p:ext uri="{BB962C8B-B14F-4D97-AF65-F5344CB8AC3E}">
        <p14:creationId xmlns:p14="http://schemas.microsoft.com/office/powerpoint/2010/main" val="60861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4A1C-EE0B-A6EC-DD8E-5B55E95EBCA3}"/>
              </a:ext>
            </a:extLst>
          </p:cNvPr>
          <p:cNvSpPr>
            <a:spLocks noGrp="1"/>
          </p:cNvSpPr>
          <p:nvPr>
            <p:ph type="ctrTitle"/>
          </p:nvPr>
        </p:nvSpPr>
        <p:spPr>
          <a:xfrm>
            <a:off x="569804" y="163647"/>
            <a:ext cx="8004391" cy="699065"/>
          </a:xfrm>
        </p:spPr>
        <p:txBody>
          <a:bodyPr>
            <a:noAutofit/>
          </a:bodyPr>
          <a:lstStyle/>
          <a:p>
            <a:r>
              <a:rPr lang="en-US" sz="2400" dirty="0"/>
              <a:t>Expanded-Sample Robustness: </a:t>
            </a:r>
            <a:br>
              <a:rPr lang="en-US" sz="2400" dirty="0"/>
            </a:br>
            <a:r>
              <a:rPr lang="en-US" sz="2400" dirty="0"/>
              <a:t>Out-of-State IV Using 68 MSAs</a:t>
            </a:r>
          </a:p>
        </p:txBody>
      </p:sp>
      <p:sp>
        <p:nvSpPr>
          <p:cNvPr id="4" name="Content Placeholder 3">
            <a:extLst>
              <a:ext uri="{FF2B5EF4-FFF2-40B4-BE49-F238E27FC236}">
                <a16:creationId xmlns:a16="http://schemas.microsoft.com/office/drawing/2014/main" id="{42FDDB14-7628-180B-C6A3-B2954B4D5A94}"/>
              </a:ext>
            </a:extLst>
          </p:cNvPr>
          <p:cNvSpPr>
            <a:spLocks noGrp="1"/>
          </p:cNvSpPr>
          <p:nvPr>
            <p:ph idx="1"/>
          </p:nvPr>
        </p:nvSpPr>
        <p:spPr>
          <a:xfrm>
            <a:off x="6650830" y="1250626"/>
            <a:ext cx="2103591" cy="3036539"/>
          </a:xfrm>
        </p:spPr>
        <p:txBody>
          <a:bodyPr>
            <a:normAutofit/>
          </a:bodyPr>
          <a:lstStyle/>
          <a:p>
            <a:pPr>
              <a:buFont typeface="Arial" panose="020B0604020202020204" pitchFamily="34" charset="0"/>
              <a:buChar char="•"/>
            </a:pPr>
            <a:r>
              <a:rPr lang="en-US" sz="1600" dirty="0"/>
              <a:t>Expanded-sample estimates closely track the 52-MSA benchmark, indicating that the results are not driven by the original sample restriction required for the in-state IV.</a:t>
            </a:r>
          </a:p>
        </p:txBody>
      </p:sp>
      <p:graphicFrame>
        <p:nvGraphicFramePr>
          <p:cNvPr id="5" name="Table 4">
            <a:extLst>
              <a:ext uri="{FF2B5EF4-FFF2-40B4-BE49-F238E27FC236}">
                <a16:creationId xmlns:a16="http://schemas.microsoft.com/office/drawing/2014/main" id="{4C397342-F52A-DC66-EF24-9EF40610AF61}"/>
              </a:ext>
            </a:extLst>
          </p:cNvPr>
          <p:cNvGraphicFramePr>
            <a:graphicFrameLocks noGrp="1"/>
          </p:cNvGraphicFramePr>
          <p:nvPr>
            <p:extLst>
              <p:ext uri="{D42A27DB-BD31-4B8C-83A1-F6EECF244321}">
                <p14:modId xmlns:p14="http://schemas.microsoft.com/office/powerpoint/2010/main" val="1390634657"/>
              </p:ext>
            </p:extLst>
          </p:nvPr>
        </p:nvGraphicFramePr>
        <p:xfrm>
          <a:off x="389579" y="1161551"/>
          <a:ext cx="6132006" cy="3214691"/>
        </p:xfrm>
        <a:graphic>
          <a:graphicData uri="http://schemas.openxmlformats.org/drawingml/2006/table">
            <a:tbl>
              <a:tblPr/>
              <a:tblGrid>
                <a:gridCol w="2044002">
                  <a:extLst>
                    <a:ext uri="{9D8B030D-6E8A-4147-A177-3AD203B41FA5}">
                      <a16:colId xmlns:a16="http://schemas.microsoft.com/office/drawing/2014/main" val="1750076257"/>
                    </a:ext>
                  </a:extLst>
                </a:gridCol>
                <a:gridCol w="2044002">
                  <a:extLst>
                    <a:ext uri="{9D8B030D-6E8A-4147-A177-3AD203B41FA5}">
                      <a16:colId xmlns:a16="http://schemas.microsoft.com/office/drawing/2014/main" val="3814409857"/>
                    </a:ext>
                  </a:extLst>
                </a:gridCol>
                <a:gridCol w="2044002">
                  <a:extLst>
                    <a:ext uri="{9D8B030D-6E8A-4147-A177-3AD203B41FA5}">
                      <a16:colId xmlns:a16="http://schemas.microsoft.com/office/drawing/2014/main" val="2033233922"/>
                    </a:ext>
                  </a:extLst>
                </a:gridCol>
              </a:tblGrid>
              <a:tr h="329712">
                <a:tc>
                  <a:txBody>
                    <a:bodyPr/>
                    <a:lstStyle/>
                    <a:p>
                      <a:pPr>
                        <a:buNone/>
                      </a:pPr>
                      <a:r>
                        <a:rPr lang="en-US" sz="1600"/>
                        <a:t>Outcome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dirty="0"/>
                        <a:t>Year FE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Division × Year FE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206748"/>
                  </a:ext>
                </a:extLst>
              </a:tr>
              <a:tr h="329712">
                <a:tc>
                  <a:txBody>
                    <a:bodyPr/>
                    <a:lstStyle/>
                    <a:p>
                      <a:pPr>
                        <a:buNone/>
                      </a:pPr>
                      <a:r>
                        <a:rPr lang="en-US" sz="1600"/>
                        <a:t>Total Revenue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0.060 (0.121)</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0.17 (0.13)</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1497119"/>
                  </a:ext>
                </a:extLst>
              </a:tr>
              <a:tr h="329712">
                <a:tc>
                  <a:txBody>
                    <a:bodyPr/>
                    <a:lstStyle/>
                    <a:p>
                      <a:pPr>
                        <a:buNone/>
                      </a:pPr>
                      <a:r>
                        <a:rPr lang="en-US" sz="1600" b="1"/>
                        <a:t>Tax Revenue</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0.436</a:t>
                      </a:r>
                      <a:r>
                        <a:rPr lang="en-US" sz="1600"/>
                        <a:t>* (0.086)</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0.33</a:t>
                      </a:r>
                      <a:r>
                        <a:rPr lang="en-US" sz="1600"/>
                        <a:t>* (0.08)</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943757"/>
                  </a:ext>
                </a:extLst>
              </a:tr>
              <a:tr h="329712">
                <a:tc>
                  <a:txBody>
                    <a:bodyPr/>
                    <a:lstStyle/>
                    <a:p>
                      <a:pPr>
                        <a:buNone/>
                      </a:pPr>
                      <a:r>
                        <a:rPr lang="en-US" sz="1600"/>
                        <a:t>Current Operations</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0.248*** (0.067)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0.17* (0.07)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9664383"/>
                  </a:ext>
                </a:extLst>
              </a:tr>
              <a:tr h="329712">
                <a:tc>
                  <a:txBody>
                    <a:bodyPr/>
                    <a:lstStyle/>
                    <a:p>
                      <a:pPr>
                        <a:buNone/>
                      </a:pPr>
                      <a:r>
                        <a:rPr lang="en-US" sz="1600"/>
                        <a:t>Basic Expenditure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0.150** (0.052)</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0.17** (0.06)</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2805903"/>
                  </a:ext>
                </a:extLst>
              </a:tr>
              <a:tr h="576995">
                <a:tc>
                  <a:txBody>
                    <a:bodyPr/>
                    <a:lstStyle/>
                    <a:p>
                      <a:pPr>
                        <a:buNone/>
                      </a:pPr>
                      <a:r>
                        <a:rPr lang="en-US" sz="1600"/>
                        <a:t>Transfer Expenditure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0.190** (0.058)</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0.11 (0.06)</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5394715"/>
                  </a:ext>
                </a:extLst>
              </a:tr>
              <a:tr h="329712">
                <a:tc>
                  <a:txBody>
                    <a:bodyPr/>
                    <a:lstStyle/>
                    <a:p>
                      <a:pPr>
                        <a:buNone/>
                      </a:pPr>
                      <a:r>
                        <a:rPr lang="en-US" sz="1600"/>
                        <a:t>Other Expenditure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0.091 (0.087)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0.06 (0.07)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359034"/>
                  </a:ext>
                </a:extLst>
              </a:tr>
              <a:tr h="329712">
                <a:tc>
                  <a:txBody>
                    <a:bodyPr/>
                    <a:lstStyle/>
                    <a:p>
                      <a:pPr>
                        <a:buNone/>
                      </a:pPr>
                      <a:r>
                        <a:rPr lang="en-US" sz="1600" b="1"/>
                        <a:t>MSAs</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68</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68</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536049"/>
                  </a:ext>
                </a:extLst>
              </a:tr>
              <a:tr h="329712">
                <a:tc>
                  <a:txBody>
                    <a:bodyPr/>
                    <a:lstStyle/>
                    <a:p>
                      <a:pPr>
                        <a:buNone/>
                      </a:pPr>
                      <a:r>
                        <a:rPr lang="en-US" sz="1600" b="1"/>
                        <a:t>KP F-stat., range</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31.8–84.4</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dirty="0"/>
                        <a:t>30.5–72.7</a:t>
                      </a:r>
                      <a:endParaRPr lang="en-US" sz="1600" dirty="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3155240"/>
                  </a:ext>
                </a:extLst>
              </a:tr>
            </a:tbl>
          </a:graphicData>
        </a:graphic>
      </p:graphicFrame>
    </p:spTree>
    <p:extLst>
      <p:ext uri="{BB962C8B-B14F-4D97-AF65-F5344CB8AC3E}">
        <p14:creationId xmlns:p14="http://schemas.microsoft.com/office/powerpoint/2010/main" val="245320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85ECC-5A47-373F-CDE6-13BD54EB9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E1336-4C6E-E0C3-998A-78AC5B475E83}"/>
              </a:ext>
            </a:extLst>
          </p:cNvPr>
          <p:cNvSpPr>
            <a:spLocks noGrp="1"/>
          </p:cNvSpPr>
          <p:nvPr>
            <p:ph type="ctrTitle"/>
          </p:nvPr>
        </p:nvSpPr>
        <p:spPr>
          <a:xfrm>
            <a:off x="0" y="61620"/>
            <a:ext cx="8864056" cy="699065"/>
          </a:xfrm>
        </p:spPr>
        <p:txBody>
          <a:bodyPr>
            <a:noAutofit/>
          </a:bodyPr>
          <a:lstStyle/>
          <a:p>
            <a:r>
              <a:rPr lang="en-US" sz="1800" dirty="0"/>
              <a:t>Appendix: Ongoing design 1: New Jersey’s Property-Tax Levy Caps</a:t>
            </a:r>
            <a:br>
              <a:rPr lang="en-US" sz="1800" dirty="0"/>
            </a:br>
            <a:r>
              <a:rPr lang="en-US" sz="1800" dirty="0"/>
              <a:t>NJ exposure-gradient diagnostic: statewide sample</a:t>
            </a:r>
          </a:p>
        </p:txBody>
      </p:sp>
      <p:pic>
        <p:nvPicPr>
          <p:cNvPr id="7" name="Picture 6">
            <a:extLst>
              <a:ext uri="{FF2B5EF4-FFF2-40B4-BE49-F238E27FC236}">
                <a16:creationId xmlns:a16="http://schemas.microsoft.com/office/drawing/2014/main" id="{679558C7-D8EE-C613-6069-CC97D1481817}"/>
              </a:ext>
            </a:extLst>
          </p:cNvPr>
          <p:cNvPicPr>
            <a:picLocks noChangeAspect="1"/>
          </p:cNvPicPr>
          <p:nvPr/>
        </p:nvPicPr>
        <p:blipFill>
          <a:blip r:embed="rId3"/>
          <a:stretch>
            <a:fillRect/>
          </a:stretch>
        </p:blipFill>
        <p:spPr>
          <a:xfrm>
            <a:off x="1602693" y="760685"/>
            <a:ext cx="5483907" cy="3988296"/>
          </a:xfrm>
          <a:prstGeom prst="rect">
            <a:avLst/>
          </a:prstGeom>
        </p:spPr>
      </p:pic>
    </p:spTree>
    <p:extLst>
      <p:ext uri="{BB962C8B-B14F-4D97-AF65-F5344CB8AC3E}">
        <p14:creationId xmlns:p14="http://schemas.microsoft.com/office/powerpoint/2010/main" val="6500165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5D30D20-0F98-2E07-915D-05D0EC03B989}"/>
              </a:ext>
            </a:extLst>
          </p:cNvPr>
          <p:cNvPicPr>
            <a:picLocks noChangeAspect="1"/>
          </p:cNvPicPr>
          <p:nvPr/>
        </p:nvPicPr>
        <p:blipFill>
          <a:blip r:embed="rId3"/>
          <a:stretch>
            <a:fillRect/>
          </a:stretch>
        </p:blipFill>
        <p:spPr>
          <a:xfrm>
            <a:off x="0" y="655501"/>
            <a:ext cx="9144869" cy="3832497"/>
          </a:xfrm>
          <a:prstGeom prst="rect">
            <a:avLst/>
          </a:prstGeom>
        </p:spPr>
      </p:pic>
    </p:spTree>
    <p:extLst>
      <p:ext uri="{BB962C8B-B14F-4D97-AF65-F5344CB8AC3E}">
        <p14:creationId xmlns:p14="http://schemas.microsoft.com/office/powerpoint/2010/main" val="3772499597"/>
      </p:ext>
    </p:extLst>
  </p:cSld>
  <p:clrMapOvr>
    <a:masterClrMapping/>
  </p:clrMapOvr>
</p:sld>
</file>

<file path=ppt/theme/theme1.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D4112C74-A76E-A244-A38B-7B589F31A3A0}" vid="{02DB7040-99DC-AA41-AC99-CF992BB610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2db8b44-0703-48fc-920e-285d3f66b75e">
      <Terms xmlns="http://schemas.microsoft.com/office/infopath/2007/PartnerControls"/>
    </lcf76f155ced4ddcb4097134ff3c332f>
    <TaxCatchAll xmlns="8db4f6ed-281a-40b3-a3a6-248115f7536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74F5D463876B2498F216835DB1298F6" ma:contentTypeVersion="18" ma:contentTypeDescription="Create a new document." ma:contentTypeScope="" ma:versionID="d3be435d5993078b71b579fe1344aad9">
  <xsd:schema xmlns:xsd="http://www.w3.org/2001/XMLSchema" xmlns:xs="http://www.w3.org/2001/XMLSchema" xmlns:p="http://schemas.microsoft.com/office/2006/metadata/properties" xmlns:ns2="82db8b44-0703-48fc-920e-285d3f66b75e" xmlns:ns3="8db4f6ed-281a-40b3-a3a6-248115f75364" targetNamespace="http://schemas.microsoft.com/office/2006/metadata/properties" ma:root="true" ma:fieldsID="a7ba28efe3bca95db696dbaf29d94940" ns2:_="" ns3:_="">
    <xsd:import namespace="82db8b44-0703-48fc-920e-285d3f66b75e"/>
    <xsd:import namespace="8db4f6ed-281a-40b3-a3a6-248115f7536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db8b44-0703-48fc-920e-285d3f66b7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eec0a79-46cb-4568-9b1b-2d720bd3207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db4f6ed-281a-40b3-a3a6-248115f7536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5c3ce8d-1ed8-458f-a7db-4c2130685c35}" ma:internalName="TaxCatchAll" ma:showField="CatchAllData" ma:web="8db4f6ed-281a-40b3-a3a6-248115f7536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7B6F2769-7194-4217-93D3-3AF3A4742282}">
  <ds:schemaRefs>
    <ds:schemaRef ds:uri="http://schemas.microsoft.com/office/2006/metadata/properties"/>
    <ds:schemaRef ds:uri="http://schemas.microsoft.com/office/infopath/2007/PartnerControls"/>
    <ds:schemaRef ds:uri="http://schemas.microsoft.com/sharepoint/v3/fields"/>
    <ds:schemaRef ds:uri="82db8b44-0703-48fc-920e-285d3f66b75e"/>
    <ds:schemaRef ds:uri="8db4f6ed-281a-40b3-a3a6-248115f75364"/>
  </ds:schemaRefs>
</ds:datastoreItem>
</file>

<file path=customXml/itemProps3.xml><?xml version="1.0" encoding="utf-8"?>
<ds:datastoreItem xmlns:ds="http://schemas.openxmlformats.org/officeDocument/2006/customXml" ds:itemID="{C35F3962-18C2-44E8-952E-8E0081D04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db8b44-0703-48fc-920e-285d3f66b75e"/>
    <ds:schemaRef ds:uri="8db4f6ed-281a-40b3-a3a6-248115f753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IUB-template</Template>
  <TotalTime>21550</TotalTime>
  <Words>6276</Words>
  <Application>Microsoft Macintosh PowerPoint</Application>
  <PresentationFormat>On-screen Show (16:9)</PresentationFormat>
  <Paragraphs>973</Paragraphs>
  <Slides>44</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Cambria Math</vt:lpstr>
      <vt:lpstr>Wingdings</vt:lpstr>
      <vt:lpstr>Main</vt:lpstr>
      <vt:lpstr>Rent Capture or Regional Forces? Fiscal Interaction in Metropolitan Areas</vt:lpstr>
      <vt:lpstr>Introduction</vt:lpstr>
      <vt:lpstr>Metropolitan fiscal restructuring in the long run:</vt:lpstr>
      <vt:lpstr>Research question: What drives metropolitan fiscal co-movement?</vt:lpstr>
      <vt:lpstr>Conceptual Framework:  Rent Capture and Fiscal Fundamentals</vt:lpstr>
      <vt:lpstr>Competing Mechanism:  Strategic interaction and common regional shocks</vt:lpstr>
      <vt:lpstr>Empirical Design </vt:lpstr>
      <vt:lpstr>Data</vt:lpstr>
      <vt:lpstr>Empirical Strategy</vt:lpstr>
      <vt:lpstr>Summary Statistics:  Central cities and their suburbs, 1972–2017</vt:lpstr>
      <vt:lpstr>Main Specification</vt:lpstr>
      <vt:lpstr>The IVs use fiscal changes outside the focal MSA</vt:lpstr>
      <vt:lpstr>The IVs compare the focal MSA  with external suburban fiscal changes</vt:lpstr>
      <vt:lpstr>Out-of-state variation carries the informative first stage</vt:lpstr>
      <vt:lpstr>Results </vt:lpstr>
      <vt:lpstr>Division-by-year effects attenuate the benchmark response</vt:lpstr>
      <vt:lpstr>Opening the “regional forces” black box</vt:lpstr>
      <vt:lpstr>The tax response is concentrated in property and sales taxes</vt:lpstr>
      <vt:lpstr>Division-by-year effects narrow the cumulative Tax–BE gap</vt:lpstr>
      <vt:lpstr>Identification and Robustness</vt:lpstr>
      <vt:lpstr>No evidence of reverse timing</vt:lpstr>
      <vt:lpstr>Is the tax–expenditure gap statistically meaningful?</vt:lpstr>
      <vt:lpstr>Fiscal persistence does not explain the cumulative estimates</vt:lpstr>
      <vt:lpstr>Interim Takeaway</vt:lpstr>
      <vt:lpstr>Quasi-experimental validation (ongoing)</vt:lpstr>
      <vt:lpstr>Ongoing design 1: New Jersey’s Property-Tax Levy Caps</vt:lpstr>
      <vt:lpstr>Ongoing design 1: New Jersey’s Property-Tax Levy Caps</vt:lpstr>
      <vt:lpstr>Preliminary levy-exposure diagnostic: Philadelphia-Area NJ Municipalities</vt:lpstr>
      <vt:lpstr>Ongoing design 2: Indiana Property-Tax Circuit-Breaker Caps</vt:lpstr>
      <vt:lpstr>PowerPoint Presentation</vt:lpstr>
      <vt:lpstr>PowerPoint Presentation</vt:lpstr>
      <vt:lpstr>PowerPoint Presentation</vt:lpstr>
      <vt:lpstr>Conclusion</vt:lpstr>
      <vt:lpstr>Appendix / Q&amp;A</vt:lpstr>
      <vt:lpstr>Appendix: Benchmark IV — Year Fixed Effects</vt:lpstr>
      <vt:lpstr>Appendix: Benchmark IV — Division × Year Fixed Effects</vt:lpstr>
      <vt:lpstr>Instrument comparison</vt:lpstr>
      <vt:lpstr>Diagnostic: Why Prefer the Out-of-State IV?</vt:lpstr>
      <vt:lpstr>Tax decomposition regression table</vt:lpstr>
      <vt:lpstr>Regional controls and first-stage strength</vt:lpstr>
      <vt:lpstr>Robustness check:  Baseline characteristics interacted with year effects</vt:lpstr>
      <vt:lpstr>Expanded-Sample Robustness:  Out-of-State IV Using 68 MSAs</vt:lpstr>
      <vt:lpstr>Appendix: Ongoing design 1: New Jersey’s Property-Tax Levy Caps NJ exposure-gradient diagnostic: statewide sample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Unnecessarily extra long title of presentation</dc:title>
  <dc:creator>Cox, Emily</dc:creator>
  <cp:lastModifiedBy>Hsu, Annie</cp:lastModifiedBy>
  <cp:revision>30</cp:revision>
  <cp:lastPrinted>2014-06-24T16:10:50Z</cp:lastPrinted>
  <dcterms:created xsi:type="dcterms:W3CDTF">2022-01-21T17:11:20Z</dcterms:created>
  <dcterms:modified xsi:type="dcterms:W3CDTF">2026-09-24T16:17:05Z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0x010100774F5D463876B2498F216835DB1298F6</vt:lpwstr>
  </property>
  <property fmtid="{D5CDD505-2E9C-101B-9397-08002B2CF9AE}" pid="3" name="MediaServiceImageTags">
    <vt:lpwstr/>
  </property>
</Properties>
</file>